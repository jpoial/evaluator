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9144000" cy="16256000"/>
  <p:embeddedFontLst>
    <p:embeddedFont>
      <p:font typeface="Inter" panose="020B0604020202020204" charset="0"/>
      <p:regular r:id="rId15"/>
    </p:embeddedFont>
    <p:embeddedFont>
      <p:font typeface="JetBrains Mono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33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5839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889000" y="609600"/>
            <a:ext cx="14478000" cy="9144"/>
          </a:xfrm>
          <a:prstGeom prst="line">
            <a:avLst/>
          </a:prstGeom>
          <a:ln w="381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cover-title"/>
          <p:cNvSpPr/>
          <p:nvPr/>
        </p:nvSpPr>
        <p:spPr>
          <a:xfrm>
            <a:off x="1333500" y="2349500"/>
            <a:ext cx="12446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784"/>
              </a:lnSpc>
              <a:buNone/>
            </a:pPr>
            <a:r>
              <a:rPr lang="en-US" altLang="en-US" sz="640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Making Stack Comments</a:t>
            </a:r>
            <a:endParaRPr lang="en-US" sz="6400" dirty="0"/>
          </a:p>
          <a:p>
            <a:pPr marL="0" indent="0" algn="l">
              <a:lnSpc>
                <a:spcPts val="6784"/>
              </a:lnSpc>
              <a:buNone/>
            </a:pPr>
            <a:r>
              <a:rPr lang="en-US" altLang="en-US" sz="640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Checkable</a:t>
            </a:r>
            <a:endParaRPr lang="en-US" sz="6400" dirty="0"/>
          </a:p>
        </p:txBody>
      </p:sp>
      <p:sp>
        <p:nvSpPr>
          <p:cNvPr id="4" name="cover-subtitle"/>
          <p:cNvSpPr/>
          <p:nvPr/>
        </p:nvSpPr>
        <p:spPr>
          <a:xfrm>
            <a:off x="1397000" y="5397500"/>
            <a:ext cx="1168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3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static type checker for Forth</a:t>
            </a:r>
            <a:endParaRPr lang="en-US" sz="3400" dirty="0"/>
          </a:p>
        </p:txBody>
      </p:sp>
      <p:sp>
        <p:nvSpPr>
          <p:cNvPr id="5" name="cover-author"/>
          <p:cNvSpPr/>
          <p:nvPr/>
        </p:nvSpPr>
        <p:spPr>
          <a:xfrm>
            <a:off x="1397000" y="6985000"/>
            <a:ext cx="10795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Jaanus Pöial</a:t>
            </a:r>
            <a:endParaRPr lang="en-US" sz="2800" dirty="0"/>
          </a:p>
          <a:p>
            <a:pPr marL="0" indent="0" algn="l">
              <a:buNone/>
            </a:pPr>
            <a:r>
              <a:rPr lang="en-US" altLang="en-US" sz="2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Tallinn University of Technology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889000" y="609600"/>
            <a:ext cx="14478000" cy="9144"/>
          </a:xfrm>
          <a:prstGeom prst="line">
            <a:avLst/>
          </a:prstGeom>
          <a:ln w="381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slide-title"/>
          <p:cNvSpPr/>
          <p:nvPr/>
        </p:nvSpPr>
        <p:spPr>
          <a:xfrm>
            <a:off x="1016000" y="1041400"/>
            <a:ext cx="1270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360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Informal meaning; typed checker view</a:t>
            </a:r>
            <a:endParaRPr lang="en-US" sz="3600" dirty="0"/>
          </a:p>
        </p:txBody>
      </p:sp>
      <p:sp>
        <p:nvSpPr>
          <p:cNvPr id="4" name="informal-panel"/>
          <p:cNvSpPr/>
          <p:nvPr/>
        </p:nvSpPr>
        <p:spPr>
          <a:xfrm>
            <a:off x="1651000" y="2095500"/>
            <a:ext cx="12954000" cy="1714500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informal-label"/>
          <p:cNvSpPr/>
          <p:nvPr/>
        </p:nvSpPr>
        <p:spPr>
          <a:xfrm>
            <a:off x="2095500" y="23622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200" dirty="0">
                <a:solidFill>
                  <a:srgbClr val="A84B0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INFORMAL COMMENT</a:t>
            </a:r>
            <a:endParaRPr lang="en-US" sz="2200" dirty="0"/>
          </a:p>
        </p:txBody>
      </p:sp>
      <p:sp>
        <p:nvSpPr>
          <p:cNvPr id="6" name="informal-code"/>
          <p:cNvSpPr/>
          <p:nvPr/>
        </p:nvSpPr>
        <p:spPr>
          <a:xfrm>
            <a:off x="2222500" y="2857500"/>
            <a:ext cx="1181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SQUARED  DUP * ;   </a:t>
            </a:r>
            <a:r>
              <a:rPr lang="en-US" altLang="en-US" sz="2800" dirty="0">
                <a:solidFill>
                  <a:srgbClr val="007C9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 n -- n</a:t>
            </a:r>
            <a:r>
              <a:rPr lang="en-US" altLang="en-US" sz="2100" baseline="30000" dirty="0">
                <a:solidFill>
                  <a:srgbClr val="007C9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r>
              <a:rPr lang="en-US" altLang="en-US" sz="2800" dirty="0">
                <a:solidFill>
                  <a:srgbClr val="007C9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)</a:t>
            </a:r>
            <a:endParaRPr lang="en-US" sz="2800" dirty="0"/>
          </a:p>
        </p:txBody>
      </p:sp>
      <p:sp>
        <p:nvSpPr>
          <p:cNvPr id="7" name="view-arrow"/>
          <p:cNvSpPr/>
          <p:nvPr/>
        </p:nvSpPr>
        <p:spPr>
          <a:xfrm>
            <a:off x="8128000" y="4064000"/>
            <a:ext cx="9144" cy="571500"/>
          </a:xfrm>
          <a:prstGeom prst="line">
            <a:avLst/>
          </a:prstGeom>
          <a:ln w="38100">
            <a:solidFill>
              <a:srgbClr val="007C91"/>
            </a:solidFill>
            <a:prstDash val="solid"/>
            <a:tailEnd type="triangle"/>
          </a:ln>
        </p:spPr>
        <p:txBody>
          <a:bodyPr/>
          <a:lstStyle/>
          <a:p>
            <a:endParaRPr lang="et-EE"/>
          </a:p>
        </p:txBody>
      </p:sp>
      <p:sp>
        <p:nvSpPr>
          <p:cNvPr id="8" name="view-arrow-label"/>
          <p:cNvSpPr/>
          <p:nvPr/>
        </p:nvSpPr>
        <p:spPr>
          <a:xfrm>
            <a:off x="6096000" y="40640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altLang="en-US" sz="2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checker</a:t>
            </a:r>
            <a:endParaRPr lang="en-US" sz="2200" dirty="0"/>
          </a:p>
        </p:txBody>
      </p:sp>
      <p:sp>
        <p:nvSpPr>
          <p:cNvPr id="9" name="checker-panel"/>
          <p:cNvSpPr/>
          <p:nvPr/>
        </p:nvSpPr>
        <p:spPr>
          <a:xfrm>
            <a:off x="1651000" y="4889500"/>
            <a:ext cx="12954000" cy="2222500"/>
          </a:xfrm>
          <a:prstGeom prst="rect">
            <a:avLst/>
          </a:prstGeom>
          <a:solidFill>
            <a:srgbClr val="EEF2F7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0" name="checker-label"/>
          <p:cNvSpPr/>
          <p:nvPr/>
        </p:nvSpPr>
        <p:spPr>
          <a:xfrm>
            <a:off x="2095500" y="51689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200" dirty="0">
                <a:solidFill>
                  <a:srgbClr val="007C9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CHECKER VIEW: TYPED EFFECTS</a:t>
            </a:r>
            <a:endParaRPr lang="en-US" sz="2200" dirty="0"/>
          </a:p>
        </p:txBody>
      </p:sp>
      <p:sp>
        <p:nvSpPr>
          <p:cNvPr id="11" name="checker-effects"/>
          <p:cNvSpPr/>
          <p:nvPr/>
        </p:nvSpPr>
        <p:spPr>
          <a:xfrm>
            <a:off x="2794000" y="5715000"/>
            <a:ext cx="10668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40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DUP      ( X[1] -- X[1] X[1] )</a:t>
            </a:r>
            <a:endParaRPr lang="en-US" sz="2400" dirty="0"/>
          </a:p>
          <a:p>
            <a:pPr marL="0" indent="0" algn="ctr">
              <a:buNone/>
            </a:pPr>
            <a:r>
              <a:rPr lang="en-US" altLang="en-US" sz="240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        ( n n -- n )</a:t>
            </a:r>
            <a:endParaRPr lang="en-US" sz="2400" dirty="0"/>
          </a:p>
          <a:p>
            <a:pPr marL="0" indent="0" algn="ctr">
              <a:buNone/>
            </a:pPr>
            <a:r>
              <a:rPr lang="en-US" altLang="en-US" sz="2400" dirty="0">
                <a:solidFill>
                  <a:srgbClr val="007C9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SQUARED  ( n -- n )</a:t>
            </a:r>
            <a:endParaRPr lang="en-US" sz="2400" dirty="0"/>
          </a:p>
        </p:txBody>
      </p:sp>
      <p:sp>
        <p:nvSpPr>
          <p:cNvPr id="12" name="takeaway"/>
          <p:cNvSpPr/>
          <p:nvPr/>
        </p:nvSpPr>
        <p:spPr>
          <a:xfrm>
            <a:off x="2159000" y="7810500"/>
            <a:ext cx="1193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comment describes the semantic result n².</a:t>
            </a:r>
            <a:endParaRPr lang="en-US" sz="2400" dirty="0"/>
          </a:p>
          <a:p>
            <a:pPr marL="0" indent="0" algn="ctr">
              <a:buNone/>
            </a:pPr>
            <a:r>
              <a:rPr lang="en-US" altLang="en-US" sz="2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checker verifies a numeric input and numeric output.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889000" y="609600"/>
            <a:ext cx="14478000" cy="9144"/>
          </a:xfrm>
          <a:prstGeom prst="line">
            <a:avLst/>
          </a:prstGeom>
          <a:ln w="381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slide-title"/>
          <p:cNvSpPr/>
          <p:nvPr/>
        </p:nvSpPr>
        <p:spPr>
          <a:xfrm>
            <a:off x="1016000" y="1041400"/>
            <a:ext cx="1193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360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 the visible suffix</a:t>
            </a:r>
            <a:endParaRPr lang="en-US" sz="3600" dirty="0"/>
          </a:p>
        </p:txBody>
      </p:sp>
      <p:sp>
        <p:nvSpPr>
          <p:cNvPr id="4" name="before-label"/>
          <p:cNvSpPr/>
          <p:nvPr/>
        </p:nvSpPr>
        <p:spPr>
          <a:xfrm>
            <a:off x="1397000" y="2667000"/>
            <a:ext cx="381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before</a:t>
            </a:r>
            <a:endParaRPr lang="en-US" sz="2400" dirty="0"/>
          </a:p>
        </p:txBody>
      </p:sp>
      <p:sp>
        <p:nvSpPr>
          <p:cNvPr id="5" name="after-label"/>
          <p:cNvSpPr/>
          <p:nvPr/>
        </p:nvSpPr>
        <p:spPr>
          <a:xfrm>
            <a:off x="10033000" y="2667000"/>
            <a:ext cx="381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after</a:t>
            </a:r>
            <a:endParaRPr lang="en-US" sz="2400" dirty="0"/>
          </a:p>
        </p:txBody>
      </p:sp>
      <p:sp>
        <p:nvSpPr>
          <p:cNvPr id="6" name="frame-before"/>
          <p:cNvSpPr/>
          <p:nvPr/>
        </p:nvSpPr>
        <p:spPr>
          <a:xfrm>
            <a:off x="1397000" y="3302000"/>
            <a:ext cx="3238500" cy="1219200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7" name="frame-before-text"/>
          <p:cNvSpPr/>
          <p:nvPr/>
        </p:nvSpPr>
        <p:spPr>
          <a:xfrm>
            <a:off x="1397000" y="3302000"/>
            <a:ext cx="32385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</a:t>
            </a:r>
            <a:endParaRPr lang="en-US" sz="2800" dirty="0"/>
          </a:p>
        </p:txBody>
      </p:sp>
      <p:sp>
        <p:nvSpPr>
          <p:cNvPr id="8" name="suffix-before"/>
          <p:cNvSpPr/>
          <p:nvPr/>
        </p:nvSpPr>
        <p:spPr>
          <a:xfrm>
            <a:off x="4635500" y="3302000"/>
            <a:ext cx="2667000" cy="1219200"/>
          </a:xfrm>
          <a:prstGeom prst="rect">
            <a:avLst/>
          </a:prstGeom>
          <a:solidFill>
            <a:srgbClr val="EEF2F7"/>
          </a:solidFill>
          <a:ln w="254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9" name="suffix-before-text"/>
          <p:cNvSpPr/>
          <p:nvPr/>
        </p:nvSpPr>
        <p:spPr>
          <a:xfrm>
            <a:off x="4635500" y="3302000"/>
            <a:ext cx="2667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rgbClr val="007C9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a-addr</a:t>
            </a:r>
            <a:endParaRPr lang="en-US" sz="2800" dirty="0"/>
          </a:p>
        </p:txBody>
      </p:sp>
      <p:sp>
        <p:nvSpPr>
          <p:cNvPr id="10" name="effect-arrow"/>
          <p:cNvSpPr/>
          <p:nvPr/>
        </p:nvSpPr>
        <p:spPr>
          <a:xfrm>
            <a:off x="7747000" y="3911600"/>
            <a:ext cx="1524000" cy="9144"/>
          </a:xfrm>
          <a:prstGeom prst="line">
            <a:avLst/>
          </a:prstGeom>
          <a:ln w="38100">
            <a:solidFill>
              <a:srgbClr val="007C91"/>
            </a:solidFill>
            <a:prstDash val="solid"/>
            <a:tailEnd type="triangle"/>
          </a:ln>
        </p:spPr>
        <p:txBody>
          <a:bodyPr/>
          <a:lstStyle/>
          <a:p>
            <a:endParaRPr lang="et-EE"/>
          </a:p>
        </p:txBody>
      </p:sp>
      <p:sp>
        <p:nvSpPr>
          <p:cNvPr id="11" name="effect-name"/>
          <p:cNvSpPr/>
          <p:nvPr/>
        </p:nvSpPr>
        <p:spPr>
          <a:xfrm>
            <a:off x="7975600" y="3302000"/>
            <a:ext cx="101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4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</a:t>
            </a:r>
            <a:endParaRPr lang="en-US" sz="2400" dirty="0"/>
          </a:p>
        </p:txBody>
      </p:sp>
      <p:sp>
        <p:nvSpPr>
          <p:cNvPr id="12" name="frame-after"/>
          <p:cNvSpPr/>
          <p:nvPr/>
        </p:nvSpPr>
        <p:spPr>
          <a:xfrm>
            <a:off x="9715500" y="3302000"/>
            <a:ext cx="3238500" cy="1219200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3" name="frame-after-text"/>
          <p:cNvSpPr/>
          <p:nvPr/>
        </p:nvSpPr>
        <p:spPr>
          <a:xfrm>
            <a:off x="9715500" y="3302000"/>
            <a:ext cx="32385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</a:t>
            </a:r>
            <a:endParaRPr lang="en-US" sz="2800" dirty="0"/>
          </a:p>
        </p:txBody>
      </p:sp>
      <p:sp>
        <p:nvSpPr>
          <p:cNvPr id="14" name="suffix-after"/>
          <p:cNvSpPr/>
          <p:nvPr/>
        </p:nvSpPr>
        <p:spPr>
          <a:xfrm>
            <a:off x="12954000" y="3302000"/>
            <a:ext cx="1905000" cy="1219200"/>
          </a:xfrm>
          <a:prstGeom prst="rect">
            <a:avLst/>
          </a:prstGeom>
          <a:solidFill>
            <a:srgbClr val="EEF2F7"/>
          </a:solidFill>
          <a:ln w="254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5" name="suffix-after-text"/>
          <p:cNvSpPr/>
          <p:nvPr/>
        </p:nvSpPr>
        <p:spPr>
          <a:xfrm>
            <a:off x="12954000" y="3302000"/>
            <a:ext cx="1905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rgbClr val="007C9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</a:t>
            </a:r>
            <a:endParaRPr lang="en-US" sz="2800" dirty="0"/>
          </a:p>
        </p:txBody>
      </p:sp>
      <p:sp>
        <p:nvSpPr>
          <p:cNvPr id="16" name="effect-notation"/>
          <p:cNvSpPr/>
          <p:nvPr/>
        </p:nvSpPr>
        <p:spPr>
          <a:xfrm>
            <a:off x="3175000" y="52705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rgbClr val="007C9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  ( a-addr -- X )</a:t>
            </a:r>
            <a:endParaRPr lang="en-US" sz="2800" dirty="0"/>
          </a:p>
        </p:txBody>
      </p:sp>
      <p:sp>
        <p:nvSpPr>
          <p:cNvPr id="17" name="takeaway"/>
          <p:cNvSpPr/>
          <p:nvPr/>
        </p:nvSpPr>
        <p:spPr>
          <a:xfrm>
            <a:off x="2159000" y="6477000"/>
            <a:ext cx="1193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7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 is an arbitrary lower stack frame. The effect constrains only the suffix the word touches.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889000" y="609600"/>
            <a:ext cx="14478000" cy="9144"/>
          </a:xfrm>
          <a:prstGeom prst="line">
            <a:avLst/>
          </a:prstGeom>
          <a:ln w="381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slide-title"/>
          <p:cNvSpPr/>
          <p:nvPr/>
        </p:nvSpPr>
        <p:spPr>
          <a:xfrm>
            <a:off x="1016000" y="1041400"/>
            <a:ext cx="1206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360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Types belong to the project</a:t>
            </a:r>
            <a:endParaRPr lang="en-US" sz="3600" dirty="0"/>
          </a:p>
        </p:txBody>
      </p:sp>
      <p:sp>
        <p:nvSpPr>
          <p:cNvPr id="4" name="chain-one-label"/>
          <p:cNvSpPr/>
          <p:nvPr/>
        </p:nvSpPr>
        <p:spPr>
          <a:xfrm>
            <a:off x="1524000" y="2336800"/>
            <a:ext cx="381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address chain</a:t>
            </a:r>
            <a:endParaRPr lang="en-US" sz="2400" dirty="0"/>
          </a:p>
        </p:txBody>
      </p:sp>
      <p:sp>
        <p:nvSpPr>
          <p:cNvPr id="5" name="address-one"/>
          <p:cNvSpPr/>
          <p:nvPr/>
        </p:nvSpPr>
        <p:spPr>
          <a:xfrm>
            <a:off x="1524000" y="2984500"/>
            <a:ext cx="2413000" cy="889000"/>
          </a:xfrm>
          <a:prstGeom prst="rect">
            <a:avLst/>
          </a:prstGeom>
          <a:solidFill>
            <a:srgbClr val="EEF2F7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address-one-text"/>
          <p:cNvSpPr/>
          <p:nvPr/>
        </p:nvSpPr>
        <p:spPr>
          <a:xfrm>
            <a:off x="1524000" y="2984500"/>
            <a:ext cx="241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600" dirty="0">
                <a:solidFill>
                  <a:srgbClr val="007C9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a-addr</a:t>
            </a:r>
            <a:endParaRPr lang="en-US" sz="2600" dirty="0"/>
          </a:p>
        </p:txBody>
      </p:sp>
      <p:sp>
        <p:nvSpPr>
          <p:cNvPr id="7" name="address-arrow-one"/>
          <p:cNvSpPr/>
          <p:nvPr/>
        </p:nvSpPr>
        <p:spPr>
          <a:xfrm>
            <a:off x="3937000" y="3429000"/>
            <a:ext cx="1206500" cy="9144"/>
          </a:xfrm>
          <a:prstGeom prst="line">
            <a:avLst/>
          </a:prstGeom>
          <a:ln w="25400">
            <a:solidFill>
              <a:srgbClr val="007C91"/>
            </a:solidFill>
            <a:prstDash val="solid"/>
            <a:tailEnd type="triangle"/>
          </a:ln>
        </p:spPr>
        <p:txBody>
          <a:bodyPr/>
          <a:lstStyle/>
          <a:p>
            <a:endParaRPr lang="et-EE"/>
          </a:p>
        </p:txBody>
      </p:sp>
      <p:sp>
        <p:nvSpPr>
          <p:cNvPr id="8" name="address-two"/>
          <p:cNvSpPr/>
          <p:nvPr/>
        </p:nvSpPr>
        <p:spPr>
          <a:xfrm>
            <a:off x="5143500" y="2984500"/>
            <a:ext cx="2413000" cy="889000"/>
          </a:xfrm>
          <a:prstGeom prst="rect">
            <a:avLst/>
          </a:prstGeom>
          <a:solidFill>
            <a:srgbClr val="EEF2F7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9" name="address-two-text"/>
          <p:cNvSpPr/>
          <p:nvPr/>
        </p:nvSpPr>
        <p:spPr>
          <a:xfrm>
            <a:off x="5143500" y="2984500"/>
            <a:ext cx="241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600" dirty="0">
                <a:solidFill>
                  <a:srgbClr val="007C9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c-addr</a:t>
            </a:r>
            <a:endParaRPr lang="en-US" sz="2600" dirty="0"/>
          </a:p>
        </p:txBody>
      </p:sp>
      <p:sp>
        <p:nvSpPr>
          <p:cNvPr id="10" name="address-arrow-two"/>
          <p:cNvSpPr/>
          <p:nvPr/>
        </p:nvSpPr>
        <p:spPr>
          <a:xfrm>
            <a:off x="7556500" y="3429000"/>
            <a:ext cx="1206500" cy="9144"/>
          </a:xfrm>
          <a:prstGeom prst="line">
            <a:avLst/>
          </a:prstGeom>
          <a:ln w="25400">
            <a:solidFill>
              <a:srgbClr val="007C91"/>
            </a:solidFill>
            <a:prstDash val="solid"/>
            <a:tailEnd type="triangle"/>
          </a:ln>
        </p:spPr>
        <p:txBody>
          <a:bodyPr/>
          <a:lstStyle/>
          <a:p>
            <a:endParaRPr lang="et-EE"/>
          </a:p>
        </p:txBody>
      </p:sp>
      <p:sp>
        <p:nvSpPr>
          <p:cNvPr id="11" name="address-three"/>
          <p:cNvSpPr/>
          <p:nvPr/>
        </p:nvSpPr>
        <p:spPr>
          <a:xfrm>
            <a:off x="8763000" y="2984500"/>
            <a:ext cx="2032000" cy="889000"/>
          </a:xfrm>
          <a:prstGeom prst="rect">
            <a:avLst/>
          </a:prstGeom>
          <a:solidFill>
            <a:srgbClr val="EEF2F7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2" name="address-three-text"/>
          <p:cNvSpPr/>
          <p:nvPr/>
        </p:nvSpPr>
        <p:spPr>
          <a:xfrm>
            <a:off x="8763000" y="2984500"/>
            <a:ext cx="20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600" dirty="0">
                <a:solidFill>
                  <a:srgbClr val="007C9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addr</a:t>
            </a:r>
            <a:endParaRPr lang="en-US" sz="2600" dirty="0"/>
          </a:p>
        </p:txBody>
      </p:sp>
      <p:sp>
        <p:nvSpPr>
          <p:cNvPr id="13" name="address-arrow-three"/>
          <p:cNvSpPr/>
          <p:nvPr/>
        </p:nvSpPr>
        <p:spPr>
          <a:xfrm>
            <a:off x="10795000" y="3429000"/>
            <a:ext cx="1206500" cy="9144"/>
          </a:xfrm>
          <a:prstGeom prst="line">
            <a:avLst/>
          </a:prstGeom>
          <a:ln w="25400">
            <a:solidFill>
              <a:srgbClr val="007C91"/>
            </a:solidFill>
            <a:prstDash val="solid"/>
            <a:tailEnd type="triangle"/>
          </a:ln>
        </p:spPr>
        <p:txBody>
          <a:bodyPr/>
          <a:lstStyle/>
          <a:p>
            <a:endParaRPr lang="et-EE"/>
          </a:p>
        </p:txBody>
      </p:sp>
      <p:sp>
        <p:nvSpPr>
          <p:cNvPr id="14" name="address-four"/>
          <p:cNvSpPr/>
          <p:nvPr/>
        </p:nvSpPr>
        <p:spPr>
          <a:xfrm>
            <a:off x="12001500" y="2984500"/>
            <a:ext cx="1905000" cy="889000"/>
          </a:xfrm>
          <a:prstGeom prst="rect">
            <a:avLst/>
          </a:prstGeom>
          <a:solidFill>
            <a:srgbClr val="EEF2F7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5" name="address-four-text"/>
          <p:cNvSpPr/>
          <p:nvPr/>
        </p:nvSpPr>
        <p:spPr>
          <a:xfrm>
            <a:off x="12001500" y="2984500"/>
            <a:ext cx="190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600" dirty="0">
                <a:solidFill>
                  <a:srgbClr val="007C9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</a:t>
            </a:r>
            <a:endParaRPr lang="en-US" sz="2600" dirty="0"/>
          </a:p>
        </p:txBody>
      </p:sp>
      <p:sp>
        <p:nvSpPr>
          <p:cNvPr id="16" name="chain-two-label"/>
          <p:cNvSpPr/>
          <p:nvPr/>
        </p:nvSpPr>
        <p:spPr>
          <a:xfrm>
            <a:off x="1524000" y="4318000"/>
            <a:ext cx="381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scalar chain</a:t>
            </a:r>
            <a:endParaRPr lang="en-US" sz="2400" dirty="0"/>
          </a:p>
        </p:txBody>
      </p:sp>
      <p:sp>
        <p:nvSpPr>
          <p:cNvPr id="17" name="scalar-one"/>
          <p:cNvSpPr/>
          <p:nvPr/>
        </p:nvSpPr>
        <p:spPr>
          <a:xfrm>
            <a:off x="3238500" y="4953000"/>
            <a:ext cx="1905000" cy="889000"/>
          </a:xfrm>
          <a:prstGeom prst="rect">
            <a:avLst/>
          </a:prstGeom>
          <a:solidFill>
            <a:srgbClr val="EEF2F7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8" name="scalar-one-text"/>
          <p:cNvSpPr/>
          <p:nvPr/>
        </p:nvSpPr>
        <p:spPr>
          <a:xfrm>
            <a:off x="3238500" y="4953000"/>
            <a:ext cx="190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600" dirty="0">
                <a:solidFill>
                  <a:srgbClr val="007C9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char</a:t>
            </a:r>
            <a:endParaRPr lang="en-US" sz="2600" dirty="0"/>
          </a:p>
        </p:txBody>
      </p:sp>
      <p:sp>
        <p:nvSpPr>
          <p:cNvPr id="19" name="scalar-arrow-one"/>
          <p:cNvSpPr/>
          <p:nvPr/>
        </p:nvSpPr>
        <p:spPr>
          <a:xfrm>
            <a:off x="5143500" y="5397500"/>
            <a:ext cx="1397000" cy="9144"/>
          </a:xfrm>
          <a:prstGeom prst="line">
            <a:avLst/>
          </a:prstGeom>
          <a:ln w="25400">
            <a:solidFill>
              <a:srgbClr val="007C91"/>
            </a:solidFill>
            <a:prstDash val="solid"/>
            <a:tailEnd type="triangle"/>
          </a:ln>
        </p:spPr>
        <p:txBody>
          <a:bodyPr/>
          <a:lstStyle/>
          <a:p>
            <a:endParaRPr lang="et-EE"/>
          </a:p>
        </p:txBody>
      </p:sp>
      <p:sp>
        <p:nvSpPr>
          <p:cNvPr id="20" name="scalar-two"/>
          <p:cNvSpPr/>
          <p:nvPr/>
        </p:nvSpPr>
        <p:spPr>
          <a:xfrm>
            <a:off x="6540500" y="4953000"/>
            <a:ext cx="1905000" cy="889000"/>
          </a:xfrm>
          <a:prstGeom prst="rect">
            <a:avLst/>
          </a:prstGeom>
          <a:solidFill>
            <a:srgbClr val="EEF2F7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1" name="scalar-two-text"/>
          <p:cNvSpPr/>
          <p:nvPr/>
        </p:nvSpPr>
        <p:spPr>
          <a:xfrm>
            <a:off x="6540500" y="4953000"/>
            <a:ext cx="190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600" dirty="0">
                <a:solidFill>
                  <a:srgbClr val="007C9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</a:t>
            </a:r>
            <a:endParaRPr lang="en-US" sz="2600" dirty="0"/>
          </a:p>
        </p:txBody>
      </p:sp>
      <p:sp>
        <p:nvSpPr>
          <p:cNvPr id="22" name="scalar-arrow-two"/>
          <p:cNvSpPr/>
          <p:nvPr/>
        </p:nvSpPr>
        <p:spPr>
          <a:xfrm>
            <a:off x="8445500" y="5397500"/>
            <a:ext cx="1397000" cy="9144"/>
          </a:xfrm>
          <a:prstGeom prst="line">
            <a:avLst/>
          </a:prstGeom>
          <a:ln w="25400">
            <a:solidFill>
              <a:srgbClr val="007C91"/>
            </a:solidFill>
            <a:prstDash val="solid"/>
            <a:tailEnd type="triangle"/>
          </a:ln>
        </p:spPr>
        <p:txBody>
          <a:bodyPr/>
          <a:lstStyle/>
          <a:p>
            <a:endParaRPr lang="et-EE"/>
          </a:p>
        </p:txBody>
      </p:sp>
      <p:sp>
        <p:nvSpPr>
          <p:cNvPr id="23" name="scalar-three"/>
          <p:cNvSpPr/>
          <p:nvPr/>
        </p:nvSpPr>
        <p:spPr>
          <a:xfrm>
            <a:off x="9842500" y="4953000"/>
            <a:ext cx="1905000" cy="889000"/>
          </a:xfrm>
          <a:prstGeom prst="rect">
            <a:avLst/>
          </a:prstGeom>
          <a:solidFill>
            <a:srgbClr val="EEF2F7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4" name="scalar-three-text"/>
          <p:cNvSpPr/>
          <p:nvPr/>
        </p:nvSpPr>
        <p:spPr>
          <a:xfrm>
            <a:off x="9842500" y="4953000"/>
            <a:ext cx="190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600" dirty="0">
                <a:solidFill>
                  <a:srgbClr val="007C9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</a:t>
            </a:r>
            <a:endParaRPr lang="en-US" sz="2600" dirty="0"/>
          </a:p>
        </p:txBody>
      </p:sp>
      <p:sp>
        <p:nvSpPr>
          <p:cNvPr id="25" name="profile-takeaway"/>
          <p:cNvSpPr/>
          <p:nvPr/>
        </p:nvSpPr>
        <p:spPr>
          <a:xfrm>
            <a:off x="2222500" y="6858000"/>
            <a:ext cx="1181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7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checker uses this declared compatibility policy; runtime Forth cells remain untagged.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889000" y="609600"/>
            <a:ext cx="14478000" cy="9144"/>
          </a:xfrm>
          <a:prstGeom prst="line">
            <a:avLst/>
          </a:prstGeom>
          <a:ln w="381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slide-title"/>
          <p:cNvSpPr/>
          <p:nvPr/>
        </p:nvSpPr>
        <p:spPr>
          <a:xfrm>
            <a:off x="1016000" y="1041400"/>
            <a:ext cx="1193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360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Indexes track the same value</a:t>
            </a:r>
            <a:endParaRPr lang="en-US" sz="3600" dirty="0"/>
          </a:p>
        </p:txBody>
      </p:sp>
      <p:sp>
        <p:nvSpPr>
          <p:cNvPr id="4" name="input-cell"/>
          <p:cNvSpPr/>
          <p:nvPr/>
        </p:nvSpPr>
        <p:spPr>
          <a:xfrm>
            <a:off x="7175500" y="2603500"/>
            <a:ext cx="1905000" cy="1041400"/>
          </a:xfrm>
          <a:prstGeom prst="rect">
            <a:avLst/>
          </a:prstGeom>
          <a:solidFill>
            <a:srgbClr val="EEF2F7"/>
          </a:solidFill>
          <a:ln w="254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input-cell-text"/>
          <p:cNvSpPr/>
          <p:nvPr/>
        </p:nvSpPr>
        <p:spPr>
          <a:xfrm>
            <a:off x="7175500" y="2603500"/>
            <a:ext cx="1905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3000" dirty="0">
                <a:solidFill>
                  <a:srgbClr val="007C9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X[1]</a:t>
            </a:r>
            <a:endParaRPr lang="en-US" sz="3000" dirty="0"/>
          </a:p>
        </p:txBody>
      </p:sp>
      <p:sp>
        <p:nvSpPr>
          <p:cNvPr id="6" name="split-left"/>
          <p:cNvSpPr/>
          <p:nvPr/>
        </p:nvSpPr>
        <p:spPr>
          <a:xfrm flipH="1">
            <a:off x="5232400" y="3644900"/>
            <a:ext cx="2413000" cy="1333500"/>
          </a:xfrm>
          <a:prstGeom prst="line">
            <a:avLst/>
          </a:prstGeom>
          <a:ln w="38100">
            <a:solidFill>
              <a:srgbClr val="007C91"/>
            </a:solidFill>
            <a:prstDash val="solid"/>
            <a:tailEnd type="triangle"/>
          </a:ln>
        </p:spPr>
        <p:txBody>
          <a:bodyPr/>
          <a:lstStyle/>
          <a:p>
            <a:endParaRPr lang="et-EE"/>
          </a:p>
        </p:txBody>
      </p:sp>
      <p:sp>
        <p:nvSpPr>
          <p:cNvPr id="7" name="split-right"/>
          <p:cNvSpPr/>
          <p:nvPr/>
        </p:nvSpPr>
        <p:spPr>
          <a:xfrm>
            <a:off x="8610600" y="3644900"/>
            <a:ext cx="2413000" cy="1333500"/>
          </a:xfrm>
          <a:prstGeom prst="line">
            <a:avLst/>
          </a:prstGeom>
          <a:ln w="38100">
            <a:solidFill>
              <a:srgbClr val="007C91"/>
            </a:solidFill>
            <a:prstDash val="solid"/>
            <a:tailEnd type="triangle"/>
          </a:ln>
        </p:spPr>
        <p:txBody>
          <a:bodyPr/>
          <a:lstStyle/>
          <a:p>
            <a:endParaRPr lang="et-EE"/>
          </a:p>
        </p:txBody>
      </p:sp>
      <p:sp>
        <p:nvSpPr>
          <p:cNvPr id="8" name="dup-word"/>
          <p:cNvSpPr/>
          <p:nvPr/>
        </p:nvSpPr>
        <p:spPr>
          <a:xfrm>
            <a:off x="7416800" y="4064000"/>
            <a:ext cx="139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6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DUP</a:t>
            </a:r>
            <a:endParaRPr lang="en-US" sz="2600" dirty="0"/>
          </a:p>
        </p:txBody>
      </p:sp>
      <p:sp>
        <p:nvSpPr>
          <p:cNvPr id="9" name="output-left"/>
          <p:cNvSpPr/>
          <p:nvPr/>
        </p:nvSpPr>
        <p:spPr>
          <a:xfrm>
            <a:off x="3492500" y="5016500"/>
            <a:ext cx="2413000" cy="1143000"/>
          </a:xfrm>
          <a:prstGeom prst="rect">
            <a:avLst/>
          </a:prstGeom>
          <a:solidFill>
            <a:srgbClr val="EEF2F7"/>
          </a:solidFill>
          <a:ln w="254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0" name="output-right"/>
          <p:cNvSpPr/>
          <p:nvPr/>
        </p:nvSpPr>
        <p:spPr>
          <a:xfrm>
            <a:off x="10350500" y="5016500"/>
            <a:ext cx="2413000" cy="1143000"/>
          </a:xfrm>
          <a:prstGeom prst="rect">
            <a:avLst/>
          </a:prstGeom>
          <a:solidFill>
            <a:srgbClr val="EEF2F7"/>
          </a:solidFill>
          <a:ln w="254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1" name="output-left-text"/>
          <p:cNvSpPr/>
          <p:nvPr/>
        </p:nvSpPr>
        <p:spPr>
          <a:xfrm>
            <a:off x="3492500" y="5016500"/>
            <a:ext cx="241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3000" dirty="0">
                <a:solidFill>
                  <a:srgbClr val="007C9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X[1]</a:t>
            </a:r>
            <a:endParaRPr lang="en-US" sz="3000" dirty="0"/>
          </a:p>
        </p:txBody>
      </p:sp>
      <p:sp>
        <p:nvSpPr>
          <p:cNvPr id="12" name="output-right-text"/>
          <p:cNvSpPr/>
          <p:nvPr/>
        </p:nvSpPr>
        <p:spPr>
          <a:xfrm>
            <a:off x="10350500" y="5016500"/>
            <a:ext cx="241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3000" dirty="0">
                <a:solidFill>
                  <a:srgbClr val="007C9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X[1]</a:t>
            </a:r>
            <a:endParaRPr lang="en-US" sz="3000" dirty="0"/>
          </a:p>
        </p:txBody>
      </p:sp>
      <p:sp>
        <p:nvSpPr>
          <p:cNvPr id="13" name="effect"/>
          <p:cNvSpPr/>
          <p:nvPr/>
        </p:nvSpPr>
        <p:spPr>
          <a:xfrm>
            <a:off x="2921000" y="6604000"/>
            <a:ext cx="1041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rgbClr val="007C9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DUP  ( X[1] -- X[1] X[1] )</a:t>
            </a:r>
            <a:endParaRPr lang="en-US" sz="2800" dirty="0"/>
          </a:p>
        </p:txBody>
      </p:sp>
      <p:sp>
        <p:nvSpPr>
          <p:cNvPr id="14" name="takeaway"/>
          <p:cNvSpPr/>
          <p:nvPr/>
        </p:nvSpPr>
        <p:spPr>
          <a:xfrm>
            <a:off x="2349500" y="7493000"/>
            <a:ext cx="1155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7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Repeated [1] means both outputs originated from one symbolic input.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889000" y="609600"/>
            <a:ext cx="14478000" cy="9144"/>
          </a:xfrm>
          <a:prstGeom prst="line">
            <a:avLst/>
          </a:prstGeom>
          <a:ln w="381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slide-title"/>
          <p:cNvSpPr/>
          <p:nvPr/>
        </p:nvSpPr>
        <p:spPr>
          <a:xfrm>
            <a:off x="1016000" y="1041400"/>
            <a:ext cx="1193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360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Composition refines types</a:t>
            </a:r>
            <a:endParaRPr lang="en-US" sz="3600" dirty="0"/>
          </a:p>
        </p:txBody>
      </p:sp>
      <p:sp>
        <p:nvSpPr>
          <p:cNvPr id="4" name="phrase-panel"/>
          <p:cNvSpPr/>
          <p:nvPr/>
        </p:nvSpPr>
        <p:spPr>
          <a:xfrm>
            <a:off x="2349500" y="2286000"/>
            <a:ext cx="11557000" cy="1016000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phrase"/>
          <p:cNvSpPr/>
          <p:nvPr/>
        </p:nvSpPr>
        <p:spPr>
          <a:xfrm>
            <a:off x="2349500" y="2286000"/>
            <a:ext cx="1155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300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 2  +  DUP</a:t>
            </a:r>
            <a:endParaRPr lang="en-US" sz="3000" dirty="0"/>
          </a:p>
        </p:txBody>
      </p:sp>
      <p:sp>
        <p:nvSpPr>
          <p:cNvPr id="6" name="produced-cell"/>
          <p:cNvSpPr/>
          <p:nvPr/>
        </p:nvSpPr>
        <p:spPr>
          <a:xfrm>
            <a:off x="3810000" y="4191000"/>
            <a:ext cx="2413000" cy="1168400"/>
          </a:xfrm>
          <a:prstGeom prst="rect">
            <a:avLst/>
          </a:prstGeom>
          <a:solidFill>
            <a:srgbClr val="EEF2F7"/>
          </a:solidFill>
          <a:ln w="254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7" name="produced-cell-text"/>
          <p:cNvSpPr/>
          <p:nvPr/>
        </p:nvSpPr>
        <p:spPr>
          <a:xfrm>
            <a:off x="3810000" y="4191000"/>
            <a:ext cx="2413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3200" dirty="0">
                <a:solidFill>
                  <a:srgbClr val="007C9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</a:t>
            </a:r>
            <a:endParaRPr lang="en-US" sz="3200" dirty="0"/>
          </a:p>
        </p:txBody>
      </p:sp>
      <p:sp>
        <p:nvSpPr>
          <p:cNvPr id="8" name="produced-label"/>
          <p:cNvSpPr/>
          <p:nvPr/>
        </p:nvSpPr>
        <p:spPr>
          <a:xfrm>
            <a:off x="3111500" y="565150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produced by +</a:t>
            </a:r>
            <a:endParaRPr lang="en-US" sz="2400" dirty="0"/>
          </a:p>
        </p:txBody>
      </p:sp>
      <p:sp>
        <p:nvSpPr>
          <p:cNvPr id="9" name="match-arrow"/>
          <p:cNvSpPr/>
          <p:nvPr/>
        </p:nvSpPr>
        <p:spPr>
          <a:xfrm>
            <a:off x="6223000" y="4775200"/>
            <a:ext cx="3810000" cy="9144"/>
          </a:xfrm>
          <a:prstGeom prst="line">
            <a:avLst/>
          </a:prstGeom>
          <a:ln w="38100">
            <a:solidFill>
              <a:srgbClr val="007C91"/>
            </a:solidFill>
            <a:prstDash val="solid"/>
            <a:tailEnd type="triangle"/>
          </a:ln>
        </p:spPr>
        <p:txBody>
          <a:bodyPr/>
          <a:lstStyle/>
          <a:p>
            <a:endParaRPr lang="et-EE"/>
          </a:p>
        </p:txBody>
      </p:sp>
      <p:sp>
        <p:nvSpPr>
          <p:cNvPr id="10" name="match-label"/>
          <p:cNvSpPr/>
          <p:nvPr/>
        </p:nvSpPr>
        <p:spPr>
          <a:xfrm>
            <a:off x="7023100" y="4191000"/>
            <a:ext cx="2159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4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satisfies</a:t>
            </a:r>
            <a:endParaRPr lang="en-US" sz="2400" dirty="0"/>
          </a:p>
        </p:txBody>
      </p:sp>
      <p:sp>
        <p:nvSpPr>
          <p:cNvPr id="11" name="required-cell"/>
          <p:cNvSpPr/>
          <p:nvPr/>
        </p:nvSpPr>
        <p:spPr>
          <a:xfrm>
            <a:off x="10033000" y="4191000"/>
            <a:ext cx="2413000" cy="1168400"/>
          </a:xfrm>
          <a:prstGeom prst="rect">
            <a:avLst/>
          </a:prstGeom>
          <a:solidFill>
            <a:srgbClr val="EEF2F7"/>
          </a:solidFill>
          <a:ln w="254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2" name="required-cell-text"/>
          <p:cNvSpPr/>
          <p:nvPr/>
        </p:nvSpPr>
        <p:spPr>
          <a:xfrm>
            <a:off x="10033000" y="4191000"/>
            <a:ext cx="2413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3200" dirty="0">
                <a:solidFill>
                  <a:srgbClr val="007C9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X[1]</a:t>
            </a:r>
            <a:endParaRPr lang="en-US" sz="3200" dirty="0"/>
          </a:p>
        </p:txBody>
      </p:sp>
      <p:sp>
        <p:nvSpPr>
          <p:cNvPr id="13" name="required-label"/>
          <p:cNvSpPr/>
          <p:nvPr/>
        </p:nvSpPr>
        <p:spPr>
          <a:xfrm>
            <a:off x="9334500" y="565150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 by DUP</a:t>
            </a:r>
            <a:endParaRPr lang="en-US" sz="2400" dirty="0"/>
          </a:p>
        </p:txBody>
      </p:sp>
      <p:sp>
        <p:nvSpPr>
          <p:cNvPr id="14" name="result"/>
          <p:cNvSpPr/>
          <p:nvPr/>
        </p:nvSpPr>
        <p:spPr>
          <a:xfrm>
            <a:off x="2667000" y="6604000"/>
            <a:ext cx="1092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3000" dirty="0">
                <a:solidFill>
                  <a:srgbClr val="007C9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 -- n[1] n[1] )</a:t>
            </a:r>
            <a:endParaRPr lang="en-US" sz="3000" dirty="0"/>
          </a:p>
        </p:txBody>
      </p:sp>
      <p:sp>
        <p:nvSpPr>
          <p:cNvPr id="15" name="takeaway"/>
          <p:cNvSpPr/>
          <p:nvPr/>
        </p:nvSpPr>
        <p:spPr>
          <a:xfrm>
            <a:off x="2095500" y="7493000"/>
            <a:ext cx="1206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7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specific type n flows to both correlated outputs.</a:t>
            </a:r>
            <a:endParaRPr lang="en-US" sz="2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889000" y="609600"/>
            <a:ext cx="14478000" cy="9144"/>
          </a:xfrm>
          <a:prstGeom prst="line">
            <a:avLst/>
          </a:prstGeom>
          <a:ln w="381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slide-title"/>
          <p:cNvSpPr/>
          <p:nvPr/>
        </p:nvSpPr>
        <p:spPr>
          <a:xfrm>
            <a:off x="1016000" y="1041400"/>
            <a:ext cx="1193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360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Errors appear at a boundary</a:t>
            </a:r>
            <a:endParaRPr lang="en-US" sz="3600" dirty="0"/>
          </a:p>
        </p:txBody>
      </p:sp>
      <p:sp>
        <p:nvSpPr>
          <p:cNvPr id="4" name="definitions-panel"/>
          <p:cNvSpPr/>
          <p:nvPr/>
        </p:nvSpPr>
        <p:spPr>
          <a:xfrm>
            <a:off x="2286000" y="2222500"/>
            <a:ext cx="11684000" cy="1524000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definitions"/>
          <p:cNvSpPr/>
          <p:nvPr/>
        </p:nvSpPr>
        <p:spPr>
          <a:xfrm>
            <a:off x="2794000" y="2489200"/>
            <a:ext cx="10668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60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C@   ( c-addr -- char )</a:t>
            </a:r>
            <a:endParaRPr lang="en-US" sz="2600" dirty="0"/>
          </a:p>
          <a:p>
            <a:pPr marL="0" indent="0" algn="ctr">
              <a:buNone/>
            </a:pPr>
            <a:r>
              <a:rPr lang="en-US" altLang="en-US" sz="260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!    ( X a-addr -- )</a:t>
            </a:r>
            <a:endParaRPr lang="en-US" sz="2600" dirty="0"/>
          </a:p>
        </p:txBody>
      </p:sp>
      <p:sp>
        <p:nvSpPr>
          <p:cNvPr id="6" name="produced-cell"/>
          <p:cNvSpPr/>
          <p:nvPr/>
        </p:nvSpPr>
        <p:spPr>
          <a:xfrm>
            <a:off x="3111500" y="4635500"/>
            <a:ext cx="3302000" cy="1270000"/>
          </a:xfrm>
          <a:prstGeom prst="rect">
            <a:avLst/>
          </a:prstGeom>
          <a:solidFill>
            <a:srgbClr val="EEF2F7"/>
          </a:solidFill>
          <a:ln w="254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7" name="produced-cell-text"/>
          <p:cNvSpPr/>
          <p:nvPr/>
        </p:nvSpPr>
        <p:spPr>
          <a:xfrm>
            <a:off x="3111500" y="4635500"/>
            <a:ext cx="330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3200" dirty="0">
                <a:solidFill>
                  <a:srgbClr val="007C9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char</a:t>
            </a:r>
            <a:endParaRPr lang="en-US" sz="3200" dirty="0"/>
          </a:p>
        </p:txBody>
      </p:sp>
      <p:sp>
        <p:nvSpPr>
          <p:cNvPr id="8" name="produced-label"/>
          <p:cNvSpPr/>
          <p:nvPr/>
        </p:nvSpPr>
        <p:spPr>
          <a:xfrm>
            <a:off x="3111500" y="6172200"/>
            <a:ext cx="330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produced by C@</a:t>
            </a:r>
            <a:endParaRPr lang="en-US" sz="2400" dirty="0"/>
          </a:p>
        </p:txBody>
      </p:sp>
      <p:sp>
        <p:nvSpPr>
          <p:cNvPr id="9" name="clash-box"/>
          <p:cNvSpPr/>
          <p:nvPr/>
        </p:nvSpPr>
        <p:spPr>
          <a:xfrm>
            <a:off x="7556500" y="4762500"/>
            <a:ext cx="1143000" cy="1016000"/>
          </a:xfrm>
          <a:prstGeom prst="rect">
            <a:avLst/>
          </a:prstGeom>
          <a:solidFill>
            <a:srgbClr val="A84B08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0" name="clash-text"/>
          <p:cNvSpPr/>
          <p:nvPr/>
        </p:nvSpPr>
        <p:spPr>
          <a:xfrm>
            <a:off x="7556500" y="4762500"/>
            <a:ext cx="114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320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✕</a:t>
            </a:r>
            <a:endParaRPr lang="en-US" sz="3200" dirty="0"/>
          </a:p>
        </p:txBody>
      </p:sp>
      <p:sp>
        <p:nvSpPr>
          <p:cNvPr id="11" name="required-cell"/>
          <p:cNvSpPr/>
          <p:nvPr/>
        </p:nvSpPr>
        <p:spPr>
          <a:xfrm>
            <a:off x="9842500" y="4635500"/>
            <a:ext cx="3302000" cy="1270000"/>
          </a:xfrm>
          <a:prstGeom prst="rect">
            <a:avLst/>
          </a:prstGeom>
          <a:solidFill>
            <a:srgbClr val="EEF2F7"/>
          </a:solidFill>
          <a:ln w="25400">
            <a:solidFill>
              <a:srgbClr val="A84B08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2" name="required-cell-text"/>
          <p:cNvSpPr/>
          <p:nvPr/>
        </p:nvSpPr>
        <p:spPr>
          <a:xfrm>
            <a:off x="9842500" y="4635500"/>
            <a:ext cx="330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3200" dirty="0">
                <a:solidFill>
                  <a:srgbClr val="A84B0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a-addr</a:t>
            </a:r>
            <a:endParaRPr lang="en-US" sz="3200" dirty="0"/>
          </a:p>
        </p:txBody>
      </p:sp>
      <p:sp>
        <p:nvSpPr>
          <p:cNvPr id="13" name="required-label"/>
          <p:cNvSpPr/>
          <p:nvPr/>
        </p:nvSpPr>
        <p:spPr>
          <a:xfrm>
            <a:off x="9842500" y="6172200"/>
            <a:ext cx="330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 by !</a:t>
            </a:r>
            <a:endParaRPr lang="en-US" sz="2400" dirty="0"/>
          </a:p>
        </p:txBody>
      </p:sp>
      <p:sp>
        <p:nvSpPr>
          <p:cNvPr id="14" name="conclusion"/>
          <p:cNvSpPr/>
          <p:nvPr/>
        </p:nvSpPr>
        <p:spPr>
          <a:xfrm>
            <a:off x="2286000" y="7239000"/>
            <a:ext cx="1168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3000" dirty="0">
                <a:solidFill>
                  <a:srgbClr val="A84B0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C@  !   — incompatible stack boundary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889000" y="609600"/>
            <a:ext cx="14478000" cy="9144"/>
          </a:xfrm>
          <a:prstGeom prst="line">
            <a:avLst/>
          </a:prstGeom>
          <a:ln w="381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slide-title"/>
          <p:cNvSpPr/>
          <p:nvPr/>
        </p:nvSpPr>
        <p:spPr>
          <a:xfrm>
            <a:off x="1016000" y="1041400"/>
            <a:ext cx="1270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360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Branches can differ—and still agree</a:t>
            </a:r>
            <a:endParaRPr lang="en-US" sz="3600" dirty="0"/>
          </a:p>
        </p:txBody>
      </p:sp>
      <p:sp>
        <p:nvSpPr>
          <p:cNvPr id="4" name="source-panel"/>
          <p:cNvSpPr/>
          <p:nvPr/>
        </p:nvSpPr>
        <p:spPr>
          <a:xfrm>
            <a:off x="2603500" y="2095500"/>
            <a:ext cx="11049000" cy="952500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source"/>
          <p:cNvSpPr/>
          <p:nvPr/>
        </p:nvSpPr>
        <p:spPr>
          <a:xfrm>
            <a:off x="2603500" y="2095500"/>
            <a:ext cx="1104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FUN  IF NEGATE ELSE 1+ THEN ;</a:t>
            </a:r>
            <a:endParaRPr lang="en-US" sz="2800" dirty="0"/>
          </a:p>
        </p:txBody>
      </p:sp>
      <p:sp>
        <p:nvSpPr>
          <p:cNvPr id="6" name="if-diamond"/>
          <p:cNvSpPr/>
          <p:nvPr/>
        </p:nvSpPr>
        <p:spPr>
          <a:xfrm>
            <a:off x="7175500" y="3746500"/>
            <a:ext cx="1905000" cy="1041400"/>
          </a:xfrm>
          <a:prstGeom prst="diamond">
            <a:avLst/>
          </a:prstGeom>
          <a:solidFill>
            <a:srgbClr val="EEF2F7"/>
          </a:solidFill>
          <a:ln w="254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7" name="if-text"/>
          <p:cNvSpPr/>
          <p:nvPr/>
        </p:nvSpPr>
        <p:spPr>
          <a:xfrm>
            <a:off x="7175500" y="3746500"/>
            <a:ext cx="1905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rgbClr val="007C9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</a:t>
            </a:r>
            <a:endParaRPr lang="en-US" sz="2800" dirty="0"/>
          </a:p>
        </p:txBody>
      </p:sp>
      <p:sp>
        <p:nvSpPr>
          <p:cNvPr id="8" name="true-arrow"/>
          <p:cNvSpPr/>
          <p:nvPr/>
        </p:nvSpPr>
        <p:spPr>
          <a:xfrm flipH="1">
            <a:off x="5016500" y="4572000"/>
            <a:ext cx="2476500" cy="736600"/>
          </a:xfrm>
          <a:prstGeom prst="line">
            <a:avLst/>
          </a:prstGeom>
          <a:ln w="25400">
            <a:solidFill>
              <a:srgbClr val="007C91"/>
            </a:solidFill>
            <a:prstDash val="solid"/>
            <a:tailEnd type="triangle"/>
          </a:ln>
        </p:spPr>
        <p:txBody>
          <a:bodyPr/>
          <a:lstStyle/>
          <a:p>
            <a:endParaRPr lang="et-EE"/>
          </a:p>
        </p:txBody>
      </p:sp>
      <p:sp>
        <p:nvSpPr>
          <p:cNvPr id="9" name="false-arrow"/>
          <p:cNvSpPr/>
          <p:nvPr/>
        </p:nvSpPr>
        <p:spPr>
          <a:xfrm>
            <a:off x="8763000" y="4572000"/>
            <a:ext cx="2476500" cy="736600"/>
          </a:xfrm>
          <a:prstGeom prst="line">
            <a:avLst/>
          </a:prstGeom>
          <a:ln w="25400">
            <a:solidFill>
              <a:srgbClr val="007C91"/>
            </a:solidFill>
            <a:prstDash val="solid"/>
            <a:tailEnd type="triangle"/>
          </a:ln>
        </p:spPr>
        <p:txBody>
          <a:bodyPr/>
          <a:lstStyle/>
          <a:p>
            <a:endParaRPr lang="et-EE"/>
          </a:p>
        </p:txBody>
      </p:sp>
      <p:sp>
        <p:nvSpPr>
          <p:cNvPr id="10" name="true-label"/>
          <p:cNvSpPr/>
          <p:nvPr/>
        </p:nvSpPr>
        <p:spPr>
          <a:xfrm>
            <a:off x="3175000" y="4800600"/>
            <a:ext cx="20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true</a:t>
            </a:r>
            <a:endParaRPr lang="en-US" sz="2200" dirty="0"/>
          </a:p>
        </p:txBody>
      </p:sp>
      <p:sp>
        <p:nvSpPr>
          <p:cNvPr id="11" name="false-label"/>
          <p:cNvSpPr/>
          <p:nvPr/>
        </p:nvSpPr>
        <p:spPr>
          <a:xfrm>
            <a:off x="11049000" y="4800600"/>
            <a:ext cx="20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false</a:t>
            </a:r>
            <a:endParaRPr lang="en-US" sz="2200" dirty="0"/>
          </a:p>
        </p:txBody>
      </p:sp>
      <p:sp>
        <p:nvSpPr>
          <p:cNvPr id="12" name="true-branch"/>
          <p:cNvSpPr/>
          <p:nvPr/>
        </p:nvSpPr>
        <p:spPr>
          <a:xfrm>
            <a:off x="2794000" y="5207000"/>
            <a:ext cx="3556000" cy="1206500"/>
          </a:xfrm>
          <a:prstGeom prst="rect">
            <a:avLst/>
          </a:prstGeom>
          <a:solidFill>
            <a:srgbClr val="EEF2F7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3" name="true-branch-text"/>
          <p:cNvSpPr/>
          <p:nvPr/>
        </p:nvSpPr>
        <p:spPr>
          <a:xfrm>
            <a:off x="2794000" y="5207000"/>
            <a:ext cx="3556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600" dirty="0">
                <a:solidFill>
                  <a:srgbClr val="007C9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NEGATE</a:t>
            </a:r>
            <a:endParaRPr lang="en-US" sz="2600" dirty="0"/>
          </a:p>
          <a:p>
            <a:pPr marL="0" indent="0" algn="ctr">
              <a:buNone/>
            </a:pPr>
            <a:r>
              <a:rPr lang="en-US" altLang="en-US" sz="2600" dirty="0">
                <a:solidFill>
                  <a:srgbClr val="007C9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 n -- n )</a:t>
            </a:r>
            <a:endParaRPr lang="en-US" sz="2600" dirty="0"/>
          </a:p>
        </p:txBody>
      </p:sp>
      <p:sp>
        <p:nvSpPr>
          <p:cNvPr id="14" name="false-branch"/>
          <p:cNvSpPr/>
          <p:nvPr/>
        </p:nvSpPr>
        <p:spPr>
          <a:xfrm>
            <a:off x="9906000" y="5207000"/>
            <a:ext cx="3556000" cy="1206500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5" name="false-branch-text"/>
          <p:cNvSpPr/>
          <p:nvPr/>
        </p:nvSpPr>
        <p:spPr>
          <a:xfrm>
            <a:off x="9906000" y="5207000"/>
            <a:ext cx="3556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6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1+</a:t>
            </a:r>
            <a:endParaRPr lang="en-US" sz="2600" dirty="0"/>
          </a:p>
          <a:p>
            <a:pPr marL="0" indent="0" algn="ctr">
              <a:buNone/>
            </a:pPr>
            <a:r>
              <a:rPr lang="en-US" altLang="en-US" sz="26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 n -- n )</a:t>
            </a:r>
            <a:endParaRPr lang="en-US" sz="2600" dirty="0"/>
          </a:p>
        </p:txBody>
      </p:sp>
      <p:sp>
        <p:nvSpPr>
          <p:cNvPr id="16" name="merge-left"/>
          <p:cNvSpPr/>
          <p:nvPr/>
        </p:nvSpPr>
        <p:spPr>
          <a:xfrm>
            <a:off x="6350000" y="5803900"/>
            <a:ext cx="1841500" cy="990600"/>
          </a:xfrm>
          <a:prstGeom prst="line">
            <a:avLst/>
          </a:prstGeom>
          <a:ln w="25400">
            <a:solidFill>
              <a:srgbClr val="007C91"/>
            </a:solidFill>
            <a:prstDash val="solid"/>
            <a:tailEnd type="triangle"/>
          </a:ln>
        </p:spPr>
        <p:txBody>
          <a:bodyPr/>
          <a:lstStyle/>
          <a:p>
            <a:endParaRPr lang="et-EE"/>
          </a:p>
        </p:txBody>
      </p:sp>
      <p:sp>
        <p:nvSpPr>
          <p:cNvPr id="17" name="merge-right"/>
          <p:cNvSpPr/>
          <p:nvPr/>
        </p:nvSpPr>
        <p:spPr>
          <a:xfrm flipH="1">
            <a:off x="8191500" y="5803900"/>
            <a:ext cx="1714500" cy="990600"/>
          </a:xfrm>
          <a:prstGeom prst="line">
            <a:avLst/>
          </a:prstGeom>
          <a:ln w="25400">
            <a:solidFill>
              <a:srgbClr val="007C91"/>
            </a:solidFill>
            <a:prstDash val="solid"/>
            <a:tailEnd type="triangle"/>
          </a:ln>
        </p:spPr>
        <p:txBody>
          <a:bodyPr/>
          <a:lstStyle/>
          <a:p>
            <a:endParaRPr lang="et-EE"/>
          </a:p>
        </p:txBody>
      </p:sp>
      <p:sp>
        <p:nvSpPr>
          <p:cNvPr id="18" name="contract"/>
          <p:cNvSpPr/>
          <p:nvPr/>
        </p:nvSpPr>
        <p:spPr>
          <a:xfrm>
            <a:off x="3302000" y="7048500"/>
            <a:ext cx="965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rgbClr val="007C9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  ( n flag -- n )</a:t>
            </a:r>
            <a:endParaRPr lang="en-US" sz="2800" dirty="0"/>
          </a:p>
        </p:txBody>
      </p:sp>
      <p:sp>
        <p:nvSpPr>
          <p:cNvPr id="19" name="takeaway"/>
          <p:cNvSpPr/>
          <p:nvPr/>
        </p:nvSpPr>
        <p:spPr>
          <a:xfrm>
            <a:off x="2159000" y="7937500"/>
            <a:ext cx="1193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paths leave one number; they differ only in whether they negate or increment it.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889000" y="609600"/>
            <a:ext cx="14478000" cy="9144"/>
          </a:xfrm>
          <a:prstGeom prst="line">
            <a:avLst/>
          </a:prstGeom>
          <a:ln w="381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slide-title"/>
          <p:cNvSpPr/>
          <p:nvPr/>
        </p:nvSpPr>
        <p:spPr>
          <a:xfrm>
            <a:off x="1016000" y="1041400"/>
            <a:ext cx="1193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360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Loops compare one pass with two</a:t>
            </a:r>
            <a:endParaRPr lang="en-US" sz="3600" dirty="0"/>
          </a:p>
        </p:txBody>
      </p:sp>
      <p:sp>
        <p:nvSpPr>
          <p:cNvPr id="4" name="source-panel"/>
          <p:cNvSpPr/>
          <p:nvPr/>
        </p:nvSpPr>
        <p:spPr>
          <a:xfrm>
            <a:off x="2413000" y="2159000"/>
            <a:ext cx="11430000" cy="965200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source"/>
          <p:cNvSpPr/>
          <p:nvPr/>
        </p:nvSpPr>
        <p:spPr>
          <a:xfrm>
            <a:off x="2413000" y="2159000"/>
            <a:ext cx="11430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ULOOP  BEGIN DUP 0= UNTIL ;</a:t>
            </a:r>
            <a:endParaRPr lang="en-US" sz="2800" dirty="0"/>
          </a:p>
        </p:txBody>
      </p:sp>
      <p:sp>
        <p:nvSpPr>
          <p:cNvPr id="6" name="one-pass"/>
          <p:cNvSpPr/>
          <p:nvPr/>
        </p:nvSpPr>
        <p:spPr>
          <a:xfrm>
            <a:off x="2159000" y="4381500"/>
            <a:ext cx="2984500" cy="1206500"/>
          </a:xfrm>
          <a:prstGeom prst="rect">
            <a:avLst/>
          </a:prstGeom>
          <a:solidFill>
            <a:srgbClr val="EEF2F7"/>
          </a:solidFill>
          <a:ln w="254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7" name="one-pass-text"/>
          <p:cNvSpPr/>
          <p:nvPr/>
        </p:nvSpPr>
        <p:spPr>
          <a:xfrm>
            <a:off x="2159000" y="4381500"/>
            <a:ext cx="2984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rgbClr val="007C9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one pass  π</a:t>
            </a:r>
            <a:endParaRPr lang="en-US" sz="2800" dirty="0"/>
          </a:p>
        </p:txBody>
      </p:sp>
      <p:sp>
        <p:nvSpPr>
          <p:cNvPr id="8" name="two-pass"/>
          <p:cNvSpPr/>
          <p:nvPr/>
        </p:nvSpPr>
        <p:spPr>
          <a:xfrm>
            <a:off x="6604000" y="4381500"/>
            <a:ext cx="2984500" cy="1206500"/>
          </a:xfrm>
          <a:prstGeom prst="rect">
            <a:avLst/>
          </a:prstGeom>
          <a:solidFill>
            <a:srgbClr val="EEF2F7"/>
          </a:solidFill>
          <a:ln w="254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9" name="two-pass-text"/>
          <p:cNvSpPr/>
          <p:nvPr/>
        </p:nvSpPr>
        <p:spPr>
          <a:xfrm>
            <a:off x="6604000" y="4381500"/>
            <a:ext cx="2984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rgbClr val="007C9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two passes  π π</a:t>
            </a:r>
            <a:endParaRPr lang="en-US" sz="2800" dirty="0"/>
          </a:p>
        </p:txBody>
      </p:sp>
      <p:sp>
        <p:nvSpPr>
          <p:cNvPr id="10" name="comparison-arrow"/>
          <p:cNvSpPr/>
          <p:nvPr/>
        </p:nvSpPr>
        <p:spPr>
          <a:xfrm>
            <a:off x="5143500" y="4978400"/>
            <a:ext cx="1460500" cy="9144"/>
          </a:xfrm>
          <a:prstGeom prst="line">
            <a:avLst/>
          </a:prstGeom>
          <a:ln w="38100">
            <a:solidFill>
              <a:srgbClr val="007C91"/>
            </a:solidFill>
            <a:prstDash val="solid"/>
            <a:tailEnd type="triangle"/>
          </a:ln>
        </p:spPr>
        <p:txBody>
          <a:bodyPr/>
          <a:lstStyle/>
          <a:p>
            <a:endParaRPr lang="et-EE"/>
          </a:p>
        </p:txBody>
      </p:sp>
      <p:sp>
        <p:nvSpPr>
          <p:cNvPr id="11" name="summary-arrow"/>
          <p:cNvSpPr/>
          <p:nvPr/>
        </p:nvSpPr>
        <p:spPr>
          <a:xfrm>
            <a:off x="9588500" y="4978400"/>
            <a:ext cx="1714500" cy="9144"/>
          </a:xfrm>
          <a:prstGeom prst="line">
            <a:avLst/>
          </a:prstGeom>
          <a:ln w="38100">
            <a:solidFill>
              <a:srgbClr val="007C91"/>
            </a:solidFill>
            <a:prstDash val="solid"/>
            <a:tailEnd type="triangle"/>
          </a:ln>
        </p:spPr>
        <p:txBody>
          <a:bodyPr/>
          <a:lstStyle/>
          <a:p>
            <a:endParaRPr lang="et-EE"/>
          </a:p>
        </p:txBody>
      </p:sp>
      <p:sp>
        <p:nvSpPr>
          <p:cNvPr id="12" name="summary"/>
          <p:cNvSpPr/>
          <p:nvPr/>
        </p:nvSpPr>
        <p:spPr>
          <a:xfrm>
            <a:off x="11303000" y="4191000"/>
            <a:ext cx="2984500" cy="1587500"/>
          </a:xfrm>
          <a:prstGeom prst="rect">
            <a:avLst/>
          </a:prstGeom>
          <a:solidFill>
            <a:srgbClr val="EEF2F7"/>
          </a:solidFill>
          <a:ln w="254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3" name="summary-text"/>
          <p:cNvSpPr/>
          <p:nvPr/>
        </p:nvSpPr>
        <p:spPr>
          <a:xfrm>
            <a:off x="11303000" y="4191000"/>
            <a:ext cx="29845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6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</a:t>
            </a:r>
            <a:endParaRPr lang="en-US" sz="2600" dirty="0"/>
          </a:p>
          <a:p>
            <a:pPr marL="0" indent="0" algn="ctr">
              <a:buNone/>
            </a:pPr>
            <a:r>
              <a:rPr lang="en-US" altLang="en-US" sz="2600" dirty="0">
                <a:solidFill>
                  <a:srgbClr val="007C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summary?</a:t>
            </a:r>
            <a:endParaRPr lang="en-US" sz="2600" dirty="0"/>
          </a:p>
        </p:txBody>
      </p:sp>
      <p:sp>
        <p:nvSpPr>
          <p:cNvPr id="14" name="result"/>
          <p:cNvSpPr/>
          <p:nvPr/>
        </p:nvSpPr>
        <p:spPr>
          <a:xfrm>
            <a:off x="2794000" y="6731000"/>
            <a:ext cx="1066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rgbClr val="007C9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ULOOP  ( n[1] -- n[1] )</a:t>
            </a:r>
            <a:endParaRPr lang="en-US" sz="2800" dirty="0"/>
          </a:p>
        </p:txBody>
      </p:sp>
      <p:sp>
        <p:nvSpPr>
          <p:cNvPr id="15" name="limitation"/>
          <p:cNvSpPr/>
          <p:nvPr/>
        </p:nvSpPr>
        <p:spPr>
          <a:xfrm>
            <a:off x="2032000" y="77470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500" dirty="0">
                <a:solidFill>
                  <a:srgbClr val="A84B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local stack-stability test—not a proof of termination or every iteration count.</a:t>
            </a:r>
            <a:endParaRPr lang="en-US" sz="2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889000" y="609600"/>
            <a:ext cx="14478000" cy="9144"/>
          </a:xfrm>
          <a:prstGeom prst="line">
            <a:avLst/>
          </a:prstGeom>
          <a:ln w="381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slide-title"/>
          <p:cNvSpPr/>
          <p:nvPr/>
        </p:nvSpPr>
        <p:spPr>
          <a:xfrm>
            <a:off x="1016000" y="1041400"/>
            <a:ext cx="1193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360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Analysis is profile-driven</a:t>
            </a:r>
            <a:endParaRPr lang="en-US" sz="3600" dirty="0"/>
          </a:p>
        </p:txBody>
      </p:sp>
      <p:sp>
        <p:nvSpPr>
          <p:cNvPr id="4" name="type-file"/>
          <p:cNvSpPr/>
          <p:nvPr/>
        </p:nvSpPr>
        <p:spPr>
          <a:xfrm>
            <a:off x="1270000" y="3619500"/>
            <a:ext cx="279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70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types.txt</a:t>
            </a:r>
            <a:endParaRPr lang="en-US" sz="2700" dirty="0"/>
          </a:p>
        </p:txBody>
      </p:sp>
      <p:sp>
        <p:nvSpPr>
          <p:cNvPr id="5" name="spec-file"/>
          <p:cNvSpPr/>
          <p:nvPr/>
        </p:nvSpPr>
        <p:spPr>
          <a:xfrm>
            <a:off x="4635500" y="3619500"/>
            <a:ext cx="279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70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specs.txt</a:t>
            </a:r>
            <a:endParaRPr lang="en-US" sz="2700" dirty="0"/>
          </a:p>
        </p:txBody>
      </p:sp>
      <p:sp>
        <p:nvSpPr>
          <p:cNvPr id="6" name="source-file"/>
          <p:cNvSpPr/>
          <p:nvPr/>
        </p:nvSpPr>
        <p:spPr>
          <a:xfrm>
            <a:off x="7937500" y="3619500"/>
            <a:ext cx="279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70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source.fs</a:t>
            </a:r>
            <a:endParaRPr lang="en-US" sz="2700" dirty="0"/>
          </a:p>
        </p:txBody>
      </p:sp>
      <p:sp>
        <p:nvSpPr>
          <p:cNvPr id="7" name="join-line"/>
          <p:cNvSpPr/>
          <p:nvPr/>
        </p:nvSpPr>
        <p:spPr>
          <a:xfrm>
            <a:off x="1460500" y="4635500"/>
            <a:ext cx="8763000" cy="9144"/>
          </a:xfrm>
          <a:prstGeom prst="line">
            <a:avLst/>
          </a:prstGeom>
          <a:ln w="381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8" name="pipeline-arrow"/>
          <p:cNvSpPr/>
          <p:nvPr/>
        </p:nvSpPr>
        <p:spPr>
          <a:xfrm>
            <a:off x="10223500" y="4635500"/>
            <a:ext cx="1397000" cy="9144"/>
          </a:xfrm>
          <a:prstGeom prst="line">
            <a:avLst/>
          </a:prstGeom>
          <a:ln w="38100">
            <a:solidFill>
              <a:srgbClr val="007C91"/>
            </a:solidFill>
            <a:prstDash val="solid"/>
            <a:tailEnd type="triangle"/>
          </a:ln>
        </p:spPr>
        <p:txBody>
          <a:bodyPr/>
          <a:lstStyle/>
          <a:p>
            <a:endParaRPr lang="et-EE"/>
          </a:p>
        </p:txBody>
      </p:sp>
      <p:sp>
        <p:nvSpPr>
          <p:cNvPr id="9" name="result-label"/>
          <p:cNvSpPr/>
          <p:nvPr/>
        </p:nvSpPr>
        <p:spPr>
          <a:xfrm>
            <a:off x="11620500" y="4191000"/>
            <a:ext cx="330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600" dirty="0">
                <a:solidFill>
                  <a:srgbClr val="007C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inferred effects</a:t>
            </a:r>
            <a:endParaRPr lang="en-US" sz="2600" dirty="0"/>
          </a:p>
          <a:p>
            <a:pPr marL="0" indent="0" algn="ctr">
              <a:buNone/>
            </a:pPr>
            <a:r>
              <a:rPr lang="en-US" altLang="en-US" sz="2600" dirty="0">
                <a:solidFill>
                  <a:srgbClr val="007C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 diagnostics</a:t>
            </a:r>
            <a:endParaRPr lang="en-US" sz="2600" dirty="0"/>
          </a:p>
        </p:txBody>
      </p:sp>
      <p:sp>
        <p:nvSpPr>
          <p:cNvPr id="10" name="example-panel"/>
          <p:cNvSpPr/>
          <p:nvPr/>
        </p:nvSpPr>
        <p:spPr>
          <a:xfrm>
            <a:off x="2603500" y="6159500"/>
            <a:ext cx="11049000" cy="1587500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1" name="example"/>
          <p:cNvSpPr/>
          <p:nvPr/>
        </p:nvSpPr>
        <p:spPr>
          <a:xfrm>
            <a:off x="3048000" y="6413500"/>
            <a:ext cx="1016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70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PEEK2  DUP @ SWAP @ ;</a:t>
            </a:r>
            <a:endParaRPr lang="en-US" sz="2700" dirty="0"/>
          </a:p>
          <a:p>
            <a:pPr marL="0" indent="0" algn="ctr">
              <a:buNone/>
            </a:pPr>
            <a:r>
              <a:rPr lang="en-US" altLang="en-US" sz="2700" dirty="0">
                <a:solidFill>
                  <a:srgbClr val="007C9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 a-addr[1] -- X[2] X )</a:t>
            </a:r>
            <a:endParaRPr lang="en-US" sz="2700" dirty="0"/>
          </a:p>
        </p:txBody>
      </p:sp>
      <p:sp>
        <p:nvSpPr>
          <p:cNvPr id="12" name="takeaway"/>
          <p:cNvSpPr/>
          <p:nvPr/>
        </p:nvSpPr>
        <p:spPr>
          <a:xfrm>
            <a:off x="2286000" y="8128000"/>
            <a:ext cx="1168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a colon definition closes, its inferred effect can serve later source.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889000" y="609600"/>
            <a:ext cx="14478000" cy="9144"/>
          </a:xfrm>
          <a:prstGeom prst="line">
            <a:avLst/>
          </a:prstGeom>
          <a:ln w="381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slide-title"/>
          <p:cNvSpPr/>
          <p:nvPr/>
        </p:nvSpPr>
        <p:spPr>
          <a:xfrm>
            <a:off x="1016000" y="1041400"/>
            <a:ext cx="1193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360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Valuable, but deliberately bounded</a:t>
            </a:r>
            <a:endParaRPr lang="en-US" sz="3600" dirty="0"/>
          </a:p>
        </p:txBody>
      </p:sp>
      <p:sp>
        <p:nvSpPr>
          <p:cNvPr id="4" name="use-region"/>
          <p:cNvSpPr/>
          <p:nvPr/>
        </p:nvSpPr>
        <p:spPr>
          <a:xfrm>
            <a:off x="1524000" y="2603500"/>
            <a:ext cx="13208000" cy="1841500"/>
          </a:xfrm>
          <a:prstGeom prst="rect">
            <a:avLst/>
          </a:prstGeom>
          <a:solidFill>
            <a:srgbClr val="EEF2F7"/>
          </a:solidFill>
          <a:ln w="127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use-label"/>
          <p:cNvSpPr/>
          <p:nvPr/>
        </p:nvSpPr>
        <p:spPr>
          <a:xfrm>
            <a:off x="1968500" y="2895600"/>
            <a:ext cx="203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007C9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USEFUL FOR</a:t>
            </a:r>
            <a:endParaRPr lang="en-US" sz="2400" dirty="0"/>
          </a:p>
        </p:txBody>
      </p:sp>
      <p:sp>
        <p:nvSpPr>
          <p:cNvPr id="6" name="use-text"/>
          <p:cNvSpPr/>
          <p:nvPr/>
        </p:nvSpPr>
        <p:spPr>
          <a:xfrm>
            <a:off x="2032000" y="35814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shape  ·  type boundaries  ·  branch interfaces  ·  many changing loop bodies</a:t>
            </a:r>
            <a:endParaRPr lang="en-US" sz="2500" dirty="0"/>
          </a:p>
        </p:txBody>
      </p:sp>
      <p:sp>
        <p:nvSpPr>
          <p:cNvPr id="7" name="limit-region"/>
          <p:cNvSpPr/>
          <p:nvPr/>
        </p:nvSpPr>
        <p:spPr>
          <a:xfrm>
            <a:off x="1524000" y="5334000"/>
            <a:ext cx="13208000" cy="1841500"/>
          </a:xfrm>
          <a:prstGeom prst="rect">
            <a:avLst/>
          </a:prstGeom>
          <a:solidFill>
            <a:srgbClr val="EEF2F7"/>
          </a:solidFill>
          <a:ln w="12700">
            <a:solidFill>
              <a:srgbClr val="A84B08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8" name="limit-label"/>
          <p:cNvSpPr/>
          <p:nvPr/>
        </p:nvSpPr>
        <p:spPr>
          <a:xfrm>
            <a:off x="1968500" y="5626100"/>
            <a:ext cx="381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A84B0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 A PROOF OF</a:t>
            </a:r>
            <a:endParaRPr lang="en-US" sz="2400" dirty="0"/>
          </a:p>
        </p:txBody>
      </p:sp>
      <p:sp>
        <p:nvSpPr>
          <p:cNvPr id="9" name="limit-text"/>
          <p:cNvSpPr/>
          <p:nvPr/>
        </p:nvSpPr>
        <p:spPr>
          <a:xfrm>
            <a:off x="2032000" y="63119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primitive declarations  ·  termination  ·  arbitrary dynamic execution</a:t>
            </a:r>
            <a:endParaRPr lang="en-US" sz="2500" dirty="0"/>
          </a:p>
        </p:txBody>
      </p:sp>
      <p:sp>
        <p:nvSpPr>
          <p:cNvPr id="10" name="takeaway"/>
          <p:cNvSpPr/>
          <p:nvPr/>
        </p:nvSpPr>
        <p:spPr>
          <a:xfrm>
            <a:off x="2159000" y="7874000"/>
            <a:ext cx="1193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checker alongside tests, review, and target-system knowledge.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889000" y="609600"/>
            <a:ext cx="14478000" cy="9144"/>
          </a:xfrm>
          <a:prstGeom prst="line">
            <a:avLst/>
          </a:prstGeom>
          <a:ln w="38100">
            <a:solidFill>
              <a:srgbClr val="007C9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slide-title"/>
          <p:cNvSpPr/>
          <p:nvPr/>
        </p:nvSpPr>
        <p:spPr>
          <a:xfrm>
            <a:off x="1016000" y="1041400"/>
            <a:ext cx="1193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360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Summary</a:t>
            </a:r>
            <a:endParaRPr lang="en-US" sz="3600" dirty="0"/>
          </a:p>
        </p:txBody>
      </p:sp>
      <p:sp>
        <p:nvSpPr>
          <p:cNvPr id="4" name="squared-panel"/>
          <p:cNvSpPr/>
          <p:nvPr/>
        </p:nvSpPr>
        <p:spPr>
          <a:xfrm>
            <a:off x="1714500" y="2095500"/>
            <a:ext cx="12827000" cy="1587500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squared-code"/>
          <p:cNvSpPr/>
          <p:nvPr/>
        </p:nvSpPr>
        <p:spPr>
          <a:xfrm>
            <a:off x="2222500" y="2413000"/>
            <a:ext cx="1181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SQUARED  DUP * ;   </a:t>
            </a:r>
            <a:r>
              <a:rPr lang="en-US" altLang="en-US" sz="2800" dirty="0">
                <a:solidFill>
                  <a:srgbClr val="007C9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 n -- n</a:t>
            </a:r>
            <a:r>
              <a:rPr lang="en-US" altLang="en-US" sz="2100" baseline="30000" dirty="0">
                <a:solidFill>
                  <a:srgbClr val="007C9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r>
              <a:rPr lang="en-US" altLang="en-US" sz="2800" dirty="0">
                <a:solidFill>
                  <a:srgbClr val="007C9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)</a:t>
            </a:r>
            <a:endParaRPr lang="en-US" sz="2800" dirty="0"/>
          </a:p>
        </p:txBody>
      </p:sp>
      <p:sp>
        <p:nvSpPr>
          <p:cNvPr id="6" name="comment-qualifier"/>
          <p:cNvSpPr/>
          <p:nvPr/>
        </p:nvSpPr>
        <p:spPr>
          <a:xfrm>
            <a:off x="3175000" y="3860800"/>
            <a:ext cx="990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200" dirty="0">
                <a:solidFill>
                  <a:srgbClr val="A84B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informal semantic comment: the input n is squared.</a:t>
            </a:r>
            <a:endParaRPr lang="en-US" sz="2200" dirty="0"/>
          </a:p>
        </p:txBody>
      </p:sp>
      <p:sp>
        <p:nvSpPr>
          <p:cNvPr id="7" name="rule-one"/>
          <p:cNvSpPr/>
          <p:nvPr/>
        </p:nvSpPr>
        <p:spPr>
          <a:xfrm>
            <a:off x="2222500" y="5397500"/>
            <a:ext cx="11811000" cy="9144"/>
          </a:xfrm>
          <a:prstGeom prst="line">
            <a:avLst/>
          </a:prstGeom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8" name="summary-one"/>
          <p:cNvSpPr/>
          <p:nvPr/>
        </p:nvSpPr>
        <p:spPr>
          <a:xfrm>
            <a:off x="2222500" y="4635500"/>
            <a:ext cx="1181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700" b="1" dirty="0">
                <a:solidFill>
                  <a:srgbClr val="007C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r>
              <a:rPr lang="en-US" altLang="en-US" sz="27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Familiar stack comments provide the surface notation.</a:t>
            </a:r>
            <a:endParaRPr lang="en-US" sz="2700" dirty="0"/>
          </a:p>
        </p:txBody>
      </p:sp>
      <p:sp>
        <p:nvSpPr>
          <p:cNvPr id="9" name="rule-two"/>
          <p:cNvSpPr/>
          <p:nvPr/>
        </p:nvSpPr>
        <p:spPr>
          <a:xfrm>
            <a:off x="2222500" y="6604000"/>
            <a:ext cx="11811000" cy="9144"/>
          </a:xfrm>
          <a:prstGeom prst="line">
            <a:avLst/>
          </a:prstGeom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0" name="summary-two"/>
          <p:cNvSpPr/>
          <p:nvPr/>
        </p:nvSpPr>
        <p:spPr>
          <a:xfrm>
            <a:off x="2222500" y="5842000"/>
            <a:ext cx="1181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700" b="1" dirty="0">
                <a:solidFill>
                  <a:srgbClr val="007C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r>
              <a:rPr lang="en-US" altLang="en-US" sz="27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Types and indices make stack effects checkable.</a:t>
            </a:r>
            <a:endParaRPr lang="en-US" sz="2700" dirty="0"/>
          </a:p>
        </p:txBody>
      </p:sp>
      <p:sp>
        <p:nvSpPr>
          <p:cNvPr id="11" name="summary-three"/>
          <p:cNvSpPr/>
          <p:nvPr/>
        </p:nvSpPr>
        <p:spPr>
          <a:xfrm>
            <a:off x="2222500" y="7048500"/>
            <a:ext cx="1181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700" b="1" dirty="0">
                <a:solidFill>
                  <a:srgbClr val="007C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r>
              <a:rPr lang="en-US" altLang="en-US" sz="27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Composition, branches, and loops expose stack mistakes early.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542</Words>
  <Application>Microsoft Office PowerPoint</Application>
  <PresentationFormat>Custom</PresentationFormat>
  <Paragraphs>113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Inter</vt:lpstr>
      <vt:lpstr>JetBrains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Making Stack Comments Checkable: A Static Type Checker for Forth</dc:title>
  <dc:subject>Making Stack Comments Checkable: A Static Type Checker for Forth</dc:subject>
  <dc:creator>Manus</dc:creator>
  <cp:lastModifiedBy>Jaanus Pöial</cp:lastModifiedBy>
  <cp:revision>1</cp:revision>
  <dcterms:created xsi:type="dcterms:W3CDTF">2026-08-15T08:29:38Z</dcterms:created>
  <dcterms:modified xsi:type="dcterms:W3CDTF">2026-08-15T08:31:31Z</dcterms:modified>
</cp:coreProperties>
</file>
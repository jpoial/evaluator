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489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checker remains fixed while the type hierarchy and word contracts are loaded as data. All command examples in this deck were executed in this repository with Gforth 0.7.9_20260819 amd64.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conventional type checking tends to assume a fixed language. Here, the algebraic machinery is fixed but the type relations, word specifications, literal classes, parser words, and control structures come from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the native Gforth implementation consumes the same profile formats as the Java reference. It scans source, follows interpretation/compilation state, composes effects, and writes inferred definitions or diagnostics.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command: ./run-evaluator-gforth.sh real 10 20 + DUP 0=. Observed exit status 0 and final stack “&lt; n[1] flag”. The displayed annotation is taken from the actual native evaluator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“real” profile declares flag &lt; n, while the strict Forth-2012-like profile declares only flag &lt; x. This profile difference is exercised on the next slide. The strict profile is intentionally a demo profile, not complete Forth 2012.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commands were run. Real profile: exit 0, final stack &lt; n. Forth2012 profile: exit 1, type clash at 1+. This is a direct demonstration that compatibility policy is configured in the type file rather than hard-coded in the analyzer.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with ./run-evaluator-gforth.sh real (exit 0). The generated log contains “PEEK2 ( a-addr -- X X )”. Indexed wildcards make DUP and SWAP precise enough to track values rather than merely stack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command: ./run-evaluator-gforth.sh real C@ !. Observed exit status 1. C@ produces a char where ! needs an a-addr at the top boundary; the evaluator reports the source span at !.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with ./run-evaluator-gforth.sh real (exit 0). The generated log contains “KEEPIF ( X[1] flag -- X[1] X[1] )”. IF consumes the flag; both branches duplicate the same incoming value; GLB preserves the shared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with ./run-evaluator-gforth.sh real (exit 0). The generated log reports NLOOP and ULOOP as ( n[1] -- n[1] ). The implementation uses piStar/repetition operations in the executable control-flow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 overview. The analyzer loads profile data, follows Forth outer-interpreter state, freshens indexed wildcards, composes effects, and reports source spans. It is intentionally a static symbolic evaluator, not a complete Forth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matrix executed while preparing the presentation. Exit statuses observed: 0, 0, 1, 1, 0. The final command uses ex1prog.txt and generated five inferred definition effects: PEEK2, MAYSWAP, NLOOP, ULOOP, and KEEPIF.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key message: stack-effect theory can be made practical without baking one Forth dialect into the analyzer. The profile is the policy; the evaluator supplies the mechanism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Shape 2"/>
          <p:cNvSpPr/>
          <p:nvPr/>
        </p:nvSpPr>
        <p:spPr>
          <a:xfrm>
            <a:off x="658368" y="530352"/>
            <a:ext cx="1572768" cy="274320"/>
          </a:xfrm>
          <a:prstGeom prst="round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 txBox="1"/>
          <p:nvPr/>
        </p:nvSpPr>
        <p:spPr>
          <a:xfrm>
            <a:off x="658368" y="5394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EUROFORTH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115568"/>
            <a:ext cx="6537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</a:t>
            </a:r>
            <a:endParaRPr lang="en-US" sz="3150" dirty="0"/>
          </a:p>
          <a:p>
            <a:pPr marL="0" indent="0" algn="l">
              <a:buNone/>
            </a:pPr>
            <a:r>
              <a:rPr lang="en-US" sz="31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Checking for Forth</a:t>
            </a:r>
            <a:endParaRPr lang="en-US" sz="315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30358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Stack-effect calculus → a native Gforth analyzer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5102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Jaanus Pöial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5440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Tallinn University of Technology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58064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executed with Gforth 0.7.9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35240" y="713232"/>
            <a:ext cx="3886200" cy="5440680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 txBox="1"/>
          <p:nvPr/>
        </p:nvSpPr>
        <p:spPr>
          <a:xfrm>
            <a:off x="7982712" y="10241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PROFILE-DRIVEN ANALYSIS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982712" y="14173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 inputs  --  outputs )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82712" y="1920240"/>
            <a:ext cx="3154680" cy="0"/>
          </a:xfrm>
          <a:prstGeom prst="line">
            <a:avLst/>
          </a:prstGeom>
          <a:noFill/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 txBox="1"/>
          <p:nvPr/>
        </p:nvSpPr>
        <p:spPr>
          <a:xfrm>
            <a:off x="7982712" y="2121408"/>
            <a:ext cx="822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82712" y="2450592"/>
            <a:ext cx="960120" cy="38404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 txBox="1"/>
          <p:nvPr/>
        </p:nvSpPr>
        <p:spPr>
          <a:xfrm>
            <a:off x="7982712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a-addr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61704" y="2441448"/>
            <a:ext cx="292608" cy="384048"/>
          </a:xfrm>
          <a:prstGeom prst="chevron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Shape 17"/>
          <p:cNvSpPr/>
          <p:nvPr/>
        </p:nvSpPr>
        <p:spPr>
          <a:xfrm>
            <a:off x="9482328" y="2450592"/>
            <a:ext cx="960120" cy="38404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 txBox="1"/>
          <p:nvPr/>
        </p:nvSpPr>
        <p:spPr>
          <a:xfrm>
            <a:off x="9482328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c-addr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70464" y="2441448"/>
            <a:ext cx="292608" cy="384048"/>
          </a:xfrm>
          <a:prstGeom prst="chevron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10972800" y="2450592"/>
            <a:ext cx="438912" cy="38404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 txBox="1"/>
          <p:nvPr/>
        </p:nvSpPr>
        <p:spPr>
          <a:xfrm>
            <a:off x="10972800" y="245973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addr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82712" y="3136392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EFFECT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982712" y="3456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DUP  ( X[1] -- X[1] X[1] 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82712" y="4096512"/>
            <a:ext cx="822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982712" y="4407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10 20 + DUP 0=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982712" y="4892040"/>
            <a:ext cx="3154680" cy="0"/>
          </a:xfrm>
          <a:prstGeom prst="line">
            <a:avLst/>
          </a:prstGeom>
          <a:noFill/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Shape 27"/>
          <p:cNvSpPr/>
          <p:nvPr/>
        </p:nvSpPr>
        <p:spPr>
          <a:xfrm>
            <a:off x="7982712" y="5193792"/>
            <a:ext cx="1033272" cy="274320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0" name="Text 28"/>
          <p:cNvSpPr txBox="1"/>
          <p:nvPr/>
        </p:nvSpPr>
        <p:spPr>
          <a:xfrm>
            <a:off x="7982712" y="5202936"/>
            <a:ext cx="1033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198864" y="5166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 n[1] flag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11301984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MOTIVATION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checking—without freezing Forth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language stays extensible; the checker’s policy moves into profiles.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40080" y="1627632"/>
            <a:ext cx="3383280" cy="306324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Shape 9"/>
          <p:cNvSpPr/>
          <p:nvPr/>
        </p:nvSpPr>
        <p:spPr>
          <a:xfrm>
            <a:off x="640080" y="1627632"/>
            <a:ext cx="50292" cy="3063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 txBox="1"/>
          <p:nvPr/>
        </p:nvSpPr>
        <p:spPr>
          <a:xfrm>
            <a:off x="886968" y="1792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TENSION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" y="2121408"/>
            <a:ext cx="292608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" y="2148840"/>
            <a:ext cx="347472" cy="347472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 txBox="1"/>
          <p:nvPr/>
        </p:nvSpPr>
        <p:spPr>
          <a:xfrm>
            <a:off x="896112" y="215798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99032" y="2139696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errors surface late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1399032" y="239572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Underflow and mismatched operands may be buried inside a definition.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96112" y="3063240"/>
            <a:ext cx="347472" cy="347472"/>
          </a:xfrm>
          <a:prstGeom prst="round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 txBox="1"/>
          <p:nvPr/>
        </p:nvSpPr>
        <p:spPr>
          <a:xfrm>
            <a:off x="896112" y="307238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↯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99032" y="3054096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Words are extensible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1399032" y="331012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fixed built-in vocabulary would fight the language it tries to check.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96112" y="3977640"/>
            <a:ext cx="347472" cy="347472"/>
          </a:xfrm>
          <a:prstGeom prst="roundRect">
            <a:avLst/>
          </a:prstGeom>
          <a:solidFill>
            <a:srgbClr val="68A9FF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 txBox="1"/>
          <p:nvPr/>
        </p:nvSpPr>
        <p:spPr>
          <a:xfrm>
            <a:off x="896112" y="398678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99032" y="3968496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Dialects disagree</a:t>
            </a:r>
            <a:endParaRPr lang="en-US" sz="1320" dirty="0"/>
          </a:p>
        </p:txBody>
      </p:sp>
      <p:sp>
        <p:nvSpPr>
          <p:cNvPr id="25" name="Text 23"/>
          <p:cNvSpPr txBox="1"/>
          <p:nvPr/>
        </p:nvSpPr>
        <p:spPr>
          <a:xfrm>
            <a:off x="1399032" y="422452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“flag is numeric” can be a profile choice.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297680" y="1627632"/>
            <a:ext cx="3383280" cy="306324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7" name="Shape 25"/>
          <p:cNvSpPr/>
          <p:nvPr/>
        </p:nvSpPr>
        <p:spPr>
          <a:xfrm>
            <a:off x="4297680" y="1627632"/>
            <a:ext cx="50292" cy="306324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Text 26"/>
          <p:cNvSpPr txBox="1"/>
          <p:nvPr/>
        </p:nvSpPr>
        <p:spPr>
          <a:xfrm>
            <a:off x="4544568" y="1792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44568" y="2121408"/>
            <a:ext cx="292608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53712" y="2148840"/>
            <a:ext cx="347472" cy="347472"/>
          </a:xfrm>
          <a:prstGeom prst="round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Text 29"/>
          <p:cNvSpPr txBox="1"/>
          <p:nvPr/>
        </p:nvSpPr>
        <p:spPr>
          <a:xfrm>
            <a:off x="4553712" y="215798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056632" y="2139696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are data</a:t>
            </a:r>
            <a:endParaRPr lang="en-US" sz="1320" dirty="0"/>
          </a:p>
        </p:txBody>
      </p:sp>
      <p:sp>
        <p:nvSpPr>
          <p:cNvPr id="33" name="Text 31"/>
          <p:cNvSpPr txBox="1"/>
          <p:nvPr/>
        </p:nvSpPr>
        <p:spPr>
          <a:xfrm>
            <a:off x="5056632" y="239572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subtype lattice captures each target system’s compatibility rules.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4553712" y="3063240"/>
            <a:ext cx="347472" cy="347472"/>
          </a:xfrm>
          <a:prstGeom prst="round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5" name="Text 33"/>
          <p:cNvSpPr txBox="1"/>
          <p:nvPr/>
        </p:nvSpPr>
        <p:spPr>
          <a:xfrm>
            <a:off x="4553712" y="307238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()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056632" y="3054096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Effects are data</a:t>
            </a:r>
            <a:endParaRPr lang="en-US" sz="1320" dirty="0"/>
          </a:p>
        </p:txBody>
      </p:sp>
      <p:sp>
        <p:nvSpPr>
          <p:cNvPr id="37" name="Text 35"/>
          <p:cNvSpPr txBox="1"/>
          <p:nvPr/>
        </p:nvSpPr>
        <p:spPr>
          <a:xfrm>
            <a:off x="5056632" y="331012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Primitive words declare required and produced stack suffixes.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553712" y="3977640"/>
            <a:ext cx="347472" cy="347472"/>
          </a:xfrm>
          <a:prstGeom prst="round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9" name="Text 37"/>
          <p:cNvSpPr txBox="1"/>
          <p:nvPr/>
        </p:nvSpPr>
        <p:spPr>
          <a:xfrm>
            <a:off x="4553712" y="398678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{}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056632" y="3968496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 is data</a:t>
            </a:r>
            <a:endParaRPr lang="en-US" sz="1320" dirty="0"/>
          </a:p>
        </p:txBody>
      </p:sp>
      <p:sp>
        <p:nvSpPr>
          <p:cNvPr id="41" name="Text 39"/>
          <p:cNvSpPr txBox="1"/>
          <p:nvPr/>
        </p:nvSpPr>
        <p:spPr>
          <a:xfrm>
            <a:off x="5056632" y="422452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 describe parser words, definitions, branches, and loops.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7955280" y="1627632"/>
            <a:ext cx="3566160" cy="306324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3" name="Shape 41"/>
          <p:cNvSpPr/>
          <p:nvPr/>
        </p:nvSpPr>
        <p:spPr>
          <a:xfrm>
            <a:off x="7955280" y="1627632"/>
            <a:ext cx="50292" cy="3063240"/>
          </a:xfrm>
          <a:prstGeom prst="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4" name="Text 42"/>
          <p:cNvSpPr txBox="1"/>
          <p:nvPr/>
        </p:nvSpPr>
        <p:spPr>
          <a:xfrm>
            <a:off x="8202168" y="179222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PAYOFF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202168" y="2121408"/>
            <a:ext cx="310896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211312" y="2148840"/>
            <a:ext cx="347472" cy="347472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7" name="Text 45"/>
          <p:cNvSpPr txBox="1"/>
          <p:nvPr/>
        </p:nvSpPr>
        <p:spPr>
          <a:xfrm>
            <a:off x="8211312" y="215798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714232" y="2139696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 contracts</a:t>
            </a:r>
            <a:endParaRPr lang="en-US" sz="1320" dirty="0"/>
          </a:p>
        </p:txBody>
      </p:sp>
      <p:sp>
        <p:nvSpPr>
          <p:cNvPr id="49" name="Text 47"/>
          <p:cNvSpPr txBox="1"/>
          <p:nvPr/>
        </p:nvSpPr>
        <p:spPr>
          <a:xfrm>
            <a:off x="8714232" y="2395728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 receive symbolic stack effects before execution.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8211312" y="3063240"/>
            <a:ext cx="347472" cy="347472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1" name="Text 49"/>
          <p:cNvSpPr txBox="1"/>
          <p:nvPr/>
        </p:nvSpPr>
        <p:spPr>
          <a:xfrm>
            <a:off x="8211312" y="307238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8714232" y="3054096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clashes</a:t>
            </a:r>
            <a:endParaRPr lang="en-US" sz="1320" dirty="0"/>
          </a:p>
        </p:txBody>
      </p:sp>
      <p:sp>
        <p:nvSpPr>
          <p:cNvPr id="53" name="Text 51"/>
          <p:cNvSpPr txBox="1"/>
          <p:nvPr/>
        </p:nvSpPr>
        <p:spPr>
          <a:xfrm>
            <a:off x="8714232" y="3310128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 point back to the incompatible source token.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8211312" y="3977640"/>
            <a:ext cx="347472" cy="347472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5" name="Text 53"/>
          <p:cNvSpPr txBox="1"/>
          <p:nvPr/>
        </p:nvSpPr>
        <p:spPr>
          <a:xfrm>
            <a:off x="8211312" y="398678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↺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8714232" y="3968496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Retarget cheaply</a:t>
            </a:r>
            <a:endParaRPr lang="en-US" sz="1320" dirty="0"/>
          </a:p>
        </p:txBody>
      </p:sp>
      <p:sp>
        <p:nvSpPr>
          <p:cNvPr id="57" name="Text 55"/>
          <p:cNvSpPr txBox="1"/>
          <p:nvPr/>
        </p:nvSpPr>
        <p:spPr>
          <a:xfrm>
            <a:off x="8714232" y="4224528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profile files—not the analysis engine.</a:t>
            </a:r>
            <a:endParaRPr lang="en-US" sz="1080" dirty="0"/>
          </a:p>
        </p:txBody>
      </p:sp>
      <p:sp>
        <p:nvSpPr>
          <p:cNvPr id="58" name="Shape 56"/>
          <p:cNvSpPr/>
          <p:nvPr/>
        </p:nvSpPr>
        <p:spPr>
          <a:xfrm>
            <a:off x="1143000" y="5138928"/>
            <a:ext cx="9829800" cy="822960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9" name="Text 57"/>
          <p:cNvSpPr txBox="1"/>
          <p:nvPr/>
        </p:nvSpPr>
        <p:spPr>
          <a:xfrm>
            <a:off x="1435608" y="533095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THESIS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2331720" y="5230368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algebra + external profiles can check useful Forth statically.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ARCHITECTURE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analyzer. Three pieces of input.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domain-specific enters through text files or source.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58368" y="1691640"/>
            <a:ext cx="2743200" cy="122529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Shape 9"/>
          <p:cNvSpPr/>
          <p:nvPr/>
        </p:nvSpPr>
        <p:spPr>
          <a:xfrm>
            <a:off x="658368" y="1691640"/>
            <a:ext cx="50292" cy="1225296"/>
          </a:xfrm>
          <a:prstGeom prst="rect">
            <a:avLst/>
          </a:prstGeom>
          <a:solidFill>
            <a:srgbClr val="68A9FF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 txBox="1"/>
          <p:nvPr/>
        </p:nvSpPr>
        <p:spPr>
          <a:xfrm>
            <a:off x="905256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8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PROFILE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185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forth2012types.txt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subtypes · aliases · scanners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2971800"/>
            <a:ext cx="2743200" cy="122529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Shape 13"/>
          <p:cNvSpPr/>
          <p:nvPr/>
        </p:nvSpPr>
        <p:spPr>
          <a:xfrm>
            <a:off x="658368" y="2971800"/>
            <a:ext cx="50292" cy="1225296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 txBox="1"/>
          <p:nvPr/>
        </p:nvSpPr>
        <p:spPr>
          <a:xfrm>
            <a:off x="905256" y="3136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PROFILE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" y="34655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forth2012specs.txt</a:t>
            </a:r>
            <a:endParaRPr lang="en-US" sz="1090" dirty="0"/>
          </a:p>
          <a:p>
            <a:pPr marL="0" indent="0" algn="l">
              <a:buNone/>
            </a:pPr>
            <a:r>
              <a:rPr lang="en-US" sz="109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effects · parser metadata · syntax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658368" y="4251960"/>
            <a:ext cx="2743200" cy="122529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Shape 17"/>
          <p:cNvSpPr/>
          <p:nvPr/>
        </p:nvSpPr>
        <p:spPr>
          <a:xfrm>
            <a:off x="658368" y="4251960"/>
            <a:ext cx="50292" cy="122529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 txBox="1"/>
          <p:nvPr/>
        </p:nvSpPr>
        <p:spPr>
          <a:xfrm>
            <a:off x="905256" y="44165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" y="474573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forth2012prog.txt</a:t>
            </a:r>
            <a:endParaRPr lang="en-US" sz="1110" dirty="0"/>
          </a:p>
          <a:p>
            <a:pPr marL="0" indent="0" algn="l">
              <a:buNone/>
            </a:pPr>
            <a:r>
              <a:rPr lang="en-US" sz="111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words · definitions · control flow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3493008" y="2221992"/>
            <a:ext cx="594360" cy="1316736"/>
          </a:xfrm>
          <a:prstGeom prst="line">
            <a:avLst/>
          </a:prstGeom>
          <a:noFill/>
          <a:ln w="228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Shape 21"/>
          <p:cNvSpPr/>
          <p:nvPr/>
        </p:nvSpPr>
        <p:spPr>
          <a:xfrm>
            <a:off x="3493008" y="3511296"/>
            <a:ext cx="594360" cy="0"/>
          </a:xfrm>
          <a:prstGeom prst="line">
            <a:avLst/>
          </a:prstGeom>
          <a:noFill/>
          <a:ln w="228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Shape 22"/>
          <p:cNvSpPr/>
          <p:nvPr/>
        </p:nvSpPr>
        <p:spPr>
          <a:xfrm>
            <a:off x="3493008" y="3529584"/>
            <a:ext cx="594360" cy="1261872"/>
          </a:xfrm>
          <a:prstGeom prst="line">
            <a:avLst/>
          </a:prstGeom>
          <a:noFill/>
          <a:ln w="228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Shape 23"/>
          <p:cNvSpPr/>
          <p:nvPr/>
        </p:nvSpPr>
        <p:spPr>
          <a:xfrm>
            <a:off x="3968496" y="3273552"/>
            <a:ext cx="438912" cy="493776"/>
          </a:xfrm>
          <a:prstGeom prst="chevron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6" name="Shape 24"/>
          <p:cNvSpPr/>
          <p:nvPr/>
        </p:nvSpPr>
        <p:spPr>
          <a:xfrm>
            <a:off x="4453128" y="1737360"/>
            <a:ext cx="3246120" cy="36118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7" name="Shape 25"/>
          <p:cNvSpPr/>
          <p:nvPr/>
        </p:nvSpPr>
        <p:spPr>
          <a:xfrm>
            <a:off x="4736592" y="1993392"/>
            <a:ext cx="1353312" cy="274320"/>
          </a:xfrm>
          <a:prstGeom prst="round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Text 26"/>
          <p:cNvSpPr txBox="1"/>
          <p:nvPr/>
        </p:nvSpPr>
        <p:spPr>
          <a:xfrm>
            <a:off x="4736592" y="2002536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GFORTH</a:t>
            </a:r>
            <a:endParaRPr lang="en-US" sz="870" dirty="0"/>
          </a:p>
        </p:txBody>
      </p:sp>
      <p:sp>
        <p:nvSpPr>
          <p:cNvPr id="29" name="Text 27"/>
          <p:cNvSpPr txBox="1"/>
          <p:nvPr/>
        </p:nvSpPr>
        <p:spPr>
          <a:xfrm>
            <a:off x="4736592" y="244144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gforth-evaluator.fs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736592" y="2953512"/>
            <a:ext cx="2670048" cy="0"/>
          </a:xfrm>
          <a:prstGeom prst="line">
            <a:avLst/>
          </a:prstGeom>
          <a:noFill/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Shape 29"/>
          <p:cNvSpPr/>
          <p:nvPr/>
        </p:nvSpPr>
        <p:spPr>
          <a:xfrm>
            <a:off x="4736592" y="3218688"/>
            <a:ext cx="420624" cy="310896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2" name="Text 30"/>
          <p:cNvSpPr txBox="1"/>
          <p:nvPr/>
        </p:nvSpPr>
        <p:spPr>
          <a:xfrm>
            <a:off x="4736592" y="32461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5321808" y="3182112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+ outer interpreter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4736592" y="3776472"/>
            <a:ext cx="420624" cy="310896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5" name="Text 33"/>
          <p:cNvSpPr txBox="1"/>
          <p:nvPr/>
        </p:nvSpPr>
        <p:spPr>
          <a:xfrm>
            <a:off x="4736592" y="380390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5321808" y="373989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freshen + compose effects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4736592" y="4334256"/>
            <a:ext cx="420624" cy="310896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8" name="Text 36"/>
          <p:cNvSpPr txBox="1"/>
          <p:nvPr/>
        </p:nvSpPr>
        <p:spPr>
          <a:xfrm>
            <a:off x="4736592" y="43616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321808" y="4297680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branches + stabilize loops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7918704" y="3273552"/>
            <a:ext cx="438912" cy="493776"/>
          </a:xfrm>
          <a:prstGeom prst="chevron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1" name="Shape 39"/>
          <p:cNvSpPr/>
          <p:nvPr/>
        </p:nvSpPr>
        <p:spPr>
          <a:xfrm>
            <a:off x="8421624" y="1938528"/>
            <a:ext cx="3081528" cy="13258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2" name="Shape 40"/>
          <p:cNvSpPr/>
          <p:nvPr/>
        </p:nvSpPr>
        <p:spPr>
          <a:xfrm>
            <a:off x="8421624" y="1938528"/>
            <a:ext cx="50292" cy="1325880"/>
          </a:xfrm>
          <a:prstGeom prst="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3" name="Text 41"/>
          <p:cNvSpPr txBox="1"/>
          <p:nvPr/>
        </p:nvSpPr>
        <p:spPr>
          <a:xfrm>
            <a:off x="8668512" y="2103120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668512" y="2432304"/>
            <a:ext cx="26243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inferred effect</a:t>
            </a:r>
            <a:endParaRPr lang="en-US" sz="1450" dirty="0"/>
          </a:p>
          <a:p>
            <a:pPr marL="0" indent="0" algn="l">
              <a:buNone/>
            </a:pPr>
            <a:r>
              <a:rPr lang="en-US" sz="145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 n[1] flag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8421624" y="3776472"/>
            <a:ext cx="3081528" cy="13258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6" name="Shape 44"/>
          <p:cNvSpPr/>
          <p:nvPr/>
        </p:nvSpPr>
        <p:spPr>
          <a:xfrm>
            <a:off x="8421624" y="3776472"/>
            <a:ext cx="50292" cy="1325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7" name="Text 45"/>
          <p:cNvSpPr txBox="1"/>
          <p:nvPr/>
        </p:nvSpPr>
        <p:spPr>
          <a:xfrm>
            <a:off x="8668512" y="3941064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668512" y="4270248"/>
            <a:ext cx="26243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F6B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source-aware diagnostic</a:t>
            </a:r>
            <a:endParaRPr lang="en-US" sz="1320" dirty="0"/>
          </a:p>
          <a:p>
            <a:pPr marL="0" indent="0" algn="l">
              <a:buNone/>
            </a:pPr>
            <a:r>
              <a:rPr lang="en-US" sz="1320" b="1" dirty="0">
                <a:solidFill>
                  <a:srgbClr val="FF6B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caret at the clash</a:t>
            </a:r>
            <a:endParaRPr lang="en-US" sz="1320" dirty="0"/>
          </a:p>
        </p:txBody>
      </p:sp>
      <p:sp>
        <p:nvSpPr>
          <p:cNvPr id="49" name="Shape 47"/>
          <p:cNvSpPr/>
          <p:nvPr/>
        </p:nvSpPr>
        <p:spPr>
          <a:xfrm>
            <a:off x="1938528" y="5596128"/>
            <a:ext cx="8275320" cy="502920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0" name="Text 48"/>
          <p:cNvSpPr txBox="1"/>
          <p:nvPr/>
        </p:nvSpPr>
        <p:spPr>
          <a:xfrm>
            <a:off x="2148840" y="5687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= policy</a:t>
            </a:r>
            <a:r>
              <a:rPr lang="en-US" sz="124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</a:t>
            </a:r>
            <a:r>
              <a:rPr lang="en-US" sz="124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Analyzer = mechanism</a:t>
            </a:r>
            <a:r>
              <a:rPr lang="en-US" sz="124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</a:t>
            </a:r>
            <a:r>
              <a:rPr lang="en-US" sz="1240" b="1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/ diagnostic = evidence</a:t>
            </a:r>
            <a:endParaRPr lang="en-US" sz="12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CORE CALCULUS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6556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9628632" y="655624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b="1" kern="0" spc="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· EXIT 0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effects are executable contracts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checks the touching stack boundary and keeps the most exact compatible type.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58368" y="1581912"/>
            <a:ext cx="4590288" cy="45262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 txBox="1"/>
          <p:nvPr/>
        </p:nvSpPr>
        <p:spPr>
          <a:xfrm>
            <a:off x="941832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kern="0" spc="12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DOMAIN</a:t>
            </a:r>
            <a:endParaRPr lang="en-US" sz="97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1854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 = ( T* × T* ) ∪ { ⊥ }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" y="27614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effect  ( a -- b )  maps a required suffix to a resulting suffix.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41832" y="3429000"/>
            <a:ext cx="3977640" cy="0"/>
          </a:xfrm>
          <a:prstGeom prst="line">
            <a:avLst/>
          </a:prstGeom>
          <a:noFill/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Shape 15"/>
          <p:cNvSpPr/>
          <p:nvPr/>
        </p:nvSpPr>
        <p:spPr>
          <a:xfrm>
            <a:off x="941832" y="3685032"/>
            <a:ext cx="1755648" cy="969264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Shape 16"/>
          <p:cNvSpPr/>
          <p:nvPr/>
        </p:nvSpPr>
        <p:spPr>
          <a:xfrm>
            <a:off x="941832" y="3685032"/>
            <a:ext cx="50292" cy="969264"/>
          </a:xfrm>
          <a:prstGeom prst="rect">
            <a:avLst/>
          </a:prstGeom>
          <a:solidFill>
            <a:srgbClr val="68A9FF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 txBox="1"/>
          <p:nvPr/>
        </p:nvSpPr>
        <p:spPr>
          <a:xfrm>
            <a:off x="1188720" y="384962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8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17880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 -- )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2889504" y="3685032"/>
            <a:ext cx="2029968" cy="969264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2889504" y="3685032"/>
            <a:ext cx="50292" cy="9692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 txBox="1"/>
          <p:nvPr/>
        </p:nvSpPr>
        <p:spPr>
          <a:xfrm>
            <a:off x="3136392" y="384962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CLASH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136392" y="41788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6B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⊥  absorbs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4928616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is associative; the empty effect is the identity.</a:t>
            </a:r>
            <a:endParaRPr lang="en-US" sz="111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542239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can therefore be accumulated word by word.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5504688" y="1581912"/>
            <a:ext cx="6016752" cy="4526280"/>
          </a:xfrm>
          <a:prstGeom prst="roundRect">
            <a:avLst/>
          </a:prstGeom>
          <a:solidFill>
            <a:srgbClr val="05111D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Shape 26"/>
          <p:cNvSpPr/>
          <p:nvPr/>
        </p:nvSpPr>
        <p:spPr>
          <a:xfrm>
            <a:off x="5504688" y="1581912"/>
            <a:ext cx="6016752" cy="384048"/>
          </a:xfrm>
          <a:prstGeom prst="rect">
            <a:avLst/>
          </a:prstGeom>
          <a:solidFill>
            <a:srgbClr val="0D253B"/>
          </a:solidFill>
          <a:ln w="12700">
            <a:solidFill>
              <a:srgbClr val="0D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 txBox="1"/>
          <p:nvPr/>
        </p:nvSpPr>
        <p:spPr>
          <a:xfrm>
            <a:off x="5669280" y="168249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5833872" y="168249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5998464" y="168249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6254496" y="1673352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4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output · real profile</a:t>
            </a:r>
            <a:endParaRPr lang="en-US" sz="840" dirty="0"/>
          </a:p>
        </p:txBody>
      </p:sp>
      <p:sp>
        <p:nvSpPr>
          <p:cNvPr id="33" name="Text 31"/>
          <p:cNvSpPr txBox="1"/>
          <p:nvPr/>
        </p:nvSpPr>
        <p:spPr>
          <a:xfrm>
            <a:off x="5715000" y="2048256"/>
            <a:ext cx="5596128" cy="45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./run-evaluator-gforth.sh real 10 20 + DUP 0=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715000" y="2543175"/>
            <a:ext cx="5596128" cy="45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&gt; </a:t>
            </a:r>
            <a:endParaRPr lang="en-US" sz="1060" dirty="0"/>
          </a:p>
        </p:txBody>
      </p:sp>
      <p:sp>
        <p:nvSpPr>
          <p:cNvPr id="35" name="Text 33"/>
          <p:cNvSpPr txBox="1"/>
          <p:nvPr/>
        </p:nvSpPr>
        <p:spPr>
          <a:xfrm>
            <a:off x="5715000" y="3038094"/>
            <a:ext cx="5596128" cy="45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10    ( -- n )</a:t>
            </a:r>
            <a:endParaRPr lang="en-US" sz="1060" dirty="0"/>
          </a:p>
        </p:txBody>
      </p:sp>
      <p:sp>
        <p:nvSpPr>
          <p:cNvPr id="36" name="Text 34"/>
          <p:cNvSpPr txBox="1"/>
          <p:nvPr/>
        </p:nvSpPr>
        <p:spPr>
          <a:xfrm>
            <a:off x="5715000" y="3533013"/>
            <a:ext cx="5596128" cy="45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20    ( -- n )</a:t>
            </a:r>
            <a:endParaRPr lang="en-US" sz="1060" dirty="0"/>
          </a:p>
        </p:txBody>
      </p:sp>
      <p:sp>
        <p:nvSpPr>
          <p:cNvPr id="37" name="Text 35"/>
          <p:cNvSpPr txBox="1"/>
          <p:nvPr/>
        </p:nvSpPr>
        <p:spPr>
          <a:xfrm>
            <a:off x="5715000" y="4027932"/>
            <a:ext cx="5596128" cy="45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8A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+     ( n n -- n[1] )</a:t>
            </a:r>
            <a:endParaRPr lang="en-US" sz="1060" dirty="0"/>
          </a:p>
        </p:txBody>
      </p:sp>
      <p:sp>
        <p:nvSpPr>
          <p:cNvPr id="38" name="Text 36"/>
          <p:cNvSpPr txBox="1"/>
          <p:nvPr/>
        </p:nvSpPr>
        <p:spPr>
          <a:xfrm>
            <a:off x="5715000" y="4522851"/>
            <a:ext cx="5596128" cy="45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FB45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DUP   ( n[1] -- n[1] n[1] )</a:t>
            </a:r>
            <a:endParaRPr lang="en-US" sz="1060" dirty="0"/>
          </a:p>
        </p:txBody>
      </p:sp>
      <p:sp>
        <p:nvSpPr>
          <p:cNvPr id="39" name="Text 37"/>
          <p:cNvSpPr txBox="1"/>
          <p:nvPr/>
        </p:nvSpPr>
        <p:spPr>
          <a:xfrm>
            <a:off x="5715000" y="5017770"/>
            <a:ext cx="5596128" cy="45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0=    ( n[1] -- flag )</a:t>
            </a:r>
            <a:endParaRPr lang="en-US" sz="1060" dirty="0"/>
          </a:p>
        </p:txBody>
      </p:sp>
      <p:sp>
        <p:nvSpPr>
          <p:cNvPr id="40" name="Text 38"/>
          <p:cNvSpPr txBox="1"/>
          <p:nvPr/>
        </p:nvSpPr>
        <p:spPr>
          <a:xfrm>
            <a:off x="5715000" y="5512689"/>
            <a:ext cx="5596128" cy="45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 n[1] flag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CONFIGURATION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profile is the type policy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Subtype declarations decide which symbolic values may meet during composition.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58368" y="1554480"/>
            <a:ext cx="5440680" cy="45262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Shape 9"/>
          <p:cNvSpPr/>
          <p:nvPr/>
        </p:nvSpPr>
        <p:spPr>
          <a:xfrm>
            <a:off x="950976" y="1819656"/>
            <a:ext cx="758952" cy="274320"/>
          </a:xfrm>
          <a:prstGeom prst="round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 txBox="1"/>
          <p:nvPr/>
        </p:nvSpPr>
        <p:spPr>
          <a:xfrm>
            <a:off x="950976" y="1828800"/>
            <a:ext cx="758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Convenient Forth-like profile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182880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ex1types.txt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50976" y="2304288"/>
            <a:ext cx="4846320" cy="0"/>
          </a:xfrm>
          <a:prstGeom prst="line">
            <a:avLst/>
          </a:prstGeom>
          <a:noFill/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Shape 14"/>
          <p:cNvSpPr/>
          <p:nvPr/>
        </p:nvSpPr>
        <p:spPr>
          <a:xfrm>
            <a:off x="987552" y="2798064"/>
            <a:ext cx="91440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 txBox="1"/>
          <p:nvPr/>
        </p:nvSpPr>
        <p:spPr>
          <a:xfrm>
            <a:off x="987552" y="28072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flag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48256" y="2770632"/>
            <a:ext cx="320040" cy="420624"/>
          </a:xfrm>
          <a:prstGeom prst="chevron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Shape 17"/>
          <p:cNvSpPr/>
          <p:nvPr/>
        </p:nvSpPr>
        <p:spPr>
          <a:xfrm>
            <a:off x="2496312" y="2798064"/>
            <a:ext cx="749808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 txBox="1"/>
          <p:nvPr/>
        </p:nvSpPr>
        <p:spPr>
          <a:xfrm>
            <a:off x="2496312" y="280720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01568" y="2770632"/>
            <a:ext cx="320040" cy="420624"/>
          </a:xfrm>
          <a:prstGeom prst="chevron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3849624" y="2798064"/>
            <a:ext cx="749808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 txBox="1"/>
          <p:nvPr/>
        </p:nvSpPr>
        <p:spPr>
          <a:xfrm>
            <a:off x="3849624" y="280720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3310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is accepted where n is required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987552" y="3968496"/>
            <a:ext cx="100584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6" name="Text 24"/>
          <p:cNvSpPr txBox="1"/>
          <p:nvPr/>
        </p:nvSpPr>
        <p:spPr>
          <a:xfrm>
            <a:off x="987552" y="39776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a-addr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12264" y="3941064"/>
            <a:ext cx="283464" cy="420624"/>
          </a:xfrm>
          <a:prstGeom prst="chevron">
            <a:avLst/>
          </a:prstGeom>
          <a:solidFill>
            <a:srgbClr val="68A9FF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Shape 26"/>
          <p:cNvSpPr/>
          <p:nvPr/>
        </p:nvSpPr>
        <p:spPr>
          <a:xfrm>
            <a:off x="2514600" y="3968496"/>
            <a:ext cx="100584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 txBox="1"/>
          <p:nvPr/>
        </p:nvSpPr>
        <p:spPr>
          <a:xfrm>
            <a:off x="2514600" y="39776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c-addr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39312" y="3941064"/>
            <a:ext cx="283464" cy="420624"/>
          </a:xfrm>
          <a:prstGeom prst="chevron">
            <a:avLst/>
          </a:prstGeom>
          <a:solidFill>
            <a:srgbClr val="68A9FF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Shape 29"/>
          <p:cNvSpPr/>
          <p:nvPr/>
        </p:nvSpPr>
        <p:spPr>
          <a:xfrm>
            <a:off x="4050792" y="3968496"/>
            <a:ext cx="82296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2" name="Text 30"/>
          <p:cNvSpPr txBox="1"/>
          <p:nvPr/>
        </p:nvSpPr>
        <p:spPr>
          <a:xfrm>
            <a:off x="4050792" y="39776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addr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92624" y="3941064"/>
            <a:ext cx="283464" cy="420624"/>
          </a:xfrm>
          <a:prstGeom prst="chevron">
            <a:avLst/>
          </a:prstGeom>
          <a:solidFill>
            <a:srgbClr val="68A9FF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4" name="Shape 32"/>
          <p:cNvSpPr/>
          <p:nvPr/>
        </p:nvSpPr>
        <p:spPr>
          <a:xfrm>
            <a:off x="5394960" y="3968496"/>
            <a:ext cx="41148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5" name="Text 33"/>
          <p:cNvSpPr txBox="1"/>
          <p:nvPr/>
        </p:nvSpPr>
        <p:spPr>
          <a:xfrm>
            <a:off x="5394960" y="397764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" y="45079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68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 precision flows through memory words</a:t>
            </a:r>
            <a:endParaRPr lang="en-US" sz="1120" dirty="0"/>
          </a:p>
        </p:txBody>
      </p:sp>
      <p:sp>
        <p:nvSpPr>
          <p:cNvPr id="37" name="Text 35"/>
          <p:cNvSpPr txBox="1"/>
          <p:nvPr/>
        </p:nvSpPr>
        <p:spPr>
          <a:xfrm>
            <a:off x="987552" y="49560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rel flag &lt; n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rel a-addr &lt; c-addr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rel c-addr &lt; addr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6327648" y="1554480"/>
            <a:ext cx="5193792" cy="45262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9" name="Shape 37"/>
          <p:cNvSpPr/>
          <p:nvPr/>
        </p:nvSpPr>
        <p:spPr>
          <a:xfrm>
            <a:off x="6620256" y="1819656"/>
            <a:ext cx="1188720" cy="274320"/>
          </a:xfrm>
          <a:prstGeom prst="round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0" name="Text 38"/>
          <p:cNvSpPr txBox="1"/>
          <p:nvPr/>
        </p:nvSpPr>
        <p:spPr>
          <a:xfrm>
            <a:off x="6620256" y="18288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FORTH2012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973568" y="1801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Stricter standard-like profile</a:t>
            </a:r>
            <a:endParaRPr lang="en-US" sz="1320" dirty="0"/>
          </a:p>
        </p:txBody>
      </p:sp>
      <p:sp>
        <p:nvSpPr>
          <p:cNvPr id="42" name="Text 40"/>
          <p:cNvSpPr txBox="1"/>
          <p:nvPr/>
        </p:nvSpPr>
        <p:spPr>
          <a:xfrm>
            <a:off x="10012680" y="213969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forth2012types.txt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6620256" y="2304288"/>
            <a:ext cx="4572000" cy="0"/>
          </a:xfrm>
          <a:prstGeom prst="line">
            <a:avLst/>
          </a:prstGeom>
          <a:noFill/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4" name="Shape 42"/>
          <p:cNvSpPr/>
          <p:nvPr/>
        </p:nvSpPr>
        <p:spPr>
          <a:xfrm>
            <a:off x="6647688" y="2798064"/>
            <a:ext cx="91440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5" name="Text 43"/>
          <p:cNvSpPr txBox="1"/>
          <p:nvPr/>
        </p:nvSpPr>
        <p:spPr>
          <a:xfrm>
            <a:off x="6647688" y="28072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flag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708392" y="2770632"/>
            <a:ext cx="320040" cy="420624"/>
          </a:xfrm>
          <a:prstGeom prst="chevron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7" name="Shape 45"/>
          <p:cNvSpPr/>
          <p:nvPr/>
        </p:nvSpPr>
        <p:spPr>
          <a:xfrm>
            <a:off x="8156448" y="2798064"/>
            <a:ext cx="749808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8" name="Text 46"/>
          <p:cNvSpPr txBox="1"/>
          <p:nvPr/>
        </p:nvSpPr>
        <p:spPr>
          <a:xfrm>
            <a:off x="8156448" y="280720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647688" y="3310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is not a numeric subtype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6647688" y="3968496"/>
            <a:ext cx="841248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1" name="Text 49"/>
          <p:cNvSpPr txBox="1"/>
          <p:nvPr/>
        </p:nvSpPr>
        <p:spPr>
          <a:xfrm>
            <a:off x="6647688" y="39776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char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626096" y="3941064"/>
            <a:ext cx="283464" cy="420624"/>
          </a:xfrm>
          <a:prstGeom prst="chevron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3" name="Shape 51"/>
          <p:cNvSpPr/>
          <p:nvPr/>
        </p:nvSpPr>
        <p:spPr>
          <a:xfrm>
            <a:off x="8028432" y="3968496"/>
            <a:ext cx="667512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4" name="Text 52"/>
          <p:cNvSpPr txBox="1"/>
          <p:nvPr/>
        </p:nvSpPr>
        <p:spPr>
          <a:xfrm>
            <a:off x="8028432" y="3977640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+n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823960" y="3941064"/>
            <a:ext cx="283464" cy="420624"/>
          </a:xfrm>
          <a:prstGeom prst="chevron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6" name="Shape 54"/>
          <p:cNvSpPr/>
          <p:nvPr/>
        </p:nvSpPr>
        <p:spPr>
          <a:xfrm>
            <a:off x="9235440" y="3968496"/>
            <a:ext cx="59436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7" name="Text 55"/>
          <p:cNvSpPr txBox="1"/>
          <p:nvPr/>
        </p:nvSpPr>
        <p:spPr>
          <a:xfrm>
            <a:off x="9235440" y="397764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957816" y="3941064"/>
            <a:ext cx="283464" cy="420624"/>
          </a:xfrm>
          <a:prstGeom prst="chevron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9" name="Shape 57"/>
          <p:cNvSpPr/>
          <p:nvPr/>
        </p:nvSpPr>
        <p:spPr>
          <a:xfrm>
            <a:off x="10369296" y="3968496"/>
            <a:ext cx="59436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0" name="Text 58"/>
          <p:cNvSpPr txBox="1"/>
          <p:nvPr/>
        </p:nvSpPr>
        <p:spPr>
          <a:xfrm>
            <a:off x="10369296" y="397764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647688" y="45079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values are numeric; flags remain distinct</a:t>
            </a:r>
            <a:endParaRPr lang="en-US" sz="1120" dirty="0"/>
          </a:p>
        </p:txBody>
      </p:sp>
      <p:sp>
        <p:nvSpPr>
          <p:cNvPr id="62" name="Text 60"/>
          <p:cNvSpPr txBox="1"/>
          <p:nvPr/>
        </p:nvSpPr>
        <p:spPr>
          <a:xfrm>
            <a:off x="6647688" y="49560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rel char &lt; +n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rel +n &lt; n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rel flag &lt; x</a:t>
            </a:r>
            <a:endParaRPr lang="en-US" sz="10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CONFIGURATION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6556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9628632" y="655624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b="1" kern="0" spc="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· 0 / 1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source. Different—correct—verdicts.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analyzer is unchanged; only the loaded type relation differs.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58368" y="1527048"/>
            <a:ext cx="5440680" cy="423367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Shape 11"/>
          <p:cNvSpPr/>
          <p:nvPr/>
        </p:nvSpPr>
        <p:spPr>
          <a:xfrm>
            <a:off x="950976" y="1792224"/>
            <a:ext cx="1216152" cy="274320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 txBox="1"/>
          <p:nvPr/>
        </p:nvSpPr>
        <p:spPr>
          <a:xfrm>
            <a:off x="950976" y="1801368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PROFILE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846320" y="1792224"/>
            <a:ext cx="850392" cy="274320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 txBox="1"/>
          <p:nvPr/>
        </p:nvSpPr>
        <p:spPr>
          <a:xfrm>
            <a:off x="4846320" y="1801368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0</a:t>
            </a:r>
            <a:endParaRPr lang="en-US" sz="870" dirty="0"/>
          </a:p>
        </p:txBody>
      </p:sp>
      <p:sp>
        <p:nvSpPr>
          <p:cNvPr id="17" name="Text 15"/>
          <p:cNvSpPr txBox="1"/>
          <p:nvPr/>
        </p:nvSpPr>
        <p:spPr>
          <a:xfrm>
            <a:off x="950976" y="232257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./run-evaluator-gforth.sh real 1 0= 1+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0976" y="2779776"/>
            <a:ext cx="4846320" cy="2487168"/>
          </a:xfrm>
          <a:prstGeom prst="roundRect">
            <a:avLst/>
          </a:prstGeom>
          <a:solidFill>
            <a:srgbClr val="05111D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Shape 17"/>
          <p:cNvSpPr/>
          <p:nvPr/>
        </p:nvSpPr>
        <p:spPr>
          <a:xfrm>
            <a:off x="950976" y="2779776"/>
            <a:ext cx="4846320" cy="384048"/>
          </a:xfrm>
          <a:prstGeom prst="rect">
            <a:avLst/>
          </a:prstGeom>
          <a:solidFill>
            <a:srgbClr val="0D253B"/>
          </a:solidFill>
          <a:ln w="12700">
            <a:solidFill>
              <a:srgbClr val="0D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 txBox="1"/>
          <p:nvPr/>
        </p:nvSpPr>
        <p:spPr>
          <a:xfrm>
            <a:off x="1115568" y="288036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288036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288036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1700784" y="28712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4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" y="3246120"/>
            <a:ext cx="442569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    ( -- n )</a:t>
            </a:r>
            <a:endParaRPr lang="en-US" sz="106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726180"/>
            <a:ext cx="442569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0=    ( n -- flag )</a:t>
            </a:r>
            <a:endParaRPr lang="en-US" sz="106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" y="4206240"/>
            <a:ext cx="442569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FB45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1+    ( flag -- n )</a:t>
            </a:r>
            <a:endParaRPr lang="en-US" sz="106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" y="4686300"/>
            <a:ext cx="442569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 n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6327648" y="1527048"/>
            <a:ext cx="5193792" cy="423367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Shape 27"/>
          <p:cNvSpPr/>
          <p:nvPr/>
        </p:nvSpPr>
        <p:spPr>
          <a:xfrm>
            <a:off x="6620256" y="1792224"/>
            <a:ext cx="1581912" cy="274320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0" name="Text 28"/>
          <p:cNvSpPr txBox="1"/>
          <p:nvPr/>
        </p:nvSpPr>
        <p:spPr>
          <a:xfrm>
            <a:off x="6620256" y="1801368"/>
            <a:ext cx="1581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FORTH2012 PROFILE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10287000" y="1792224"/>
            <a:ext cx="850392" cy="274320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2" name="Text 30"/>
          <p:cNvSpPr txBox="1"/>
          <p:nvPr/>
        </p:nvSpPr>
        <p:spPr>
          <a:xfrm>
            <a:off x="10287000" y="1801368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1</a:t>
            </a:r>
            <a:endParaRPr lang="en-US" sz="870" dirty="0"/>
          </a:p>
        </p:txBody>
      </p:sp>
      <p:sp>
        <p:nvSpPr>
          <p:cNvPr id="33" name="Text 31"/>
          <p:cNvSpPr txBox="1"/>
          <p:nvPr/>
        </p:nvSpPr>
        <p:spPr>
          <a:xfrm>
            <a:off x="6620256" y="232257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./run-evaluator-gforth.sh forth2012 1 0= 1+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20256" y="2779776"/>
            <a:ext cx="4599432" cy="2487168"/>
          </a:xfrm>
          <a:prstGeom prst="roundRect">
            <a:avLst/>
          </a:prstGeom>
          <a:solidFill>
            <a:srgbClr val="05111D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5" name="Shape 33"/>
          <p:cNvSpPr/>
          <p:nvPr/>
        </p:nvSpPr>
        <p:spPr>
          <a:xfrm>
            <a:off x="6620256" y="2779776"/>
            <a:ext cx="4599432" cy="384048"/>
          </a:xfrm>
          <a:prstGeom prst="rect">
            <a:avLst/>
          </a:prstGeom>
          <a:solidFill>
            <a:srgbClr val="0D253B"/>
          </a:solidFill>
          <a:ln w="12700">
            <a:solidFill>
              <a:srgbClr val="0D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6" name="Text 34"/>
          <p:cNvSpPr txBox="1"/>
          <p:nvPr/>
        </p:nvSpPr>
        <p:spPr>
          <a:xfrm>
            <a:off x="6784848" y="288036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288036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7114032" y="288036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7370064" y="2871216"/>
            <a:ext cx="3685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4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</a:t>
            </a:r>
            <a:endParaRPr lang="en-US" sz="840" dirty="0"/>
          </a:p>
        </p:txBody>
      </p:sp>
      <p:sp>
        <p:nvSpPr>
          <p:cNvPr id="40" name="Text 38"/>
          <p:cNvSpPr txBox="1"/>
          <p:nvPr/>
        </p:nvSpPr>
        <p:spPr>
          <a:xfrm>
            <a:off x="6830568" y="3246120"/>
            <a:ext cx="41788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F6B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Error: Type clash in top-level program</a:t>
            </a:r>
            <a:endParaRPr lang="en-US" sz="1040" dirty="0"/>
          </a:p>
        </p:txBody>
      </p:sp>
      <p:sp>
        <p:nvSpPr>
          <p:cNvPr id="41" name="Text 39"/>
          <p:cNvSpPr txBox="1"/>
          <p:nvPr/>
        </p:nvSpPr>
        <p:spPr>
          <a:xfrm>
            <a:off x="6830568" y="3726180"/>
            <a:ext cx="41788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&lt;command line&gt;:1:6</a:t>
            </a:r>
            <a:endParaRPr lang="en-US" sz="1060" dirty="0"/>
          </a:p>
        </p:txBody>
      </p:sp>
      <p:sp>
        <p:nvSpPr>
          <p:cNvPr id="42" name="Text 40"/>
          <p:cNvSpPr txBox="1"/>
          <p:nvPr/>
        </p:nvSpPr>
        <p:spPr>
          <a:xfrm>
            <a:off x="6830568" y="4206240"/>
            <a:ext cx="41788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0= 1+</a:t>
            </a:r>
            <a:endParaRPr lang="en-US" sz="1060" dirty="0"/>
          </a:p>
        </p:txBody>
      </p:sp>
      <p:sp>
        <p:nvSpPr>
          <p:cNvPr id="43" name="Text 41"/>
          <p:cNvSpPr txBox="1"/>
          <p:nvPr/>
        </p:nvSpPr>
        <p:spPr>
          <a:xfrm>
            <a:off x="6830568" y="4686300"/>
            <a:ext cx="41788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6B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^^</a:t>
            </a:r>
            <a:endParaRPr lang="en-US" sz="1220" dirty="0"/>
          </a:p>
        </p:txBody>
      </p:sp>
      <p:sp>
        <p:nvSpPr>
          <p:cNvPr id="44" name="Shape 42"/>
          <p:cNvSpPr/>
          <p:nvPr/>
        </p:nvSpPr>
        <p:spPr>
          <a:xfrm>
            <a:off x="1399032" y="5961888"/>
            <a:ext cx="937260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5" name="Text 43"/>
          <p:cNvSpPr txBox="1"/>
          <p:nvPr/>
        </p:nvSpPr>
        <p:spPr>
          <a:xfrm>
            <a:off x="1627632" y="6025896"/>
            <a:ext cx="8915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 </a:t>
            </a:r>
            <a:r>
              <a:rPr lang="en-US" sz="107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real: flag &lt; n</a:t>
            </a:r>
            <a:r>
              <a:rPr lang="en-US" sz="10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|     </a:t>
            </a:r>
            <a:r>
              <a:rPr lang="en-US" sz="1070" b="1" dirty="0">
                <a:solidFill>
                  <a:srgbClr val="FF6B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strict: flag and n are incomparable</a:t>
            </a:r>
            <a:endParaRPr lang="en-US" sz="10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PRECISION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6556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9628632" y="655624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b="1" kern="0" spc="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· EXIT 0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Indexed wildcards preserve value identity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type says what an item is; an index says which symbolic item it is.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58368" y="1554480"/>
            <a:ext cx="5138928" cy="45262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 txBox="1"/>
          <p:nvPr/>
        </p:nvSpPr>
        <p:spPr>
          <a:xfrm>
            <a:off x="950976" y="18288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kern="0" spc="11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SHUFFLES AS DATA FLOW</a:t>
            </a:r>
            <a:endParaRPr lang="en-US" sz="970" dirty="0"/>
          </a:p>
        </p:txBody>
      </p:sp>
      <p:sp>
        <p:nvSpPr>
          <p:cNvPr id="14" name="Text 12"/>
          <p:cNvSpPr txBox="1"/>
          <p:nvPr/>
        </p:nvSpPr>
        <p:spPr>
          <a:xfrm>
            <a:off x="950976" y="23042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DUP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847088" y="2258568"/>
            <a:ext cx="941832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 txBox="1"/>
          <p:nvPr/>
        </p:nvSpPr>
        <p:spPr>
          <a:xfrm>
            <a:off x="1847088" y="2267712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X[1]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35808" y="2240280"/>
            <a:ext cx="384048" cy="438912"/>
          </a:xfrm>
          <a:prstGeom prst="chevron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Shape 16"/>
          <p:cNvSpPr/>
          <p:nvPr/>
        </p:nvSpPr>
        <p:spPr>
          <a:xfrm>
            <a:off x="3657600" y="2258568"/>
            <a:ext cx="86868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 txBox="1"/>
          <p:nvPr/>
        </p:nvSpPr>
        <p:spPr>
          <a:xfrm>
            <a:off x="3657600" y="22677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X[1]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26864" y="2258568"/>
            <a:ext cx="86868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 txBox="1"/>
          <p:nvPr/>
        </p:nvSpPr>
        <p:spPr>
          <a:xfrm>
            <a:off x="4626864" y="22677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X[1]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47088" y="273405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68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index → same abstract value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950976" y="3154680"/>
            <a:ext cx="4526280" cy="0"/>
          </a:xfrm>
          <a:prstGeom prst="line">
            <a:avLst/>
          </a:prstGeom>
          <a:noFill/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 txBox="1"/>
          <p:nvPr/>
        </p:nvSpPr>
        <p:spPr>
          <a:xfrm>
            <a:off x="950976" y="35478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SWAP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847088" y="3502152"/>
            <a:ext cx="77724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6" name="Text 24"/>
          <p:cNvSpPr txBox="1"/>
          <p:nvPr/>
        </p:nvSpPr>
        <p:spPr>
          <a:xfrm>
            <a:off x="1847088" y="3511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X[2]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24912" y="3502152"/>
            <a:ext cx="777240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Text 26"/>
          <p:cNvSpPr txBox="1"/>
          <p:nvPr/>
        </p:nvSpPr>
        <p:spPr>
          <a:xfrm>
            <a:off x="2724912" y="3511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X[1]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39312" y="3483864"/>
            <a:ext cx="329184" cy="438912"/>
          </a:xfrm>
          <a:prstGeom prst="chevron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0" name="Shape 28"/>
          <p:cNvSpPr/>
          <p:nvPr/>
        </p:nvSpPr>
        <p:spPr>
          <a:xfrm>
            <a:off x="4114800" y="3502152"/>
            <a:ext cx="749808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Text 29"/>
          <p:cNvSpPr txBox="1"/>
          <p:nvPr/>
        </p:nvSpPr>
        <p:spPr>
          <a:xfrm>
            <a:off x="4114800" y="351129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X[1]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3502152"/>
            <a:ext cx="749808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3" name="Text 31"/>
          <p:cNvSpPr txBox="1"/>
          <p:nvPr/>
        </p:nvSpPr>
        <p:spPr>
          <a:xfrm>
            <a:off x="4937760" y="351129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X[2]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847088" y="397764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 change; identities do not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950976" y="4590288"/>
            <a:ext cx="4535424" cy="1051560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6" name="Text 34"/>
          <p:cNvSpPr txBox="1"/>
          <p:nvPr/>
        </p:nvSpPr>
        <p:spPr>
          <a:xfrm>
            <a:off x="1188720" y="4782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indices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507492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 X X -- X X )</a:t>
            </a:r>
            <a:endParaRPr lang="en-US" sz="1320" dirty="0"/>
          </a:p>
        </p:txBody>
      </p:sp>
      <p:sp>
        <p:nvSpPr>
          <p:cNvPr id="38" name="Text 36"/>
          <p:cNvSpPr txBox="1"/>
          <p:nvPr/>
        </p:nvSpPr>
        <p:spPr>
          <a:xfrm>
            <a:off x="3063240" y="50292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forgets the permutation.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053328" y="1554480"/>
            <a:ext cx="5468112" cy="4526280"/>
          </a:xfrm>
          <a:prstGeom prst="roundRect">
            <a:avLst/>
          </a:prstGeom>
          <a:solidFill>
            <a:srgbClr val="05111D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0" name="Shape 38"/>
          <p:cNvSpPr/>
          <p:nvPr/>
        </p:nvSpPr>
        <p:spPr>
          <a:xfrm>
            <a:off x="6053328" y="1554480"/>
            <a:ext cx="5468112" cy="384048"/>
          </a:xfrm>
          <a:prstGeom prst="rect">
            <a:avLst/>
          </a:prstGeom>
          <a:solidFill>
            <a:srgbClr val="0D253B"/>
          </a:solidFill>
          <a:ln w="12700">
            <a:solidFill>
              <a:srgbClr val="0D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1" name="Text 39"/>
          <p:cNvSpPr txBox="1"/>
          <p:nvPr/>
        </p:nvSpPr>
        <p:spPr>
          <a:xfrm>
            <a:off x="6217920" y="16550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6382512" y="16550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6547104" y="16550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6803136" y="1645920"/>
            <a:ext cx="4553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4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ex1prog.txt → ex1prog.txt.log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6263640" y="2020824"/>
            <a:ext cx="5047488" cy="6071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: PEEK2</a:t>
            </a:r>
            <a:endParaRPr lang="en-US" sz="1130" dirty="0"/>
          </a:p>
        </p:txBody>
      </p:sp>
      <p:sp>
        <p:nvSpPr>
          <p:cNvPr id="46" name="Text 44"/>
          <p:cNvSpPr txBox="1"/>
          <p:nvPr/>
        </p:nvSpPr>
        <p:spPr>
          <a:xfrm>
            <a:off x="6263640" y="2680716"/>
            <a:ext cx="5047488" cy="6071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DUP @ SWAP @</a:t>
            </a:r>
            <a:endParaRPr lang="en-US" sz="1130" dirty="0"/>
          </a:p>
        </p:txBody>
      </p:sp>
      <p:sp>
        <p:nvSpPr>
          <p:cNvPr id="47" name="Text 45"/>
          <p:cNvSpPr txBox="1"/>
          <p:nvPr/>
        </p:nvSpPr>
        <p:spPr>
          <a:xfrm>
            <a:off x="6263640" y="3340608"/>
            <a:ext cx="5047488" cy="6071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;</a:t>
            </a:r>
            <a:endParaRPr lang="en-US" sz="1130" dirty="0"/>
          </a:p>
        </p:txBody>
      </p:sp>
      <p:sp>
        <p:nvSpPr>
          <p:cNvPr id="48" name="Text 46"/>
          <p:cNvSpPr txBox="1"/>
          <p:nvPr/>
        </p:nvSpPr>
        <p:spPr>
          <a:xfrm>
            <a:off x="6263640" y="4000500"/>
            <a:ext cx="5047488" cy="6071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endParaRPr lang="en-US" sz="1060" dirty="0"/>
          </a:p>
        </p:txBody>
      </p:sp>
      <p:sp>
        <p:nvSpPr>
          <p:cNvPr id="49" name="Text 47"/>
          <p:cNvSpPr txBox="1"/>
          <p:nvPr/>
        </p:nvSpPr>
        <p:spPr>
          <a:xfrm>
            <a:off x="6263640" y="4660392"/>
            <a:ext cx="5047488" cy="6071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./run-evaluator-gforth.sh real</a:t>
            </a:r>
            <a:endParaRPr lang="en-US" sz="980" dirty="0"/>
          </a:p>
        </p:txBody>
      </p:sp>
      <p:sp>
        <p:nvSpPr>
          <p:cNvPr id="50" name="Text 48"/>
          <p:cNvSpPr txBox="1"/>
          <p:nvPr/>
        </p:nvSpPr>
        <p:spPr>
          <a:xfrm>
            <a:off x="6263640" y="5320284"/>
            <a:ext cx="5047488" cy="6071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PEEK2 ( a-addr -- X X )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DIAGNOSTICS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6556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9628632" y="655624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b="1" kern="0" spc="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· EXIT 1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bad boundary becomes a source-level error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returns the clash element when touching suffixes cannot unify.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58368" y="1572768"/>
            <a:ext cx="5047488" cy="4443984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 txBox="1"/>
          <p:nvPr/>
        </p:nvSpPr>
        <p:spPr>
          <a:xfrm>
            <a:off x="950976" y="1847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kern="0" spc="12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CLASH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950976" y="2249424"/>
            <a:ext cx="1847088" cy="11430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Shape 13"/>
          <p:cNvSpPr/>
          <p:nvPr/>
        </p:nvSpPr>
        <p:spPr>
          <a:xfrm>
            <a:off x="950976" y="2249424"/>
            <a:ext cx="50292" cy="1143000"/>
          </a:xfrm>
          <a:prstGeom prst="rect">
            <a:avLst/>
          </a:prstGeom>
          <a:solidFill>
            <a:srgbClr val="68A9FF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 txBox="1"/>
          <p:nvPr/>
        </p:nvSpPr>
        <p:spPr>
          <a:xfrm>
            <a:off x="1197864" y="241401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8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C@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97864" y="2743200"/>
            <a:ext cx="13898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 c-addr -- char )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2962656" y="2551176"/>
            <a:ext cx="429768" cy="457200"/>
          </a:xfrm>
          <a:prstGeom prst="chevron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Shape 17"/>
          <p:cNvSpPr/>
          <p:nvPr/>
        </p:nvSpPr>
        <p:spPr>
          <a:xfrm>
            <a:off x="3538728" y="2249424"/>
            <a:ext cx="1847088" cy="11430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Shape 18"/>
          <p:cNvSpPr/>
          <p:nvPr/>
        </p:nvSpPr>
        <p:spPr>
          <a:xfrm>
            <a:off x="3538728" y="2249424"/>
            <a:ext cx="50292" cy="11430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 txBox="1"/>
          <p:nvPr/>
        </p:nvSpPr>
        <p:spPr>
          <a:xfrm>
            <a:off x="3785616" y="241401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785616" y="2743200"/>
            <a:ext cx="13898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 X a-addr -- )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950976" y="3712464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touching types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49424" y="3657600"/>
            <a:ext cx="932688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 txBox="1"/>
          <p:nvPr/>
        </p:nvSpPr>
        <p:spPr>
          <a:xfrm>
            <a:off x="2249424" y="3666744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char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355848" y="36667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≁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922776" y="3657600"/>
            <a:ext cx="1042416" cy="38404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Text 26"/>
          <p:cNvSpPr txBox="1"/>
          <p:nvPr/>
        </p:nvSpPr>
        <p:spPr>
          <a:xfrm>
            <a:off x="3922776" y="366674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a-addr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50976" y="4315968"/>
            <a:ext cx="4443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subtype path connects char and a-addr.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50976" y="4882896"/>
            <a:ext cx="4443984" cy="685800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Text 29"/>
          <p:cNvSpPr txBox="1"/>
          <p:nvPr/>
        </p:nvSpPr>
        <p:spPr>
          <a:xfrm>
            <a:off x="1133856" y="5065776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 c-addr -- char ) · ( X a-addr -- ) = ⊥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61888" y="1572768"/>
            <a:ext cx="5559552" cy="4443984"/>
          </a:xfrm>
          <a:prstGeom prst="roundRect">
            <a:avLst/>
          </a:prstGeom>
          <a:solidFill>
            <a:srgbClr val="05111D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3" name="Shape 31"/>
          <p:cNvSpPr/>
          <p:nvPr/>
        </p:nvSpPr>
        <p:spPr>
          <a:xfrm>
            <a:off x="5961888" y="1572768"/>
            <a:ext cx="5559552" cy="384048"/>
          </a:xfrm>
          <a:prstGeom prst="rect">
            <a:avLst/>
          </a:prstGeom>
          <a:solidFill>
            <a:srgbClr val="0D253B"/>
          </a:solidFill>
          <a:ln w="12700">
            <a:solidFill>
              <a:srgbClr val="0D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4" name="Text 32"/>
          <p:cNvSpPr txBox="1"/>
          <p:nvPr/>
        </p:nvSpPr>
        <p:spPr>
          <a:xfrm>
            <a:off x="6126480" y="16733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6291072" y="16733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6455664" y="16733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6711696" y="1664208"/>
            <a:ext cx="4645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4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diagnostic · real profile</a:t>
            </a:r>
            <a:endParaRPr lang="en-US" sz="84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2039112"/>
            <a:ext cx="5138928" cy="50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./run-evaluator-gforth.sh real C@ !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2592977"/>
            <a:ext cx="5138928" cy="50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Types file: ex1types.txt</a:t>
            </a:r>
            <a:endParaRPr lang="en-US" sz="97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3146842"/>
            <a:ext cx="5138928" cy="50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Specs file: ex1specs.txt</a:t>
            </a:r>
            <a:endParaRPr lang="en-US" sz="97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3700707"/>
            <a:ext cx="5138928" cy="50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FF6B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Error: Type clash in top-level program</a:t>
            </a:r>
            <a:endParaRPr lang="en-US" sz="1070" dirty="0"/>
          </a:p>
        </p:txBody>
      </p:sp>
      <p:sp>
        <p:nvSpPr>
          <p:cNvPr id="42" name="Text 40"/>
          <p:cNvSpPr txBox="1"/>
          <p:nvPr/>
        </p:nvSpPr>
        <p:spPr>
          <a:xfrm>
            <a:off x="6172200" y="4254573"/>
            <a:ext cx="5138928" cy="50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--&gt; &lt;command line&gt;:1:4</a:t>
            </a:r>
            <a:endParaRPr lang="en-US" sz="980" dirty="0"/>
          </a:p>
        </p:txBody>
      </p:sp>
      <p:sp>
        <p:nvSpPr>
          <p:cNvPr id="43" name="Text 41"/>
          <p:cNvSpPr txBox="1"/>
          <p:nvPr/>
        </p:nvSpPr>
        <p:spPr>
          <a:xfrm>
            <a:off x="6172200" y="4808438"/>
            <a:ext cx="5138928" cy="50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C@ !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172200" y="5362303"/>
            <a:ext cx="5138928" cy="50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F6B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^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CONTROL FLOW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6556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9628632" y="655624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b="1" kern="0" spc="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· EXIT 0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 meet at one conservative contract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effects are merged with greatest lower bound (⊓).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58368" y="1572768"/>
            <a:ext cx="4681728" cy="4443984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 txBox="1"/>
          <p:nvPr/>
        </p:nvSpPr>
        <p:spPr>
          <a:xfrm>
            <a:off x="941832" y="183794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kern="0" spc="12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RULE</a:t>
            </a:r>
            <a:endParaRPr lang="en-US" sz="97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21854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effect(IF) = then ⊓ else</a:t>
            </a:r>
            <a:endParaRPr lang="en-US" sz="1750" dirty="0"/>
          </a:p>
        </p:txBody>
      </p:sp>
      <p:sp>
        <p:nvSpPr>
          <p:cNvPr id="15" name="Text 13"/>
          <p:cNvSpPr txBox="1"/>
          <p:nvPr/>
        </p:nvSpPr>
        <p:spPr>
          <a:xfrm>
            <a:off x="941832" y="26334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narrow; outputs widen; shared identities alone survive.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1051560" y="3383280"/>
            <a:ext cx="786384" cy="438912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 txBox="1"/>
          <p:nvPr/>
        </p:nvSpPr>
        <p:spPr>
          <a:xfrm>
            <a:off x="1051560" y="343814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47088" y="3227832"/>
            <a:ext cx="694944" cy="374904"/>
          </a:xfrm>
          <a:prstGeom prst="line">
            <a:avLst/>
          </a:prstGeom>
          <a:noFill/>
          <a:ln w="2032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Shape 17"/>
          <p:cNvSpPr/>
          <p:nvPr/>
        </p:nvSpPr>
        <p:spPr>
          <a:xfrm>
            <a:off x="1847088" y="3602736"/>
            <a:ext cx="694944" cy="539496"/>
          </a:xfrm>
          <a:prstGeom prst="line">
            <a:avLst/>
          </a:prstGeom>
          <a:noFill/>
          <a:ln w="2032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Shape 18"/>
          <p:cNvSpPr/>
          <p:nvPr/>
        </p:nvSpPr>
        <p:spPr>
          <a:xfrm>
            <a:off x="2615184" y="2971800"/>
            <a:ext cx="1078992" cy="512064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 txBox="1"/>
          <p:nvPr/>
        </p:nvSpPr>
        <p:spPr>
          <a:xfrm>
            <a:off x="2615184" y="30815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DUP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15184" y="3886200"/>
            <a:ext cx="1078992" cy="512064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 txBox="1"/>
          <p:nvPr/>
        </p:nvSpPr>
        <p:spPr>
          <a:xfrm>
            <a:off x="2615184" y="39959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DUP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94176" y="3227832"/>
            <a:ext cx="566928" cy="374904"/>
          </a:xfrm>
          <a:prstGeom prst="line">
            <a:avLst/>
          </a:prstGeom>
          <a:noFill/>
          <a:ln w="2032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Shape 23"/>
          <p:cNvSpPr/>
          <p:nvPr/>
        </p:nvSpPr>
        <p:spPr>
          <a:xfrm>
            <a:off x="3694176" y="3602736"/>
            <a:ext cx="566928" cy="539496"/>
          </a:xfrm>
          <a:prstGeom prst="line">
            <a:avLst/>
          </a:prstGeom>
          <a:noFill/>
          <a:ln w="2032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6" name="Shape 24"/>
          <p:cNvSpPr/>
          <p:nvPr/>
        </p:nvSpPr>
        <p:spPr>
          <a:xfrm>
            <a:off x="4325112" y="3383280"/>
            <a:ext cx="713232" cy="438912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7" name="Text 25"/>
          <p:cNvSpPr txBox="1"/>
          <p:nvPr/>
        </p:nvSpPr>
        <p:spPr>
          <a:xfrm>
            <a:off x="4325112" y="3419856"/>
            <a:ext cx="713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⊓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466344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paths duplicate the same incoming item.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353312" y="5321808"/>
            <a:ext cx="1417320" cy="274320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0D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0" name="Text 28"/>
          <p:cNvSpPr txBox="1"/>
          <p:nvPr/>
        </p:nvSpPr>
        <p:spPr>
          <a:xfrm>
            <a:off x="1353312" y="533095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5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consumes flag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2962656" y="5321808"/>
            <a:ext cx="1682496" cy="274320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0D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2" name="Text 30"/>
          <p:cNvSpPr txBox="1"/>
          <p:nvPr/>
        </p:nvSpPr>
        <p:spPr>
          <a:xfrm>
            <a:off x="2962656" y="5330952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5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preserves X[1]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5596128" y="1572768"/>
            <a:ext cx="5925312" cy="4443984"/>
          </a:xfrm>
          <a:prstGeom prst="roundRect">
            <a:avLst/>
          </a:prstGeom>
          <a:solidFill>
            <a:srgbClr val="05111D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4" name="Shape 32"/>
          <p:cNvSpPr/>
          <p:nvPr/>
        </p:nvSpPr>
        <p:spPr>
          <a:xfrm>
            <a:off x="5596128" y="1572768"/>
            <a:ext cx="5925312" cy="384048"/>
          </a:xfrm>
          <a:prstGeom prst="rect">
            <a:avLst/>
          </a:prstGeom>
          <a:solidFill>
            <a:srgbClr val="0D253B"/>
          </a:solidFill>
          <a:ln w="12700">
            <a:solidFill>
              <a:srgbClr val="0D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5" name="Text 33"/>
          <p:cNvSpPr txBox="1"/>
          <p:nvPr/>
        </p:nvSpPr>
        <p:spPr>
          <a:xfrm>
            <a:off x="5760720" y="16733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5925312" y="16733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6089904" y="16733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6345936" y="1664208"/>
            <a:ext cx="5010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4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ex1prog.txt → ex1prog.txt.log</a:t>
            </a:r>
            <a:endParaRPr lang="en-US" sz="840" dirty="0"/>
          </a:p>
        </p:txBody>
      </p:sp>
      <p:sp>
        <p:nvSpPr>
          <p:cNvPr id="39" name="Text 37"/>
          <p:cNvSpPr txBox="1"/>
          <p:nvPr/>
        </p:nvSpPr>
        <p:spPr>
          <a:xfrm>
            <a:off x="5806440" y="2039112"/>
            <a:ext cx="5504688" cy="594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: KEEPIF</a:t>
            </a:r>
            <a:endParaRPr lang="en-US" sz="1130" dirty="0"/>
          </a:p>
        </p:txBody>
      </p:sp>
      <p:sp>
        <p:nvSpPr>
          <p:cNvPr id="40" name="Text 38"/>
          <p:cNvSpPr txBox="1"/>
          <p:nvPr/>
        </p:nvSpPr>
        <p:spPr>
          <a:xfrm>
            <a:off x="5806440" y="2685288"/>
            <a:ext cx="5504688" cy="594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IF DUP ELSE DUP FI</a:t>
            </a:r>
            <a:endParaRPr lang="en-US" sz="113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3331464"/>
            <a:ext cx="5504688" cy="594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;</a:t>
            </a:r>
            <a:endParaRPr lang="en-US" sz="1130" dirty="0"/>
          </a:p>
        </p:txBody>
      </p:sp>
      <p:sp>
        <p:nvSpPr>
          <p:cNvPr id="42" name="Text 40"/>
          <p:cNvSpPr txBox="1"/>
          <p:nvPr/>
        </p:nvSpPr>
        <p:spPr>
          <a:xfrm>
            <a:off x="5806440" y="3977640"/>
            <a:ext cx="5504688" cy="594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endParaRPr lang="en-US" sz="1060" dirty="0"/>
          </a:p>
        </p:txBody>
      </p:sp>
      <p:sp>
        <p:nvSpPr>
          <p:cNvPr id="43" name="Text 41"/>
          <p:cNvSpPr txBox="1"/>
          <p:nvPr/>
        </p:nvSpPr>
        <p:spPr>
          <a:xfrm>
            <a:off x="5806440" y="4623816"/>
            <a:ext cx="5504688" cy="594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./run-evaluator-gforth.sh real</a:t>
            </a:r>
            <a:endParaRPr lang="en-US" sz="980" dirty="0"/>
          </a:p>
        </p:txBody>
      </p:sp>
      <p:sp>
        <p:nvSpPr>
          <p:cNvPr id="44" name="Text 42"/>
          <p:cNvSpPr txBox="1"/>
          <p:nvPr/>
        </p:nvSpPr>
        <p:spPr>
          <a:xfrm>
            <a:off x="5806440" y="5269992"/>
            <a:ext cx="5504688" cy="594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KEEPIF ( X[1] flag -- X[1] X[1] )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CONTROL FLOW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6556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9628632" y="655624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b="1" kern="0" spc="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· EXIT 0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Loops must expose a stable interface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one-versus-two-iteration test summarizes repeatable effects.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58368" y="1572768"/>
            <a:ext cx="4864608" cy="446227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 txBox="1"/>
          <p:nvPr/>
        </p:nvSpPr>
        <p:spPr>
          <a:xfrm>
            <a:off x="950976" y="183794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kern="0" spc="12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 APPROXIMATION</a:t>
            </a:r>
            <a:endParaRPr lang="en-US" sz="970" dirty="0"/>
          </a:p>
        </p:txBody>
      </p:sp>
      <p:sp>
        <p:nvSpPr>
          <p:cNvPr id="14" name="Text 12"/>
          <p:cNvSpPr txBox="1"/>
          <p:nvPr/>
        </p:nvSpPr>
        <p:spPr>
          <a:xfrm>
            <a:off x="950976" y="220370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Π* s = s ⊓ ( s · s )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2724912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one iteration with two; keep the strongest common invariant.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950976" y="3374136"/>
            <a:ext cx="4206240" cy="0"/>
          </a:xfrm>
          <a:prstGeom prst="line">
            <a:avLst/>
          </a:prstGeom>
          <a:noFill/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 txBox="1"/>
          <p:nvPr/>
        </p:nvSpPr>
        <p:spPr>
          <a:xfrm>
            <a:off x="950976" y="3721608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08760" y="3621024"/>
            <a:ext cx="1078992" cy="47548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 txBox="1"/>
          <p:nvPr/>
        </p:nvSpPr>
        <p:spPr>
          <a:xfrm>
            <a:off x="1508760" y="373075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" y="4498848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45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508760" y="4398264"/>
            <a:ext cx="1078992" cy="47548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 txBox="1"/>
          <p:nvPr/>
        </p:nvSpPr>
        <p:spPr>
          <a:xfrm>
            <a:off x="1508760" y="450799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79776" y="4425696"/>
            <a:ext cx="356616" cy="420624"/>
          </a:xfrm>
          <a:prstGeom prst="chevron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Shape 22"/>
          <p:cNvSpPr/>
          <p:nvPr/>
        </p:nvSpPr>
        <p:spPr>
          <a:xfrm>
            <a:off x="3300984" y="4398264"/>
            <a:ext cx="1078992" cy="475488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 txBox="1"/>
          <p:nvPr/>
        </p:nvSpPr>
        <p:spPr>
          <a:xfrm>
            <a:off x="3300984" y="450799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53712" y="38221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⊓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47365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0976" y="5276088"/>
            <a:ext cx="4224528" cy="411480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 txBox="1"/>
          <p:nvPr/>
        </p:nvSpPr>
        <p:spPr>
          <a:xfrm>
            <a:off x="1143000" y="537667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must be idempotent at the stack interface.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779008" y="1572768"/>
            <a:ext cx="5742432" cy="4462272"/>
          </a:xfrm>
          <a:prstGeom prst="roundRect">
            <a:avLst/>
          </a:prstGeom>
          <a:solidFill>
            <a:srgbClr val="05111D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Shape 29"/>
          <p:cNvSpPr/>
          <p:nvPr/>
        </p:nvSpPr>
        <p:spPr>
          <a:xfrm>
            <a:off x="5779008" y="1572768"/>
            <a:ext cx="5742432" cy="384048"/>
          </a:xfrm>
          <a:prstGeom prst="rect">
            <a:avLst/>
          </a:prstGeom>
          <a:solidFill>
            <a:srgbClr val="0D253B"/>
          </a:solidFill>
          <a:ln w="12700">
            <a:solidFill>
              <a:srgbClr val="0D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2" name="Text 30"/>
          <p:cNvSpPr txBox="1"/>
          <p:nvPr/>
        </p:nvSpPr>
        <p:spPr>
          <a:xfrm>
            <a:off x="5943600" y="16733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6108192" y="16733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6272784" y="16733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6528816" y="1664208"/>
            <a:ext cx="4828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4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ex1prog.txt → ex1prog.txt.log</a:t>
            </a:r>
            <a:endParaRPr lang="en-US" sz="840" dirty="0"/>
          </a:p>
        </p:txBody>
      </p:sp>
      <p:sp>
        <p:nvSpPr>
          <p:cNvPr id="36" name="Text 34"/>
          <p:cNvSpPr txBox="1"/>
          <p:nvPr/>
        </p:nvSpPr>
        <p:spPr>
          <a:xfrm>
            <a:off x="5989320" y="2039112"/>
            <a:ext cx="5321808" cy="51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b="1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: ULOOP</a:t>
            </a:r>
            <a:endParaRPr lang="en-US" sz="1110" dirty="0"/>
          </a:p>
        </p:txBody>
      </p:sp>
      <p:sp>
        <p:nvSpPr>
          <p:cNvPr id="37" name="Text 35"/>
          <p:cNvSpPr txBox="1"/>
          <p:nvPr/>
        </p:nvSpPr>
        <p:spPr>
          <a:xfrm>
            <a:off x="5989320" y="2595590"/>
            <a:ext cx="5321808" cy="51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BEGIN DUP 0= UNTIL</a:t>
            </a:r>
            <a:endParaRPr lang="en-US" sz="111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3152067"/>
            <a:ext cx="5321808" cy="51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b="1" dirty="0">
                <a:solidFill>
                  <a:srgbClr val="35D0B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;</a:t>
            </a:r>
            <a:endParaRPr lang="en-US" sz="1110" dirty="0"/>
          </a:p>
        </p:txBody>
      </p:sp>
      <p:sp>
        <p:nvSpPr>
          <p:cNvPr id="39" name="Text 37"/>
          <p:cNvSpPr txBox="1"/>
          <p:nvPr/>
        </p:nvSpPr>
        <p:spPr>
          <a:xfrm>
            <a:off x="5989320" y="3708545"/>
            <a:ext cx="5321808" cy="51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ULOOP ( n[1] -- n[1] )</a:t>
            </a:r>
            <a:endParaRPr lang="en-US" sz="108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4265023"/>
            <a:ext cx="5321808" cy="51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endParaRPr lang="en-US" sz="1060" dirty="0"/>
          </a:p>
        </p:txBody>
      </p:sp>
      <p:sp>
        <p:nvSpPr>
          <p:cNvPr id="41" name="Text 39"/>
          <p:cNvSpPr txBox="1"/>
          <p:nvPr/>
        </p:nvSpPr>
        <p:spPr>
          <a:xfrm>
            <a:off x="5989320" y="4821501"/>
            <a:ext cx="5321808" cy="51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: NLOOP  BEGIN DUP 0= WHILE REPEAT ;</a:t>
            </a:r>
            <a:endParaRPr lang="en-US" sz="980" dirty="0"/>
          </a:p>
        </p:txBody>
      </p:sp>
      <p:sp>
        <p:nvSpPr>
          <p:cNvPr id="42" name="Text 40"/>
          <p:cNvSpPr txBox="1"/>
          <p:nvPr/>
        </p:nvSpPr>
        <p:spPr>
          <a:xfrm>
            <a:off x="5989320" y="5377978"/>
            <a:ext cx="5321808" cy="51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NLOOP ( n[1] -- n[1] )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IMPLEMENTATION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native analyzer, organized as a pipeline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gforth-evaluator.fs is a single-file executable—no build step.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58368" y="1755648"/>
            <a:ext cx="1947672" cy="20116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Shape 9"/>
          <p:cNvSpPr/>
          <p:nvPr/>
        </p:nvSpPr>
        <p:spPr>
          <a:xfrm>
            <a:off x="859536" y="1975104"/>
            <a:ext cx="393192" cy="393192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 txBox="1"/>
          <p:nvPr/>
        </p:nvSpPr>
        <p:spPr>
          <a:xfrm>
            <a:off x="859536" y="203911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0116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kern="0" spc="80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2615184"/>
            <a:ext cx="1545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· specs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literal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70048" y="2542032"/>
            <a:ext cx="228600" cy="384048"/>
          </a:xfrm>
          <a:prstGeom prst="chevron">
            <a:avLst/>
          </a:prstGeom>
          <a:solidFill>
            <a:srgbClr val="24445D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Shape 14"/>
          <p:cNvSpPr/>
          <p:nvPr/>
        </p:nvSpPr>
        <p:spPr>
          <a:xfrm>
            <a:off x="2926080" y="1755648"/>
            <a:ext cx="1947672" cy="20116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Shape 15"/>
          <p:cNvSpPr/>
          <p:nvPr/>
        </p:nvSpPr>
        <p:spPr>
          <a:xfrm>
            <a:off x="3127248" y="1975104"/>
            <a:ext cx="393192" cy="393192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 txBox="1"/>
          <p:nvPr/>
        </p:nvSpPr>
        <p:spPr>
          <a:xfrm>
            <a:off x="3127248" y="203911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639312" y="20116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kern="0" spc="80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3127248" y="2615184"/>
            <a:ext cx="1545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spans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 metadata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542032"/>
            <a:ext cx="228600" cy="384048"/>
          </a:xfrm>
          <a:prstGeom prst="chevron">
            <a:avLst/>
          </a:prstGeom>
          <a:solidFill>
            <a:srgbClr val="24445D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5193792" y="1755648"/>
            <a:ext cx="1947672" cy="20116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Shape 21"/>
          <p:cNvSpPr/>
          <p:nvPr/>
        </p:nvSpPr>
        <p:spPr>
          <a:xfrm>
            <a:off x="5394960" y="1975104"/>
            <a:ext cx="393192" cy="393192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 txBox="1"/>
          <p:nvPr/>
        </p:nvSpPr>
        <p:spPr>
          <a:xfrm>
            <a:off x="5394960" y="203911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907024" y="20116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kern="0" spc="80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</a:t>
            </a:r>
            <a:endParaRPr lang="en-US" sz="102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2615184"/>
            <a:ext cx="1545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outer interpreter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 · controls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05472" y="2542032"/>
            <a:ext cx="228600" cy="384048"/>
          </a:xfrm>
          <a:prstGeom prst="chevron">
            <a:avLst/>
          </a:prstGeom>
          <a:solidFill>
            <a:srgbClr val="24445D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Shape 26"/>
          <p:cNvSpPr/>
          <p:nvPr/>
        </p:nvSpPr>
        <p:spPr>
          <a:xfrm>
            <a:off x="7461504" y="1755648"/>
            <a:ext cx="1947672" cy="20116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Shape 27"/>
          <p:cNvSpPr/>
          <p:nvPr/>
        </p:nvSpPr>
        <p:spPr>
          <a:xfrm>
            <a:off x="7662672" y="1975104"/>
            <a:ext cx="393192" cy="393192"/>
          </a:xfrm>
          <a:prstGeom prst="round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0" name="Text 28"/>
          <p:cNvSpPr txBox="1"/>
          <p:nvPr/>
        </p:nvSpPr>
        <p:spPr>
          <a:xfrm>
            <a:off x="7662672" y="203911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174736" y="20116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kern="0" spc="8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</a:t>
            </a:r>
            <a:endParaRPr lang="en-US" sz="1020" dirty="0"/>
          </a:p>
        </p:txBody>
      </p:sp>
      <p:sp>
        <p:nvSpPr>
          <p:cNvPr id="32" name="Text 30"/>
          <p:cNvSpPr txBox="1"/>
          <p:nvPr/>
        </p:nvSpPr>
        <p:spPr>
          <a:xfrm>
            <a:off x="7662672" y="2615184"/>
            <a:ext cx="1545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freshen · compose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GLB · Π*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473184" y="2542032"/>
            <a:ext cx="228600" cy="384048"/>
          </a:xfrm>
          <a:prstGeom prst="chevron">
            <a:avLst/>
          </a:prstGeom>
          <a:solidFill>
            <a:srgbClr val="24445D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4" name="Shape 32"/>
          <p:cNvSpPr/>
          <p:nvPr/>
        </p:nvSpPr>
        <p:spPr>
          <a:xfrm>
            <a:off x="9729216" y="1755648"/>
            <a:ext cx="1947672" cy="20116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5" name="Shape 33"/>
          <p:cNvSpPr/>
          <p:nvPr/>
        </p:nvSpPr>
        <p:spPr>
          <a:xfrm>
            <a:off x="9930384" y="1975104"/>
            <a:ext cx="393192" cy="393192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6" name="Text 34"/>
          <p:cNvSpPr txBox="1"/>
          <p:nvPr/>
        </p:nvSpPr>
        <p:spPr>
          <a:xfrm>
            <a:off x="9930384" y="203911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442448" y="20116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kern="0" spc="80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020" dirty="0"/>
          </a:p>
        </p:txBody>
      </p:sp>
      <p:sp>
        <p:nvSpPr>
          <p:cNvPr id="38" name="Text 36"/>
          <p:cNvSpPr txBox="1"/>
          <p:nvPr/>
        </p:nvSpPr>
        <p:spPr>
          <a:xfrm>
            <a:off x="9930384" y="2615184"/>
            <a:ext cx="1545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· diagnostics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" y="4096512"/>
            <a:ext cx="6812280" cy="1600200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0" name="Text 38"/>
          <p:cNvSpPr txBox="1"/>
          <p:nvPr/>
        </p:nvSpPr>
        <p:spPr>
          <a:xfrm>
            <a:off x="941832" y="4343400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WORDS IN THE IMPLEMENTATION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41832" y="4800600"/>
            <a:ext cx="1719072" cy="274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2" name="Text 40"/>
          <p:cNvSpPr txBox="1"/>
          <p:nvPr/>
        </p:nvSpPr>
        <p:spPr>
          <a:xfrm>
            <a:off x="941832" y="4809744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kern="0" spc="5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ev-spec-multiply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2916936" y="4800600"/>
            <a:ext cx="1700784" cy="274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4" name="Text 42"/>
          <p:cNvSpPr txBox="1"/>
          <p:nvPr/>
        </p:nvSpPr>
        <p:spPr>
          <a:xfrm>
            <a:off x="2916936" y="4809744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kern="0" spc="50" dirty="0">
                <a:solidFill>
                  <a:srgbClr val="68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ev-spec-glb</a:t>
            </a:r>
            <a:endParaRPr lang="en-US" sz="890" dirty="0"/>
          </a:p>
        </p:txBody>
      </p:sp>
      <p:sp>
        <p:nvSpPr>
          <p:cNvPr id="45" name="Shape 43"/>
          <p:cNvSpPr/>
          <p:nvPr/>
        </p:nvSpPr>
        <p:spPr>
          <a:xfrm>
            <a:off x="4892040" y="4800600"/>
            <a:ext cx="1700784" cy="274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6" name="Text 44"/>
          <p:cNvSpPr txBox="1"/>
          <p:nvPr/>
        </p:nvSpPr>
        <p:spPr>
          <a:xfrm>
            <a:off x="4892040" y="4809744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kern="0" spc="5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ev-spec-pistar</a:t>
            </a:r>
            <a:endParaRPr lang="en-US" sz="890" dirty="0"/>
          </a:p>
        </p:txBody>
      </p:sp>
      <p:sp>
        <p:nvSpPr>
          <p:cNvPr id="47" name="Text 45"/>
          <p:cNvSpPr txBox="1"/>
          <p:nvPr/>
        </p:nvSpPr>
        <p:spPr>
          <a:xfrm>
            <a:off x="941832" y="5230368"/>
            <a:ext cx="6144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analysis works on cloned effects, so freshening and substitution do not mutate the profile.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08392" y="4096512"/>
            <a:ext cx="3813048" cy="16002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9" name="Text 47"/>
          <p:cNvSpPr txBox="1"/>
          <p:nvPr/>
        </p:nvSpPr>
        <p:spPr>
          <a:xfrm>
            <a:off x="7982712" y="434340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BOUNDARY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7982712" y="470001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symbolic evaluator—not a runtime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 profiles—not the entire standard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declared effect per primitive word</a:t>
            </a:r>
            <a:endParaRPr lang="en-US" sz="10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REPRODUCE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6556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9628632" y="655624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b="1" kern="0" spc="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· 5 / 5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commands. Five observed verdicts.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Copy-paste from the repository root; green means the process returned the expected status.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58368" y="1481328"/>
            <a:ext cx="10863072" cy="455371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Shape 11"/>
          <p:cNvSpPr/>
          <p:nvPr/>
        </p:nvSpPr>
        <p:spPr>
          <a:xfrm>
            <a:off x="658368" y="1481328"/>
            <a:ext cx="10863072" cy="530352"/>
          </a:xfrm>
          <a:prstGeom prst="rect">
            <a:avLst/>
          </a:prstGeom>
          <a:solidFill>
            <a:srgbClr val="0D253B"/>
          </a:solidFill>
          <a:ln w="12700">
            <a:solidFill>
              <a:srgbClr val="0D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 txBox="1"/>
          <p:nvPr/>
        </p:nvSpPr>
        <p:spPr>
          <a:xfrm>
            <a:off x="932688" y="1645920"/>
            <a:ext cx="6291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kern="0" spc="9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</a:t>
            </a:r>
            <a:endParaRPr lang="en-US" sz="92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1645920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7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/ OBSERVED</a:t>
            </a:r>
            <a:endParaRPr lang="en-US" sz="920" dirty="0"/>
          </a:p>
        </p:txBody>
      </p:sp>
      <p:sp>
        <p:nvSpPr>
          <p:cNvPr id="16" name="Text 14"/>
          <p:cNvSpPr txBox="1"/>
          <p:nvPr/>
        </p:nvSpPr>
        <p:spPr>
          <a:xfrm>
            <a:off x="10369296" y="1645920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7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13232" y="2057400"/>
            <a:ext cx="10753344" cy="658368"/>
          </a:xfrm>
          <a:prstGeom prst="rect">
            <a:avLst/>
          </a:prstGeom>
          <a:solidFill>
            <a:srgbClr val="0C253B"/>
          </a:solidFill>
          <a:ln w="12700">
            <a:solidFill>
              <a:srgbClr val="0C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Shape 16"/>
          <p:cNvSpPr/>
          <p:nvPr/>
        </p:nvSpPr>
        <p:spPr>
          <a:xfrm>
            <a:off x="932688" y="2231136"/>
            <a:ext cx="329184" cy="274320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 txBox="1"/>
          <p:nvPr/>
        </p:nvSpPr>
        <p:spPr>
          <a:xfrm>
            <a:off x="932688" y="2240280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444752" y="216712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./run-evaluator-gforth.sh real 10 20 + DUP 0=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167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 n[1] flag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268712" y="2203704"/>
            <a:ext cx="777240" cy="274320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 txBox="1"/>
          <p:nvPr/>
        </p:nvSpPr>
        <p:spPr>
          <a:xfrm>
            <a:off x="10268712" y="22128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32688" y="2980944"/>
            <a:ext cx="329184" cy="274320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 txBox="1"/>
          <p:nvPr/>
        </p:nvSpPr>
        <p:spPr>
          <a:xfrm>
            <a:off x="932688" y="2990088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444752" y="291693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./run-evaluator-gforth.sh real 1 0= 1+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 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268712" y="2953512"/>
            <a:ext cx="777240" cy="274320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 txBox="1"/>
          <p:nvPr/>
        </p:nvSpPr>
        <p:spPr>
          <a:xfrm>
            <a:off x="10268712" y="296265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3232" y="3557016"/>
            <a:ext cx="10753344" cy="658368"/>
          </a:xfrm>
          <a:prstGeom prst="rect">
            <a:avLst/>
          </a:prstGeom>
          <a:solidFill>
            <a:srgbClr val="0C253B"/>
          </a:solidFill>
          <a:ln w="12700">
            <a:solidFill>
              <a:srgbClr val="0C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Shape 29"/>
          <p:cNvSpPr/>
          <p:nvPr/>
        </p:nvSpPr>
        <p:spPr>
          <a:xfrm>
            <a:off x="932688" y="3730752"/>
            <a:ext cx="329184" cy="274320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2" name="Text 30"/>
          <p:cNvSpPr txBox="1"/>
          <p:nvPr/>
        </p:nvSpPr>
        <p:spPr>
          <a:xfrm>
            <a:off x="932688" y="3739896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444752" y="366674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./run-evaluator-gforth.sh forth2012 1 0= 1+</a:t>
            </a:r>
            <a:endParaRPr lang="en-US" sz="102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36667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type clash @ 1+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268712" y="3703320"/>
            <a:ext cx="777240" cy="274320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6" name="Text 34"/>
          <p:cNvSpPr txBox="1"/>
          <p:nvPr/>
        </p:nvSpPr>
        <p:spPr>
          <a:xfrm>
            <a:off x="10268712" y="371246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32688" y="4480560"/>
            <a:ext cx="329184" cy="274320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8" name="Text 36"/>
          <p:cNvSpPr txBox="1"/>
          <p:nvPr/>
        </p:nvSpPr>
        <p:spPr>
          <a:xfrm>
            <a:off x="932688" y="4489704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444752" y="441655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./run-evaluator-gforth.sh real C@ !</a:t>
            </a:r>
            <a:endParaRPr lang="en-US" sz="1020" dirty="0"/>
          </a:p>
        </p:txBody>
      </p:sp>
      <p:sp>
        <p:nvSpPr>
          <p:cNvPr id="40" name="Text 38"/>
          <p:cNvSpPr txBox="1"/>
          <p:nvPr/>
        </p:nvSpPr>
        <p:spPr>
          <a:xfrm>
            <a:off x="7452360" y="4416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type clash @ !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268712" y="4453128"/>
            <a:ext cx="777240" cy="274320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2" name="Text 40"/>
          <p:cNvSpPr txBox="1"/>
          <p:nvPr/>
        </p:nvSpPr>
        <p:spPr>
          <a:xfrm>
            <a:off x="10268712" y="446227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1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3232" y="5056632"/>
            <a:ext cx="10753344" cy="658368"/>
          </a:xfrm>
          <a:prstGeom prst="rect">
            <a:avLst/>
          </a:prstGeom>
          <a:solidFill>
            <a:srgbClr val="0C253B"/>
          </a:solidFill>
          <a:ln w="12700">
            <a:solidFill>
              <a:srgbClr val="0C25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4" name="Shape 42"/>
          <p:cNvSpPr/>
          <p:nvPr/>
        </p:nvSpPr>
        <p:spPr>
          <a:xfrm>
            <a:off x="932688" y="5230368"/>
            <a:ext cx="329184" cy="274320"/>
          </a:xfrm>
          <a:prstGeom prst="round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5" name="Text 43"/>
          <p:cNvSpPr txBox="1"/>
          <p:nvPr/>
        </p:nvSpPr>
        <p:spPr>
          <a:xfrm>
            <a:off x="932688" y="5239512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444752" y="516636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./run-evaluator-gforth.sh real</a:t>
            </a:r>
            <a:endParaRPr lang="en-US" sz="1020" dirty="0"/>
          </a:p>
        </p:txBody>
      </p:sp>
      <p:sp>
        <p:nvSpPr>
          <p:cNvPr id="47" name="Text 45"/>
          <p:cNvSpPr txBox="1"/>
          <p:nvPr/>
        </p:nvSpPr>
        <p:spPr>
          <a:xfrm>
            <a:off x="7452360" y="5166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9D5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definitions inferred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268712" y="5202936"/>
            <a:ext cx="777240" cy="274320"/>
          </a:xfrm>
          <a:prstGeom prst="round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9" name="Text 47"/>
          <p:cNvSpPr txBox="1"/>
          <p:nvPr/>
        </p:nvSpPr>
        <p:spPr>
          <a:xfrm>
            <a:off x="10268712" y="521208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81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97280" y="6190488"/>
            <a:ext cx="9966960" cy="237744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1" name="Text 49"/>
          <p:cNvSpPr txBox="1"/>
          <p:nvPr/>
        </p:nvSpPr>
        <p:spPr>
          <a:xfrm>
            <a:off x="1234440" y="6217920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 </a:t>
            </a:r>
            <a:r>
              <a:rPr lang="en-US" sz="87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gforth 0.7.9_20260819 amd64</a:t>
            </a:r>
            <a:r>
              <a:rPr lang="en-US" sz="8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</a:t>
            </a:r>
            <a:r>
              <a:rPr lang="en-US" sz="87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launcher</a:t>
            </a:r>
            <a:r>
              <a:rPr lang="en-US" sz="8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</a:t>
            </a:r>
            <a:r>
              <a:rPr lang="en-US" sz="87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profiles</a:t>
            </a:r>
            <a:endParaRPr lang="en-US" sz="8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12100255" cy="50292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6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TAKEAWAYS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27080" cy="0"/>
          </a:xfrm>
          <a:prstGeom prst="line">
            <a:avLst/>
          </a:prstGeom>
          <a:noFill/>
          <a:ln w="1016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594360" y="657453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kern="0" spc="70" dirty="0">
                <a:solidFill>
                  <a:srgbClr val="668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STATIC TYPE CHECKING FOR FORTH</a:t>
            </a:r>
            <a:endParaRPr lang="en-US" sz="77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remember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069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theory, configuration, and implementation reinforce one another.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58368" y="1673352"/>
            <a:ext cx="3383280" cy="32461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Shape 9"/>
          <p:cNvSpPr/>
          <p:nvPr/>
        </p:nvSpPr>
        <p:spPr>
          <a:xfrm>
            <a:off x="658368" y="1673352"/>
            <a:ext cx="50292" cy="3246120"/>
          </a:xfrm>
          <a:prstGeom prst="rect">
            <a:avLst/>
          </a:prstGeom>
          <a:solidFill>
            <a:srgbClr val="68A9FF"/>
          </a:solidFill>
          <a:ln w="12700">
            <a:solidFill>
              <a:srgbClr val="68A9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 txBox="1"/>
          <p:nvPr/>
        </p:nvSpPr>
        <p:spPr>
          <a:xfrm>
            <a:off x="905256" y="18379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8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CALCULUS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167128"/>
            <a:ext cx="292608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effects compose.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Indexed wildcards preserve identity.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⊓ merges branches; Π* checks repeatability.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07408" y="1673352"/>
            <a:ext cx="3383280" cy="32461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Shape 13"/>
          <p:cNvSpPr/>
          <p:nvPr/>
        </p:nvSpPr>
        <p:spPr>
          <a:xfrm>
            <a:off x="4407408" y="1673352"/>
            <a:ext cx="50292" cy="3246120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 txBox="1"/>
          <p:nvPr/>
        </p:nvSpPr>
        <p:spPr>
          <a:xfrm>
            <a:off x="4654296" y="18379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CONFIGURATION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2167128"/>
            <a:ext cx="292608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Types, primitive effects, literals, parser words, and control syntax live in profiles.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changes without engine changes.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56448" y="1673352"/>
            <a:ext cx="3364992" cy="32461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Shape 17"/>
          <p:cNvSpPr/>
          <p:nvPr/>
        </p:nvSpPr>
        <p:spPr>
          <a:xfrm>
            <a:off x="8156448" y="1673352"/>
            <a:ext cx="50292" cy="3246120"/>
          </a:xfrm>
          <a:prstGeom prst="rect">
            <a:avLst/>
          </a:prstGeom>
          <a:solidFill>
            <a:srgbClr val="69D58C"/>
          </a:solidFill>
          <a:ln w="12700">
            <a:solidFill>
              <a:srgbClr val="69D58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 txBox="1"/>
          <p:nvPr/>
        </p:nvSpPr>
        <p:spPr>
          <a:xfrm>
            <a:off x="8403336" y="1837944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9D5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EVIDENCE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03336" y="2167128"/>
            <a:ext cx="2907792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native Gforth analyzer infers contracts and rejects clashes.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5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example shown here was executed.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69848" y="5230368"/>
            <a:ext cx="10058400" cy="713232"/>
          </a:xfrm>
          <a:prstGeom prst="roundRect">
            <a:avLst/>
          </a:prstGeom>
          <a:solidFill>
            <a:srgbClr val="0D253B"/>
          </a:solidFill>
          <a:ln w="12700">
            <a:solidFill>
              <a:srgbClr val="0AA6A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 txBox="1"/>
          <p:nvPr/>
        </p:nvSpPr>
        <p:spPr>
          <a:xfrm>
            <a:off x="1389888" y="54223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spc="110" dirty="0">
                <a:solidFill>
                  <a:srgbClr val="35D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5413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here: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913632" y="5394960"/>
            <a:ext cx="6784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5F8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README.md  ·  gforth-evaluator.fs  ·  forth2012types.txt  ·  forth2012specs.txt</a:t>
            </a:r>
            <a:endParaRPr lang="en-US" sz="106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61813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Jaanus Pöial  ·  Tallinn University of Technology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'i kujundu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2182</Words>
  <Application>Microsoft Office PowerPoint</Application>
  <PresentationFormat>Laiekraan</PresentationFormat>
  <Paragraphs>409</Paragraphs>
  <Slides>13</Slides>
  <Notes>13</Notes>
  <HiddenSlides>0</HiddenSlides>
  <MMClips>0</MMClips>
  <ScaleCrop>false</ScaleCrop>
  <HeadingPairs>
    <vt:vector size="6" baseType="variant">
      <vt:variant>
        <vt:lpstr>Kasutatud fondid</vt:lpstr>
      </vt:variant>
      <vt:variant>
        <vt:i4>3</vt:i4>
      </vt:variant>
      <vt:variant>
        <vt:lpstr>Kujundus</vt:lpstr>
      </vt:variant>
      <vt:variant>
        <vt:i4>1</vt:i4>
      </vt:variant>
      <vt:variant>
        <vt:lpstr>Slaidipealkirjad</vt:lpstr>
      </vt:variant>
      <vt:variant>
        <vt:i4>13</vt:i4>
      </vt:variant>
    </vt:vector>
  </HeadingPairs>
  <TitlesOfParts>
    <vt:vector size="17" baseType="lpstr">
      <vt:lpstr>Aptos</vt:lpstr>
      <vt:lpstr>Arial</vt:lpstr>
      <vt:lpstr>Cascadia Mono</vt:lpstr>
      <vt:lpstr>Office Theme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</vt:vector>
  </TitlesOfParts>
  <Company>Tallinn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Configurable Static Type Checking for Forth</dc:title>
  <dc:subject>Configurable static type checking for Forth, with tested Gforth examples</dc:subject>
  <dc:creator>Jaanus Pöial</dc:creator>
  <cp:lastModifiedBy>Jaanus Pöial</cp:lastModifiedBy>
  <cp:revision>1</cp:revision>
  <dcterms:created xsi:type="dcterms:W3CDTF">2026-08-27T17:41:54Z</dcterms:created>
  <dcterms:modified xsi:type="dcterms:W3CDTF">2026-08-28T05:22:24Z</dcterms:modified>
</cp:coreProperties>
</file>
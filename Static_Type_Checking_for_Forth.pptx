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C"/>
          </a:solidFill>
          <a:ln>
            <a:solidFill>
              <a:srgbClr val="F7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777240"/>
            <a:ext cx="66751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2304A"/>
                </a:solidFill>
                <a:latin typeface="Liberation Sans"/>
              </a:rPr>
              <a:t>Static Type Checking
for Forth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423160"/>
            <a:ext cx="6766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9A3548"/>
                </a:solidFill>
                <a:latin typeface="Liberation Sans"/>
              </a:rPr>
              <a:t>Making stack-effect specifications executable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99232"/>
            <a:ext cx="699516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7343C"/>
                </a:solidFill>
                <a:latin typeface="Liberation Sans"/>
              </a:rPr>
              <a:t>Infer required and produced stack suffixes, preserve value identity,
and report incompatible boundaries—without running the source.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187952"/>
            <a:ext cx="1600200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187952"/>
            <a:ext cx="160020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PROFILE-DRIVEN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87168" y="4187952"/>
            <a:ext cx="1481328" cy="329184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4187952"/>
            <a:ext cx="148132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SOURCE-LEVEL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05656" y="4187952"/>
            <a:ext cx="1225296" cy="329184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5656" y="4187952"/>
            <a:ext cx="1225296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SYMBOLIC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444752"/>
            <a:ext cx="685800" cy="6217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5008" y="1353312"/>
            <a:ext cx="868680" cy="804672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53312"/>
            <a:ext cx="868680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3688" y="1353312"/>
            <a:ext cx="1481328" cy="804672"/>
          </a:xfrm>
          <a:prstGeom prst="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33688" y="1353312"/>
            <a:ext cx="1481328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Liberation Mono"/>
              </a:rPr>
              <a:t>a-addr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235440" y="2487168"/>
            <a:ext cx="0" cy="484632"/>
          </a:xfrm>
          <a:prstGeom prst="line">
            <a:avLst/>
          </a:prstGeom>
          <a:ln w="2540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69680" y="2276856"/>
            <a:ext cx="731520" cy="329184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2276856"/>
            <a:ext cx="731520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Liberation Sans"/>
              </a:rPr>
              <a:t>@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108960"/>
            <a:ext cx="868680" cy="804672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3108960"/>
            <a:ext cx="868680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33688" y="3108960"/>
            <a:ext cx="1481328" cy="804672"/>
          </a:xfrm>
          <a:prstGeom prst="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33688" y="3108960"/>
            <a:ext cx="1481328" cy="8046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2D6684"/>
                </a:solidFill>
                <a:latin typeface="Liberation Mono"/>
              </a:rPr>
              <a:t>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26679" y="4343400"/>
            <a:ext cx="3044952" cy="576072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99831" y="4379976"/>
            <a:ext cx="2898648" cy="502920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@  ( a-addr -- X 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571500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7343C"/>
                </a:solidFill>
                <a:latin typeface="Liberation Sans"/>
              </a:rPr>
              <a:t>Jaanus Pöial
Tallinn University of Technology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5897880"/>
            <a:ext cx="34930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E6B73"/>
                </a:solidFill>
                <a:latin typeface="Liberation Mono"/>
              </a:rPr>
              <a:t>Native checker: gforth-evaluator.fs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Why check Forth before running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05840"/>
            <a:ext cx="11018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7343C"/>
                </a:solidFill>
                <a:latin typeface="Liberation Sans"/>
              </a:rPr>
              <a:t>Forth passes values through untagged cells. Producers and consumers are adjacent in time—but not named in the source.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91640"/>
            <a:ext cx="3246120" cy="3611880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8" y="1901952"/>
            <a:ext cx="402336" cy="347472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01952"/>
            <a:ext cx="402336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5915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Sans"/>
              </a:rPr>
              <a:t>A depth-correct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71800"/>
            <a:ext cx="285292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7343C"/>
                </a:solidFill>
                <a:latin typeface="Liberation Sans"/>
              </a:rPr>
              <a:t>C@ leaves a char.  ! expects an address on top.
The stack depth can look plausible while the boundary type is wrong.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691640"/>
            <a:ext cx="3246120" cy="361188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901952"/>
            <a:ext cx="402336" cy="347472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1901952"/>
            <a:ext cx="402336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235915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Sans"/>
              </a:rPr>
              <a:t>Shuffles hide provenance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2971800"/>
            <a:ext cx="285292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7343C"/>
                </a:solidFill>
                <a:latin typeface="Liberation Sans"/>
              </a:rPr>
              <a:t>DUP, SWAP, OVER, and ROT move or copy cells without names.
A later use may be the first clue to an earlier requirement.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17536" y="1691640"/>
            <a:ext cx="3246120" cy="361188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0415" y="1901952"/>
            <a:ext cx="402336" cy="347472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00415" y="1901952"/>
            <a:ext cx="402336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0415" y="2359152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Sans"/>
              </a:rPr>
              <a:t>Comments can drift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0415" y="2971800"/>
            <a:ext cx="2852928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7343C"/>
                </a:solidFill>
                <a:latin typeface="Liberation Sans"/>
              </a:rPr>
              <a:t>( n -- n² ) may explain intent, but a normal Forth system does not derive or verify it.
An edit can leave the comment stale.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Goal: catch stack-shape and type mistakes at source level—without changing the target Forth or tagging runtime cells.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From an informal comment to a checkable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097280"/>
            <a:ext cx="9902952" cy="658368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16152" y="1133856"/>
            <a:ext cx="9756648" cy="585216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: SQUARED  DUP * ;      ( n -- n²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057400"/>
            <a:ext cx="4251960" cy="320040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31343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A2B"/>
                </a:solidFill>
                <a:latin typeface="Liberation Sans"/>
              </a:rPr>
              <a:t>INFORMAL SEMANTIC COMMENT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761488"/>
            <a:ext cx="36758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n² says what the result means mathematically.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01568"/>
            <a:ext cx="3657600" cy="1417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Useful documentation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May be absent or stale</a:t>
            </a:r>
          </a:p>
          <a:p>
            <a:pPr>
              <a:lnSpc>
                <a:spcPct val="100000"/>
              </a:lnSpc>
              <a:spcAft>
                <a:spcPts val="700"/>
              </a:spcAft>
            </a:pPr>
            <a:r>
              <a:rPr sz="140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400">
                <a:solidFill>
                  <a:srgbClr val="27343C"/>
                </a:solidFill>
                <a:latin typeface="Liberation Sans"/>
              </a:rPr>
              <a:t>Consumed as source text; not trusted as an assertion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193792" y="3657600"/>
            <a:ext cx="1709928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23560" y="3200400"/>
            <a:ext cx="850392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23560" y="3200400"/>
            <a:ext cx="85039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FFFFFF"/>
                </a:solidFill>
                <a:latin typeface="Liberation Sans"/>
              </a:rPr>
              <a:t>CHECK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05472" y="2057400"/>
            <a:ext cx="4315968" cy="320040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313432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TYPED SYMBOLIC EFFECTS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9792" y="2743200"/>
            <a:ext cx="3767328" cy="10515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944" y="2779776"/>
            <a:ext cx="3621024" cy="978407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DUP  ( X[1] -- X[1] X[1] )
*    ( n n  -- n 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3986784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E6B73"/>
                </a:solidFill>
                <a:latin typeface="Liberation Sans"/>
              </a:rPr>
              <a:t>Inferred: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79792" y="4279392"/>
            <a:ext cx="3767328" cy="566928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4" y="4315968"/>
            <a:ext cx="3621024" cy="493776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SQUARED  ( n -- n 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The checker verifies stack shape, abstract types, and cell identity—not the mathematical claim that the result equals n².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RESEARCH LINEAGE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One idea, progressively strengthened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024128"/>
            <a:ext cx="109728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0">
                <a:solidFill>
                  <a:srgbClr val="27343C"/>
                </a:solidFill>
                <a:latin typeface="Liberation Sans"/>
              </a:rPr>
              <a:t>The current checker combines several stages of stack-effect research into one source-level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892808"/>
            <a:ext cx="804672" cy="310896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92808"/>
            <a:ext cx="804672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1990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478024"/>
            <a:ext cx="17007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Algebraic effects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355848"/>
            <a:ext cx="17007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Compose stack transformations and distinguish identity from clash.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87752" y="3493008"/>
            <a:ext cx="19202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816352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980944" y="1892808"/>
            <a:ext cx="804672" cy="310896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0944" y="1892808"/>
            <a:ext cx="804672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1991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2478024"/>
            <a:ext cx="17007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Alternative effects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3355848"/>
            <a:ext cx="17007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Represent non-linear behavior and control structures.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55464" y="3493008"/>
            <a:ext cx="19202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84064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48655" y="1892808"/>
            <a:ext cx="804672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48655" y="1892808"/>
            <a:ext cx="804672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2002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48655" y="2478024"/>
            <a:ext cx="17007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Typed wildcards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3355848"/>
            <a:ext cx="17007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Add subtyping, polymorphism, and symbolic value identity.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123175" y="3493008"/>
            <a:ext cx="192025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51775" y="1691640"/>
            <a:ext cx="2029968" cy="3611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16367" y="1892808"/>
            <a:ext cx="804672" cy="310896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7" y="1892808"/>
            <a:ext cx="804672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2006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2478024"/>
            <a:ext cx="17007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Must-style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7" y="3355848"/>
            <a:ext cx="17007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Use common information for branches and a finite repetition test.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90888" y="3493008"/>
            <a:ext cx="192023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619488" y="1691640"/>
            <a:ext cx="2029968" cy="3611880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784080" y="1892808"/>
            <a:ext cx="1051560" cy="310896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0" y="1892808"/>
            <a:ext cx="1051560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CURRENT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2478024"/>
            <a:ext cx="1700784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Sans"/>
              </a:rPr>
              <a:t>External profiles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3355848"/>
            <a:ext cx="1700784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Load types, word effects, parser roles, and control syntax from files.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The algebra is the kernel; profile-driven source processing makes it usable on Forth programs.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The checker is driven by three independent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261872"/>
            <a:ext cx="3108960" cy="950976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380743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D6684"/>
                </a:solidFill>
                <a:latin typeface="Liberation Mono"/>
              </a:rPr>
              <a:t>types.txt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719072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Canonical names, aliases, subtype edges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730752" y="1737360"/>
            <a:ext cx="585216" cy="0"/>
          </a:xfrm>
          <a:prstGeom prst="line">
            <a:avLst/>
          </a:prstGeom>
          <a:ln w="22860">
            <a:solidFill>
              <a:srgbClr val="2D668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4360" y="2514600"/>
            <a:ext cx="3108960" cy="950976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63347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7C86"/>
                </a:solidFill>
                <a:latin typeface="Liberation Mono"/>
              </a:rPr>
              <a:t>specs.txt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971800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Word effects, literals, parser and control roles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730752" y="2990088"/>
            <a:ext cx="585216" cy="0"/>
          </a:xfrm>
          <a:prstGeom prst="line">
            <a:avLst/>
          </a:prstGeom>
          <a:ln w="2286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94360" y="3767328"/>
            <a:ext cx="3108960" cy="950976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8620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C46A2B"/>
                </a:solidFill>
                <a:latin typeface="Liberation Mono"/>
              </a:rPr>
              <a:t>source.fs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224528"/>
            <a:ext cx="2651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0" i="0">
                <a:solidFill>
                  <a:srgbClr val="27343C"/>
                </a:solidFill>
                <a:latin typeface="Liberation Sans"/>
              </a:rPr>
              <a:t>Forth words, definitions, and control forms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30752" y="4242816"/>
            <a:ext cx="585216" cy="0"/>
          </a:xfrm>
          <a:prstGeom prst="line">
            <a:avLst/>
          </a:prstGeom>
          <a:ln w="22860">
            <a:solidFill>
              <a:srgbClr val="C46A2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7408" y="1609344"/>
            <a:ext cx="2907792" cy="3429000"/>
          </a:xfrm>
          <a:prstGeom prst="roundRect">
            <a:avLst/>
          </a:prstGeom>
          <a:solidFill>
            <a:srgbClr val="12304A"/>
          </a:solidFill>
          <a:ln w="12700"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1993392"/>
            <a:ext cx="235915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Liberation Mono"/>
              </a:rPr>
              <a:t>SYMBOLIC
CHECKER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17520"/>
            <a:ext cx="221284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D8EEF0"/>
                </a:solidFill>
                <a:latin typeface="Liberation Sans"/>
              </a:rPr>
              <a:t>parse source
↓
compose effects
↓
infer or diagnose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51775" y="3319272"/>
            <a:ext cx="585217" cy="0"/>
          </a:xfrm>
          <a:prstGeom prst="line">
            <a:avLst/>
          </a:prstGeom>
          <a:ln w="2794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46720" y="1298448"/>
            <a:ext cx="3538728" cy="1463040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15544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D7C62"/>
                </a:solidFill>
                <a:latin typeface="Liberation Sans"/>
              </a:rPr>
              <a:t>SUCCESS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1901952"/>
            <a:ext cx="29992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Per-word trace
Inferred definition effects
Final required / produced stack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3017520"/>
            <a:ext cx="3538728" cy="1719072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273552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CLASH OR SOURCE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639312"/>
            <a:ext cx="301752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Line and column
Source line + caret
Recovery for later diagnostics
Run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5099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669279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No concrete values are executed. When a colon definition closes, its inferred effect becomes available to later source.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What exactly is an effect specification?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069848"/>
            <a:ext cx="6510528" cy="658368"/>
          </a:xfrm>
          <a:prstGeom prst="roundRect">
            <a:avLst/>
          </a:prstGeom>
          <a:solidFill>
            <a:srgbClr val="E8F0F5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106424"/>
            <a:ext cx="6364224" cy="585216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04A"/>
                </a:solidFill>
                <a:latin typeface="Liberation Mono"/>
              </a:rPr>
              <a:t>@     ( a-addr  --  X 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6231" y="120700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9A3548"/>
                </a:solidFill>
                <a:latin typeface="Liberation Sans"/>
              </a:rPr>
              <a:t>required input suffix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2070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D7C62"/>
                </a:solidFill>
                <a:latin typeface="Liberation Sans"/>
              </a:rPr>
              <a:t>guaranteed output suffix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084831"/>
            <a:ext cx="5074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Any deeper frame F passes through unchanged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54203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before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3312" y="2450592"/>
            <a:ext cx="1298448" cy="749808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53312" y="2450592"/>
            <a:ext cx="1298448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450592"/>
            <a:ext cx="1609344" cy="749808"/>
          </a:xfrm>
          <a:prstGeom prst="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0" y="2450592"/>
            <a:ext cx="1609344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0E7C86"/>
                </a:solidFill>
                <a:latin typeface="Liberation Mono"/>
              </a:rPr>
              <a:t>a-addr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25696" y="2825496"/>
            <a:ext cx="1088136" cy="0"/>
          </a:xfrm>
          <a:prstGeom prst="line">
            <a:avLst/>
          </a:prstGeom>
          <a:ln w="2667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27448" y="2395728"/>
            <a:ext cx="475488" cy="310896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2395728"/>
            <a:ext cx="475488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Liberation Sans"/>
              </a:rPr>
              <a:t>@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2704" y="2542032"/>
            <a:ext cx="594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450592"/>
            <a:ext cx="1298448" cy="749808"/>
          </a:xfrm>
          <a:prstGeom prst="rect">
            <a:avLst/>
          </a:prstGeom>
          <a:solidFill>
            <a:srgbClr val="ECEAE4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08776" y="2450592"/>
            <a:ext cx="1298448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5E6B73"/>
                </a:solidFill>
                <a:latin typeface="Liberation Sans"/>
              </a:rPr>
              <a:t>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7224" y="2450592"/>
            <a:ext cx="1609344" cy="749808"/>
          </a:xfrm>
          <a:prstGeom prst="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07224" y="2450592"/>
            <a:ext cx="1609344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2D6684"/>
                </a:solidFill>
                <a:latin typeface="Liberation Mono"/>
              </a:rPr>
              <a:t>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45168" y="2670048"/>
            <a:ext cx="1920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1">
                <a:solidFill>
                  <a:srgbClr val="9A3548"/>
                </a:solidFill>
                <a:latin typeface="Liberation Sans"/>
              </a:rPr>
              <a:t>top of stack is on the right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685032"/>
            <a:ext cx="3401568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393192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RELATIONAL READING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4297680"/>
            <a:ext cx="288950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If the stack has the form F L, the phrase may transform it to F R after compatible unification.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685032"/>
            <a:ext cx="3401568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08576" y="393192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D7C62"/>
                </a:solidFill>
                <a:latin typeface="Liberation Sans"/>
              </a:rPr>
              <a:t>IDENTITY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4288536"/>
            <a:ext cx="2487168" cy="420624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9472" y="4325112"/>
            <a:ext cx="2340864" cy="347472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1 = ( -- 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5008" y="3685032"/>
            <a:ext cx="3401568" cy="13258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3931920"/>
            <a:ext cx="29443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CLASH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02752" y="4288536"/>
            <a:ext cx="2907792" cy="420624"/>
          </a:xfrm>
          <a:prstGeom prst="roundRect">
            <a:avLst/>
          </a:prstGeom>
          <a:solidFill>
            <a:srgbClr val="F5E7E8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75904" y="4325112"/>
            <a:ext cx="2761488" cy="347472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∅  = incompatible boundary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A stack-effect specification is a symbolic pre/post contract over only the data-stack suffix a phrase touches.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PROFILE-DEFINED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Types express the project's compatibility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5413248" cy="416052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44752"/>
            <a:ext cx="4901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CONVENIENT FORTH-LIKE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874519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E6B73"/>
                </a:solidFill>
                <a:latin typeface="Liberation Sans"/>
              </a:rPr>
              <a:t>more specific  →  more general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304288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2340864"/>
            <a:ext cx="4736592" cy="52120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a-addr  &lt;  c-addr  &lt;  addr  &lt;  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3090672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127248"/>
            <a:ext cx="4736592" cy="52120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char  &lt;  n  &lt;  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" y="3877056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3913632"/>
            <a:ext cx="4736592" cy="52120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flag  &lt;  n  &lt; 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718304"/>
            <a:ext cx="4709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Useful when the target treats flags and characters as numeric cells.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170432"/>
            <a:ext cx="5394960" cy="416052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444752"/>
            <a:ext cx="4882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STRICTER STANDARD-LIKE 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1874519"/>
            <a:ext cx="47183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E6B73"/>
                </a:solidFill>
                <a:latin typeface="Liberation Sans"/>
              </a:rPr>
              <a:t>the selected file makes these choices explicit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55664" y="2304288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28816" y="2340864"/>
            <a:ext cx="4736592" cy="52120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12304A"/>
                </a:solidFill>
                <a:latin typeface="Liberation Mono"/>
              </a:rPr>
              <a:t>a-addr &lt; c-addr &lt; addr &lt; u &lt; n &lt; 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55664" y="3090672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3127248"/>
            <a:ext cx="4736592" cy="52120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char &lt; +n &lt; u &lt; n &lt; 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3877056"/>
            <a:ext cx="4882896" cy="59436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28816" y="3913632"/>
            <a:ext cx="4736592" cy="52120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Mono"/>
              </a:rPr>
              <a:t>flag &lt; x     (separate from 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718304"/>
            <a:ext cx="4681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Aliases may name one canonical type: X, x, and cell can be equivalent.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5099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669279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Matching rule: retain the more specific comparable type; if neither type is a subtype of the other, report a clash.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SYMBOLIC VALUE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Indices remember which cell is which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246120" cy="309067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72768" y="1536192"/>
            <a:ext cx="1225296" cy="347472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72768" y="1536192"/>
            <a:ext cx="1225296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DUP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185416"/>
            <a:ext cx="2642615" cy="603504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( X[1] -- X[1] X[1]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00400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one input, two correlated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261872"/>
            <a:ext cx="3246120" cy="3090672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48072" y="1536192"/>
            <a:ext cx="1225296" cy="347472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536192"/>
            <a:ext cx="1225296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SWAP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3984" y="2185416"/>
            <a:ext cx="2642615" cy="603504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( X[2] X[1] -- X[1] X[2]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3200400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two origins exchange positions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261872"/>
            <a:ext cx="3246120" cy="3090672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723376" y="1536192"/>
            <a:ext cx="1225296" cy="347472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23376" y="1536192"/>
            <a:ext cx="1225296" cy="347472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OVER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6136" y="2148840"/>
            <a:ext cx="2788920" cy="67665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2185416"/>
            <a:ext cx="2642615" cy="603504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( X[2] X[1] -- X[2] X[1] X[2]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37575" y="3200400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7343C"/>
                </a:solidFill>
                <a:latin typeface="Liberation Sans"/>
              </a:rPr>
              <a:t>the deeper input reappears on top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617720"/>
            <a:ext cx="10753344" cy="8686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4828032"/>
            <a:ext cx="10314432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50" b="1" i="0">
                <a:solidFill>
                  <a:srgbClr val="0E7C86"/>
                </a:solidFill>
                <a:latin typeface="Liberation Sans"/>
              </a:rPr>
              <a:t>same index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= same abstract origin   •   </a:t>
            </a:r>
            <a:r>
              <a:rPr sz="1350" b="1" i="0">
                <a:solidFill>
                  <a:srgbClr val="2D6684"/>
                </a:solidFill>
                <a:latin typeface="Liberation Sans"/>
              </a:rPr>
              <a:t>different indices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do not claim unequal concrete values   •   </a:t>
            </a:r>
            <a:r>
              <a:rPr sz="1350" b="1" i="0">
                <a:solidFill>
                  <a:srgbClr val="C46A2B"/>
                </a:solidFill>
                <a:latin typeface="Liberation Sans"/>
              </a:rPr>
              <a:t>no index</a:t>
            </a:r>
            <a:r>
              <a:rPr sz="1350" b="0" i="0">
                <a:solidFill>
                  <a:srgbClr val="27343C"/>
                </a:solidFill>
                <a:latin typeface="Liberation Sans"/>
              </a:rPr>
              <a:t> = fresh symbolic item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Indices are local logical variables—not addresses or runtime tags. The checker freshens them for every word occurrence.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EFFECT CALCULUS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Three operations cover the supported source 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34440"/>
            <a:ext cx="3246120" cy="4133087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9808" y="1481328"/>
            <a:ext cx="1298448" cy="310896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481328"/>
            <a:ext cx="1298448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96596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· 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6148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Boundary composition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273405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Can q consume what p leaves? Match from the top inward and propagate the more precise type through every correlated occurrence.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234440"/>
            <a:ext cx="3246120" cy="4133087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481328"/>
            <a:ext cx="1536192" cy="310896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1481328"/>
            <a:ext cx="1536192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ALTERNATIVES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196596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⊓ 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0832" y="276148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Common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3337560"/>
            <a:ext cx="273405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Attempt to reconcile both path effects into one interface. This is a single must-style syntactic summary—not a set of every possible behavior.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234440"/>
            <a:ext cx="3246120" cy="4133087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0415" y="1481328"/>
            <a:ext cx="1298448" cy="310896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0415" y="1481328"/>
            <a:ext cx="1298448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REPETITION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46136" y="1965960"/>
            <a:ext cx="27889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12304A"/>
                </a:solidFill>
                <a:latin typeface="Liberation Mono"/>
              </a:rPr>
              <a:t>p ⊓ (p · p)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46136" y="2761488"/>
            <a:ext cx="2788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Sans"/>
              </a:rPr>
              <a:t>One-versus-two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73567" y="3337560"/>
            <a:ext cx="2734056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0">
                <a:solidFill>
                  <a:srgbClr val="27343C"/>
                </a:solidFill>
                <a:latin typeface="Liberation Sans"/>
              </a:rPr>
              <a:t>Compare one pass with two consecutive passes. Accept only when the implemented merge finds a locally stable summary.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The untyped base has a polycyclic-monoid structure; the checker adds partial, subtype-aware, identity-sensitive matching.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Sequence: composition refines the whole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060704"/>
            <a:ext cx="4782312" cy="566928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097280"/>
            <a:ext cx="4636008" cy="493776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2304A"/>
                </a:solidFill>
                <a:latin typeface="Liberation Mono"/>
              </a:rPr>
              <a:t>1   2   +   DUP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057400"/>
            <a:ext cx="2029968" cy="2084831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52728" y="2304288"/>
            <a:ext cx="713232" cy="329184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304288"/>
            <a:ext cx="71323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16352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produce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246120"/>
            <a:ext cx="18105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2304A"/>
                </a:solidFill>
                <a:latin typeface="Liberation Mono"/>
              </a:rPr>
              <a:t>( -- n 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70048" y="3072384"/>
            <a:ext cx="228600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71800" y="2057400"/>
            <a:ext cx="2029968" cy="2084831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30168" y="2304288"/>
            <a:ext cx="713232" cy="329184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2304288"/>
            <a:ext cx="71323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816352"/>
            <a:ext cx="1847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produce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3246120"/>
            <a:ext cx="181051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2304A"/>
                </a:solidFill>
                <a:latin typeface="Liberation Mono"/>
              </a:rPr>
              <a:t>( -- n 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47488" y="3072384"/>
            <a:ext cx="411480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532120" y="2057400"/>
            <a:ext cx="2212848" cy="2084831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81928" y="2304288"/>
            <a:ext cx="713232" cy="329184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2304288"/>
            <a:ext cx="71323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23559" y="2816352"/>
            <a:ext cx="202996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consume two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3246120"/>
            <a:ext cx="1993391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2304A"/>
                </a:solidFill>
                <a:latin typeface="Liberation Mono"/>
              </a:rPr>
              <a:t>( n n -- n 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90688" y="3072384"/>
            <a:ext cx="393191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257031" y="2057400"/>
            <a:ext cx="3337560" cy="2084831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9196" y="2304288"/>
            <a:ext cx="713232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9196" y="2304288"/>
            <a:ext cx="71323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DUP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2816352"/>
            <a:ext cx="31546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copy 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59" y="3246120"/>
            <a:ext cx="311810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20" b="1" i="0">
                <a:solidFill>
                  <a:srgbClr val="12304A"/>
                </a:solidFill>
                <a:latin typeface="Liberation Mono"/>
              </a:rPr>
              <a:t>( X[1] -- X[1] X[1]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4443984"/>
            <a:ext cx="7434072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50" b="1" i="0">
                <a:solidFill>
                  <a:srgbClr val="5E6B73"/>
                </a:solidFill>
                <a:latin typeface="Liberation Sans"/>
              </a:rPr>
              <a:t>Boundary match:  </a:t>
            </a:r>
            <a:r>
              <a:rPr sz="1800" b="1" i="0">
                <a:solidFill>
                  <a:srgbClr val="2D6684"/>
                </a:solidFill>
                <a:latin typeface="Liberation Mono"/>
              </a:rPr>
              <a:t>n</a:t>
            </a:r>
            <a:r>
              <a:rPr sz="1450" b="0" i="0">
                <a:solidFill>
                  <a:srgbClr val="27343C"/>
                </a:solidFill>
                <a:latin typeface="Liberation Sans"/>
              </a:rPr>
              <a:t>  satisfies  </a:t>
            </a:r>
            <a:r>
              <a:rPr sz="1800" b="1" i="0">
                <a:solidFill>
                  <a:srgbClr val="0E7C86"/>
                </a:solidFill>
                <a:latin typeface="Liberation Mono"/>
              </a:rPr>
              <a:t>X[1]</a:t>
            </a:r>
            <a:r>
              <a:rPr sz="1450" b="1" i="0">
                <a:solidFill>
                  <a:srgbClr val="12304A"/>
                </a:solidFill>
                <a:latin typeface="Liberation Sans"/>
              </a:rPr>
              <a:t>  → retain 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0128" y="4956048"/>
            <a:ext cx="5577840" cy="557784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0" y="4992624"/>
            <a:ext cx="5431536" cy="484632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whole phrase:   ( -- n[1] n[1] 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733288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751575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Substitution is global: the numeric refinement reaches both outputs that DUP correlates.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TYPE-AWARE 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A boundary can refine—or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70432"/>
            <a:ext cx="5413248" cy="4370832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444752"/>
            <a:ext cx="1152144" cy="310896"/>
          </a:xfrm>
          <a:prstGeom prst="roundRect">
            <a:avLst/>
          </a:prstGeom>
          <a:solidFill>
            <a:srgbClr val="3D7C62"/>
          </a:solidFill>
          <a:ln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444752"/>
            <a:ext cx="1152144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COMPATIBLE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1920240"/>
            <a:ext cx="4590288" cy="530352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956816"/>
            <a:ext cx="4443983" cy="457199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DP   C@   0=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761488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DP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55648" y="2761488"/>
            <a:ext cx="2057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-- a-addr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09544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C@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209544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a-addr -- char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19125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3D7C62"/>
                </a:solidFill>
                <a:latin typeface="Liberation Sans"/>
              </a:rPr>
              <a:t>declared input: c-addr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57600"/>
            <a:ext cx="5303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Mono"/>
              </a:rPr>
              <a:t>0=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65760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char -- flag 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6393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3D7C62"/>
                </a:solidFill>
                <a:latin typeface="Liberation Sans"/>
              </a:rPr>
              <a:t>declared input: 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8" y="4343400"/>
            <a:ext cx="4133087" cy="548640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4379976"/>
            <a:ext cx="3986783" cy="47548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2304A"/>
                </a:solidFill>
                <a:latin typeface="Liberation Mono"/>
              </a:rPr>
              <a:t>result:  ( -- flag 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056632"/>
            <a:ext cx="4709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The trace retains a-addr because it is more specific than c-addr.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170432"/>
            <a:ext cx="5394960" cy="4370832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1444752"/>
            <a:ext cx="749808" cy="310896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444752"/>
            <a:ext cx="749808" cy="310896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CLASH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56832" y="1920240"/>
            <a:ext cx="4480560" cy="530352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9984" y="1956816"/>
            <a:ext cx="4334256" cy="457199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C@   !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2743200"/>
            <a:ext cx="4572000" cy="521207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02552" y="2779776"/>
            <a:ext cx="4425696" cy="448055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C@   ( c-addr -- char 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3456432"/>
            <a:ext cx="4572000" cy="521207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3493008"/>
            <a:ext cx="4425696" cy="448055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!    ( X a-addr -- 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4297680"/>
            <a:ext cx="1051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A3548"/>
                </a:solidFill>
                <a:latin typeface="Liberation Mono"/>
              </a:rPr>
              <a:t>char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224528"/>
            <a:ext cx="41148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9A3548"/>
                </a:solidFill>
                <a:latin typeface="Liberation Sans"/>
              </a:rPr>
              <a:t>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2" y="4297680"/>
            <a:ext cx="13716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9A3548"/>
                </a:solidFill>
                <a:latin typeface="Liberation Mono"/>
              </a:rPr>
              <a:t>a-addr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727448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E6B73"/>
                </a:solidFill>
                <a:latin typeface="Liberation Sans"/>
              </a:rPr>
              <a:t>produced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0" y="4727448"/>
            <a:ext cx="17373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5E6B73"/>
                </a:solidFill>
                <a:latin typeface="Liberation Sans"/>
              </a:rPr>
              <a:t>required on top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15000"/>
            <a:ext cx="11055096" cy="530352"/>
          </a:xfrm>
          <a:prstGeom prst="roundRect">
            <a:avLst/>
          </a:prstGeom>
          <a:solidFill>
            <a:srgbClr val="F5E7E8"/>
          </a:solidFill>
          <a:ln w="1016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573328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9A3548"/>
                </a:solidFill>
                <a:latin typeface="Liberation Sans"/>
              </a:rPr>
              <a:t>The checker rejects the incompatible boundary before the source can attempt the bad store.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INFERRED DEFINITIONS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Use can refine a definition backward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1069848"/>
            <a:ext cx="6537960" cy="603504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106424"/>
            <a:ext cx="6391656" cy="530352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12304A"/>
                </a:solidFill>
                <a:latin typeface="Liberation Mono"/>
              </a:rPr>
              <a:t>: PEEK2   DUP @ SWAP @   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148840"/>
            <a:ext cx="1920240" cy="1371600"/>
          </a:xfrm>
          <a:prstGeom prst="roundRect">
            <a:avLst/>
          </a:prstGeom>
          <a:solidFill>
            <a:srgbClr val="ECEAE4"/>
          </a:solidFill>
          <a:ln w="12700">
            <a:solidFill>
              <a:srgbClr val="5E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386584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5E6B73"/>
                </a:solidFill>
                <a:latin typeface="Liberation Sans"/>
              </a:rPr>
              <a:t>unknown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2862072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X[1]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05456" y="2834640"/>
            <a:ext cx="246888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79776" y="2148840"/>
            <a:ext cx="1920240" cy="1371600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9504" y="2386584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E7C86"/>
                </a:solidFill>
                <a:latin typeface="Liberation Sans"/>
              </a:rPr>
              <a:t>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9504" y="2862072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X[1]  X[1]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700016" y="2834640"/>
            <a:ext cx="274320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01768" y="2148840"/>
            <a:ext cx="1920240" cy="137160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11496" y="2386584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D6684"/>
                </a:solidFill>
                <a:latin typeface="Liberation Sans"/>
              </a:rPr>
              <a:t>first @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11496" y="2862072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a-addr  →  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22008" y="2834640"/>
            <a:ext cx="274320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223760" y="2148840"/>
            <a:ext cx="1920240" cy="137160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2386584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46A2B"/>
                </a:solidFill>
                <a:latin typeface="Liberation Sans"/>
              </a:rPr>
              <a:t>SWAP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2862072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X  a-addr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2834640"/>
            <a:ext cx="274320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45752" y="2148840"/>
            <a:ext cx="1920240" cy="137160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55480" y="2386584"/>
            <a:ext cx="17007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D6684"/>
                </a:solidFill>
                <a:latin typeface="Liberation Sans"/>
              </a:rPr>
              <a:t>second @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2862072"/>
            <a:ext cx="17007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X[2]  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" y="3904487"/>
            <a:ext cx="10287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27343C"/>
                </a:solidFill>
                <a:latin typeface="Liberation Sans"/>
              </a:rPr>
              <a:t>Both copies are eventually consumed by @, so each must satisfy a-addr. That requirement travels through SWAP and DUP to the definition input.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709160"/>
            <a:ext cx="6163056" cy="603504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0672" y="4745736"/>
            <a:ext cx="6016752" cy="530352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PEEK2   ( a-addr[1] -- X[2] X 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At ; the inferred effect is installed in the analysis dictionary, so later source can use PEEK2 like a declared word.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Branches need one common calling 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051560"/>
            <a:ext cx="7717536" cy="585216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088136"/>
            <a:ext cx="7571231" cy="512064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: FUN   IF NEGATE ELSE 1+ THEN   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965960"/>
            <a:ext cx="2267712" cy="530352"/>
          </a:xfrm>
          <a:prstGeom prst="roundRect">
            <a:avLst/>
          </a:prstGeom>
          <a:solidFill>
            <a:srgbClr val="E8F0F5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2002536"/>
            <a:ext cx="2121408" cy="457199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input:  F  n  flag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231136"/>
            <a:ext cx="868680" cy="0"/>
          </a:xfrm>
          <a:prstGeom prst="line">
            <a:avLst/>
          </a:prstGeom>
          <a:ln w="22860">
            <a:solidFill>
              <a:srgbClr val="0E7C8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Diamond 12"/>
          <p:cNvSpPr/>
          <p:nvPr/>
        </p:nvSpPr>
        <p:spPr>
          <a:xfrm>
            <a:off x="3803904" y="1810512"/>
            <a:ext cx="1024128" cy="841248"/>
          </a:xfrm>
          <a:prstGeom prst="diamond">
            <a:avLst/>
          </a:prstGeom>
          <a:solidFill>
            <a:srgbClr val="E6F1F1"/>
          </a:solidFill>
          <a:ln w="1524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03904" y="1993392"/>
            <a:ext cx="1024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E7C86"/>
                </a:solidFill>
                <a:latin typeface="Liberation Mono"/>
              </a:rPr>
              <a:t>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770632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9A3548"/>
                </a:solidFill>
                <a:latin typeface="Liberation Sans"/>
              </a:rPr>
              <a:t>consumes flag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09744" y="2084831"/>
            <a:ext cx="1005840" cy="36577"/>
          </a:xfrm>
          <a:prstGeom prst="line">
            <a:avLst/>
          </a:prstGeom>
          <a:ln w="190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9744" y="2386584"/>
            <a:ext cx="1005840" cy="841248"/>
          </a:xfrm>
          <a:prstGeom prst="line">
            <a:avLst/>
          </a:prstGeom>
          <a:ln w="190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138928" y="1892807"/>
            <a:ext cx="53035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6"/>
                </a:solidFill>
                <a:latin typeface="Liberation Sans"/>
              </a:rPr>
              <a:t>true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063240"/>
            <a:ext cx="5669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E7C86"/>
                </a:solidFill>
                <a:latin typeface="Liberation Sans"/>
              </a:rPr>
              <a:t>false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15584" y="1764792"/>
            <a:ext cx="2852928" cy="969264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1929384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0E7C86"/>
                </a:solidFill>
                <a:latin typeface="Liberation Mono"/>
              </a:rPr>
              <a:t>NEGATE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8464" y="2304288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n -- n 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15584" y="2926080"/>
            <a:ext cx="2852928" cy="969264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98464" y="3090672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D6684"/>
                </a:solidFill>
                <a:latin typeface="Liberation Mono"/>
              </a:rPr>
              <a:t>1+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98464" y="3465576"/>
            <a:ext cx="248716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2304A"/>
                </a:solidFill>
                <a:latin typeface="Liberation Mono"/>
              </a:rPr>
              <a:t>( n -- n 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668512" y="2249424"/>
            <a:ext cx="704088" cy="292608"/>
          </a:xfrm>
          <a:prstGeom prst="line">
            <a:avLst/>
          </a:prstGeom>
          <a:ln w="190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668512" y="2743200"/>
            <a:ext cx="704088" cy="667512"/>
          </a:xfrm>
          <a:prstGeom prst="line">
            <a:avLst/>
          </a:prstGeom>
          <a:ln w="1905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81160" y="2441448"/>
            <a:ext cx="1627632" cy="329184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441448"/>
            <a:ext cx="1627632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Liberation Sans"/>
              </a:rPr>
              <a:t>COMMON EFFECT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64992" y="4407408"/>
            <a:ext cx="5468112" cy="594360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8144" y="4443984"/>
            <a:ext cx="5321808" cy="521208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FUN  ( n flag -- n 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212080"/>
            <a:ext cx="10195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43C"/>
                </a:solidFill>
                <a:latin typeface="Liberation Sans"/>
              </a:rPr>
              <a:t>Different value-level behavior is acceptable because both paths preserve the same visible numeric interface.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71500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" y="573328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The current merge returns one effect; it deliberately does not preserve a set of path-specific alternatives.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CONTROL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Loops receive a local stability check—not an invariant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051560"/>
            <a:ext cx="8065008" cy="585216"/>
          </a:xfrm>
          <a:prstGeom prst="roundRect">
            <a:avLst/>
          </a:prstGeom>
          <a:solidFill>
            <a:srgbClr val="ECEAE4"/>
          </a:solidFill>
          <a:ln w="10160">
            <a:solidFill>
              <a:srgbClr val="D8D8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088136"/>
            <a:ext cx="7918704" cy="512064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: ULOOP   BEGIN DUP 0= UNTIL   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645920"/>
            <a:ext cx="6327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5E6B73"/>
                </a:solidFill>
                <a:latin typeface="Liberation Mono"/>
              </a:rPr>
              <a:t>illustrative profile:  0= ( n -- flag )   ·   UNTIL ( flag --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74519"/>
            <a:ext cx="6711696" cy="345643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139696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IMPLEMENTED ONE-VERSUS-TWO TEST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651760"/>
            <a:ext cx="5980176" cy="49377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2688336"/>
            <a:ext cx="5833872" cy="420624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p  =  DUP 0= UNTIL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" y="3429000"/>
            <a:ext cx="1956816" cy="822960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575304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2D6684"/>
                </a:solidFill>
                <a:latin typeface="Liberation Mono"/>
              </a:rPr>
              <a:t>one pass
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62656" y="3840480"/>
            <a:ext cx="694944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75887" y="3429000"/>
            <a:ext cx="1956816" cy="822960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7" y="3575304"/>
            <a:ext cx="195681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46A2B"/>
                </a:solidFill>
                <a:latin typeface="Liberation Mono"/>
              </a:rPr>
              <a:t>two passes
p · 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50992" y="3840480"/>
            <a:ext cx="493776" cy="0"/>
          </a:xfrm>
          <a:prstGeom prst="line">
            <a:avLst/>
          </a:prstGeom>
          <a:ln w="19050">
            <a:solidFill>
              <a:srgbClr val="D8D8D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63640" y="3639312"/>
            <a:ext cx="475488" cy="365760"/>
          </a:xfrm>
          <a:prstGeom prst="roundRect">
            <a:avLst/>
          </a:prstGeom>
          <a:solidFill>
            <a:srgbClr val="12304A"/>
          </a:solidFill>
          <a:ln>
            <a:solidFill>
              <a:srgbClr val="1230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639312"/>
            <a:ext cx="475488" cy="36576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Liberation Sans"/>
              </a:rPr>
              <a:t>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4535424"/>
            <a:ext cx="5157216" cy="512064"/>
          </a:xfrm>
          <a:prstGeom prst="roundRect">
            <a:avLst/>
          </a:prstGeom>
          <a:solidFill>
            <a:srgbClr val="E7F0EB"/>
          </a:solidFill>
          <a:ln w="1016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0472" y="4572000"/>
            <a:ext cx="5010912" cy="438912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12304A"/>
                </a:solidFill>
                <a:latin typeface="Liberation Mono"/>
              </a:rPr>
              <a:t>ULOOP  ( n[1] -- n[1] 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07808" y="1874519"/>
            <a:ext cx="3977639" cy="3456432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82127" y="2139696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6A2B"/>
                </a:solidFill>
                <a:latin typeface="Liberation Sans"/>
              </a:rPr>
              <a:t>WHAT THIS RESULT SAYS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2688336"/>
            <a:ext cx="3337560" cy="2148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Useful: </a:t>
            </a:r>
            <a:r>
              <a:rPr sz="1320">
                <a:solidFill>
                  <a:srgbClr val="27343C"/>
                </a:solidFill>
                <a:latin typeface="Liberation Sans"/>
              </a:rPr>
              <a:t>detects many bodies that grow, shrink, or change incompatibly on a second pass.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Local only: </a:t>
            </a:r>
            <a:r>
              <a:rPr sz="1320">
                <a:solidFill>
                  <a:srgbClr val="27343C"/>
                </a:solidFill>
                <a:latin typeface="Liberation Sans"/>
              </a:rPr>
              <a:t>the duplicated copy feeds 0= and UNTIL; the original n remains.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320" b="1">
                <a:solidFill>
                  <a:srgbClr val="C46A2B"/>
                </a:solidFill>
                <a:latin typeface="Liberation Sans"/>
              </a:rPr>
              <a:t>• </a:t>
            </a:r>
            <a:r>
              <a:rPr sz="1320" b="1">
                <a:solidFill>
                  <a:srgbClr val="27343C"/>
                </a:solidFill>
                <a:latin typeface="Liberation Sans"/>
              </a:rPr>
              <a:t>Not proved: </a:t>
            </a:r>
            <a:r>
              <a:rPr sz="1320">
                <a:solidFill>
                  <a:srgbClr val="27343C"/>
                </a:solidFill>
                <a:latin typeface="Liberation Sans"/>
              </a:rPr>
              <a:t>termination, every iteration count, or a general inductive loop invariant.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669280"/>
            <a:ext cx="11055096" cy="530352"/>
          </a:xfrm>
          <a:prstGeom prst="roundRect">
            <a:avLst/>
          </a:prstGeom>
          <a:solidFill>
            <a:srgbClr val="F7ECE1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68756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C46A2B"/>
                </a:solidFill>
                <a:latin typeface="Liberation Sans"/>
              </a:rPr>
              <a:t>Treat the reported loop effect as a finite stack-stability approximation, not as full loop verification.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SPECIFICATION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Forth source behavior is part of the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152144"/>
            <a:ext cx="5431536" cy="4443984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417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WORD ENTRIES COMBINE TWO KINDS OF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" y="1920240"/>
            <a:ext cx="4892040" cy="1847088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56816"/>
            <a:ext cx="4745736" cy="1773936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20" b="1" i="0">
                <a:solidFill>
                  <a:srgbClr val="12304A"/>
                </a:solidFill>
                <a:latin typeface="Liberation Mono"/>
              </a:rPr>
              <a:t>"("  parse until ")"        ( -- )
:    parse word define colon  ( -- )
;    control end              ( -- )
literal integer               ( -- n 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87368"/>
            <a:ext cx="102412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D6684"/>
                </a:solidFill>
                <a:latin typeface="Liberation Sans"/>
              </a:rPr>
              <a:t>Metadata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1952" y="4059936"/>
            <a:ext cx="3675887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says how the source reader consumes names, delimiters, and definition boundaries.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73168"/>
            <a:ext cx="13533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A3548"/>
                </a:solidFill>
                <a:latin typeface="Liberation Sans"/>
              </a:rPr>
              <a:t>The ( -- ) part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4736592"/>
            <a:ext cx="3346704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7343C"/>
                </a:solidFill>
                <a:latin typeface="Liberation Sans"/>
              </a:rPr>
              <a:t>is the modeled runtime data-stack effect; it does not mean that : or ; has no compile-time job.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152144"/>
            <a:ext cx="5376672" cy="4443984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83096" y="14173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E7C86"/>
                </a:solidFill>
                <a:latin typeface="Liberation Sans"/>
              </a:rPr>
              <a:t>CONTROL SYNTAX AND ITS EFFECT RECIPE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1920240"/>
            <a:ext cx="4846320" cy="2322576"/>
          </a:xfrm>
          <a:prstGeom prst="roundRect">
            <a:avLst/>
          </a:prstGeom>
          <a:solidFill>
            <a:srgbClr val="FFFDFC"/>
          </a:solidFill>
          <a:ln w="1016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1956816"/>
            <a:ext cx="4700016" cy="2249424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2304A"/>
                </a:solidFill>
                <a:latin typeface="Liberation Mono"/>
              </a:rPr>
              <a:t>syntax:
  IF &lt;then branch&gt;
  [ELSE &lt;else branch&gt;] FI
effect:
  IF
  either &lt;then branch&gt; &lt;else branch&gt;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553712"/>
            <a:ext cx="47091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7343C"/>
                </a:solidFill>
                <a:latin typeface="Liberation Sans"/>
              </a:rPr>
              <a:t>The syntax block captures source regions. The effect block combines their inferred summaries by sequencing, either, or repeat.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742432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760720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Ordinary stack comments are consumed but not trusted; only a recognized locals declaration may provide a provisional shape.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WHAT THE PROJECT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Results in the supplied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07008"/>
            <a:ext cx="3246120" cy="199339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1353312" cy="274320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135331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Liberation Sans"/>
              </a:rPr>
              <a:t>STRAIGHT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0136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1 2 + DUP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Liberation Mono"/>
              </a:rPr>
              <a:t>( -- n[1] n[1]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24328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27343C"/>
                </a:solidFill>
                <a:latin typeface="Liberation Sans"/>
              </a:rPr>
              <a:t>type propagation + correlated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2232" y="1207008"/>
            <a:ext cx="3246120" cy="1993392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6824" y="1371600"/>
            <a:ext cx="1170432" cy="274320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06824" y="1371600"/>
            <a:ext cx="117043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Liberation Sans"/>
              </a:rPr>
              <a:t>SUBTYPING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25112" y="180136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DP C@ 0=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176272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D6684"/>
                </a:solidFill>
                <a:latin typeface="Liberation Mono"/>
              </a:rPr>
              <a:t>( -- flag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2624328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27343C"/>
                </a:solidFill>
                <a:latin typeface="Liberation Sans"/>
              </a:rPr>
              <a:t>a-addr accepted where c-addr is required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7536" y="1207008"/>
            <a:ext cx="3246120" cy="1993392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82127" y="1371600"/>
            <a:ext cx="1170432" cy="274320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82127" y="1371600"/>
            <a:ext cx="117043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Liberation Sans"/>
              </a:rPr>
              <a:t>DEFINITION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0415" y="1801368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PEEK2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7" y="2176272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30" b="1" i="0">
                <a:solidFill>
                  <a:srgbClr val="C46A2B"/>
                </a:solidFill>
                <a:latin typeface="Liberation Mono"/>
              </a:rPr>
              <a:t>( a-addr[1] -- X[2] X 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2624328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27343C"/>
                </a:solidFill>
                <a:latin typeface="Liberation Sans"/>
              </a:rPr>
              <a:t>requirements inferred backward through shuffles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502152"/>
            <a:ext cx="3246120" cy="1993392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3666744"/>
            <a:ext cx="1170432" cy="274320"/>
          </a:xfrm>
          <a:prstGeom prst="roundRect">
            <a:avLst/>
          </a:prstGeom>
          <a:solidFill>
            <a:srgbClr val="3D7C62"/>
          </a:solidFill>
          <a:ln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66744"/>
            <a:ext cx="117043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Liberation Sans"/>
              </a:rPr>
              <a:t>BRANCH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0965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FUN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471416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3D7C62"/>
                </a:solidFill>
                <a:latin typeface="Liberation Mono"/>
              </a:rPr>
              <a:t>( n flag -- n 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919472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27343C"/>
                </a:solidFill>
                <a:latin typeface="Liberation Sans"/>
              </a:rPr>
              <a:t>different paths, one numeric interface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42232" y="3502152"/>
            <a:ext cx="3246120" cy="1993392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306824" y="3666744"/>
            <a:ext cx="1170432" cy="274320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6824" y="3666744"/>
            <a:ext cx="117043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Liberation Sans"/>
              </a:rPr>
              <a:t>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40965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ULOOP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06824" y="4471416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7C86"/>
                </a:solidFill>
                <a:latin typeface="Liberation Mono"/>
              </a:rPr>
              <a:t>( n[1] -- n[1] 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2544" y="4919472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27343C"/>
                </a:solidFill>
                <a:latin typeface="Liberation Sans"/>
              </a:rPr>
              <a:t>passes the local one-versus-two test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7536" y="3502152"/>
            <a:ext cx="3246120" cy="1993392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882127" y="3666744"/>
            <a:ext cx="1353312" cy="274320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82127" y="3666744"/>
            <a:ext cx="1353312" cy="274320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Liberation Sans"/>
              </a:rPr>
              <a:t>DIAGNOSTIC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0415" y="4096512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Mono"/>
              </a:rPr>
              <a:t>C@ !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82127" y="4471416"/>
            <a:ext cx="29169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9A3548"/>
                </a:solidFill>
                <a:latin typeface="Liberation Mono"/>
              </a:rPr>
              <a:t>char  ×  a-addr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27848" y="4919472"/>
            <a:ext cx="2825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0" b="0" i="0">
                <a:solidFill>
                  <a:srgbClr val="27343C"/>
                </a:solidFill>
                <a:latin typeface="Liberation Sans"/>
              </a:rPr>
              <a:t>incompatible boundary reported at source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80644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9808" y="5824727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 i="0">
                <a:solidFill>
                  <a:srgbClr val="12304A"/>
                </a:solidFill>
                <a:latin typeface="Liberation Sans"/>
              </a:rPr>
              <a:t>Together these cases show stack shape, subtype boundaries, identity flow, inferred definitions, structured control, and source diagnostics.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SCOPE AND TRUST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What acceptance means—and what it does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" y="1170432"/>
            <a:ext cx="5349240" cy="4297680"/>
          </a:xfrm>
          <a:prstGeom prst="roundRect">
            <a:avLst/>
          </a:prstGeom>
          <a:solidFill>
            <a:srgbClr val="E7F0EB"/>
          </a:solidFill>
          <a:ln w="12700">
            <a:solidFill>
              <a:srgbClr val="3D7C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48132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7C62"/>
                </a:solidFill>
                <a:latin typeface="Liberation Sans"/>
              </a:rPr>
              <a:t>ACCEPTANCE SUPPORTS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993392"/>
            <a:ext cx="4718304" cy="2514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Declared word effects compose without a modeled clash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Every checked branch receives one implemented common effect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Every checked loop passes the local one-versus-two test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3D7C62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Source structure, parser roles, and compilation state fit the active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18888"/>
            <a:ext cx="468172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3D7C62"/>
                </a:solidFill>
                <a:latin typeface="Liberation Sans"/>
              </a:rPr>
              <a:t>Useful as executable stack-effect documentation.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170432"/>
            <a:ext cx="5349240" cy="4297680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1481328"/>
            <a:ext cx="4800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3548"/>
                </a:solidFill>
                <a:latin typeface="Liberation Sans"/>
              </a:rPr>
              <a:t>ACCEPTANCE DOES NOT PROVE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1993392"/>
            <a:ext cx="4718304" cy="2514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That trusted primitive and parser declarations match runtime behavior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A sound path-sensitive summary for every branch shuffle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Termination or an inductive invariant for arbitrary loop counts</a:t>
            </a:r>
          </a:p>
          <a:p>
            <a:pPr>
              <a:lnSpc>
                <a:spcPct val="100000"/>
              </a:lnSpc>
              <a:spcAft>
                <a:spcPts val="1000"/>
              </a:spcAft>
            </a:pPr>
            <a:r>
              <a:rPr sz="1420" b="1">
                <a:solidFill>
                  <a:srgbClr val="9A3548"/>
                </a:solidFill>
                <a:latin typeface="Liberation Sans"/>
              </a:rPr>
              <a:t>• </a:t>
            </a:r>
            <a:r>
              <a:rPr sz="1420">
                <a:solidFill>
                  <a:srgbClr val="27343C"/>
                </a:solidFill>
                <a:latin typeface="Liberation Sans"/>
              </a:rPr>
              <a:t>Unrestricted EXECUTE, return-stack tricks, non-local THROW, or metaprogramming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4818888"/>
            <a:ext cx="46634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9A3548"/>
                </a:solidFill>
                <a:latin typeface="Liberation Sans"/>
              </a:rPr>
              <a:t>Use alongside tests, review, and target-system knowledge.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724144"/>
            <a:ext cx="11055096" cy="530352"/>
          </a:xfrm>
          <a:prstGeom prst="roundRect">
            <a:avLst/>
          </a:prstGeom>
          <a:solidFill>
            <a:srgbClr val="F7ECE1"/>
          </a:solidFill>
          <a:ln w="1016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5742431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 i="0">
                <a:solidFill>
                  <a:srgbClr val="C46A2B"/>
                </a:solidFill>
                <a:latin typeface="Liberation Sans"/>
              </a:rPr>
              <a:t>Known implementation gaps include lossy identity compaction, some top-level linear clashes, and unequal-depth branch alignment.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30352" y="228600"/>
            <a:ext cx="11128248" cy="0"/>
          </a:xfrm>
          <a:prstGeom prst="line">
            <a:avLst/>
          </a:prstGeom>
          <a:ln w="22860">
            <a:solidFill>
              <a:srgbClr val="0E7C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30352" y="347472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3548"/>
                </a:solidFill>
                <a:latin typeface="Liberation Sans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21207"/>
            <a:ext cx="105613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2304A"/>
                </a:solidFill>
                <a:latin typeface="Liberation Sans"/>
              </a:rPr>
              <a:t>Summary: from comments to checkable stack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29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A3548"/>
                </a:solidFill>
                <a:latin typeface="Liberation Mono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83680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STATIC TYPE CHECKING FOR FORTH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6539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1" i="0">
                <a:solidFill>
                  <a:srgbClr val="5E6B73"/>
                </a:solidFill>
                <a:latin typeface="Liberation San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115568"/>
            <a:ext cx="10268712" cy="658368"/>
          </a:xfrm>
          <a:prstGeom prst="roundRect">
            <a:avLst/>
          </a:prstGeom>
          <a:solidFill>
            <a:srgbClr val="E8F0F5"/>
          </a:solidFill>
          <a:ln w="1016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1152144"/>
            <a:ext cx="10122408" cy="585216"/>
          </a:xfrm>
          <a:prstGeom prst="rect">
            <a:avLst/>
          </a:prstGeom>
          <a:noFill/>
        </p:spPr>
        <p:txBody>
          <a:bodyPr wrap="square" lIns="128016" rIns="128016" tIns="128016" bIns="12801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2304A"/>
                </a:solidFill>
                <a:latin typeface="Liberation Mono"/>
              </a:rPr>
              <a:t>types  +  specifications  +  source   →   inferred effects or diagnostics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011680"/>
            <a:ext cx="10268712" cy="694944"/>
          </a:xfrm>
          <a:prstGeom prst="roundRect">
            <a:avLst/>
          </a:prstGeom>
          <a:solidFill>
            <a:srgbClr val="E6F1F1"/>
          </a:solidFill>
          <a:ln w="12700"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185416"/>
            <a:ext cx="384048" cy="329184"/>
          </a:xfrm>
          <a:prstGeom prst="roundRect">
            <a:avLst/>
          </a:prstGeom>
          <a:solidFill>
            <a:srgbClr val="0E7C86"/>
          </a:solidFill>
          <a:ln>
            <a:solidFill>
              <a:srgbClr val="0E7C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185416"/>
            <a:ext cx="38404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19072" y="2176272"/>
            <a:ext cx="2450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Familiar notation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130552"/>
            <a:ext cx="65836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>
                <a:solidFill>
                  <a:srgbClr val="27343C"/>
                </a:solidFill>
                <a:latin typeface="Liberation Sans"/>
              </a:rPr>
              <a:t>A symbolic effect states the required and produced visible stack suffix; the deeper frame is implicit.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2907792"/>
            <a:ext cx="10268712" cy="694944"/>
          </a:xfrm>
          <a:prstGeom prst="roundRect">
            <a:avLst/>
          </a:prstGeom>
          <a:solidFill>
            <a:srgbClr val="E8F0F5"/>
          </a:solidFill>
          <a:ln w="12700"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43000" y="3081528"/>
            <a:ext cx="384048" cy="329184"/>
          </a:xfrm>
          <a:prstGeom prst="roundRect">
            <a:avLst/>
          </a:prstGeom>
          <a:solidFill>
            <a:srgbClr val="2D6684"/>
          </a:solidFill>
          <a:ln>
            <a:solidFill>
              <a:srgbClr val="2D66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081528"/>
            <a:ext cx="38404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19072" y="3072384"/>
            <a:ext cx="2450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More than depth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3026664"/>
            <a:ext cx="65836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>
                <a:solidFill>
                  <a:srgbClr val="27343C"/>
                </a:solidFill>
                <a:latin typeface="Liberation Sans"/>
              </a:rPr>
              <a:t>Profile-defined types and indexed identities preserve compatibility and value flow through stack shuffles.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3803904"/>
            <a:ext cx="10268712" cy="694944"/>
          </a:xfrm>
          <a:prstGeom prst="roundRect">
            <a:avLst/>
          </a:prstGeom>
          <a:solidFill>
            <a:srgbClr val="F7ECE1"/>
          </a:solidFill>
          <a:ln w="12700"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143000" y="3977640"/>
            <a:ext cx="384048" cy="329184"/>
          </a:xfrm>
          <a:prstGeom prst="roundRect">
            <a:avLst/>
          </a:prstGeom>
          <a:solidFill>
            <a:srgbClr val="C46A2B"/>
          </a:solidFill>
          <a:ln>
            <a:solidFill>
              <a:srgbClr val="C46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3977640"/>
            <a:ext cx="38404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19072" y="3968496"/>
            <a:ext cx="2450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Three executable 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3922776"/>
            <a:ext cx="65836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>
                <a:solidFill>
                  <a:srgbClr val="27343C"/>
                </a:solidFill>
                <a:latin typeface="Liberation Sans"/>
              </a:rPr>
              <a:t>Composition checks sequences, a common effect summarizes branches, and one-versus-two approximates repetition.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700016"/>
            <a:ext cx="10268712" cy="694944"/>
          </a:xfrm>
          <a:prstGeom prst="roundRect">
            <a:avLst/>
          </a:prstGeom>
          <a:solidFill>
            <a:srgbClr val="F5E7E8"/>
          </a:solidFill>
          <a:ln w="12700"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143000" y="4873752"/>
            <a:ext cx="384048" cy="329184"/>
          </a:xfrm>
          <a:prstGeom prst="roundRect">
            <a:avLst/>
          </a:prstGeom>
          <a:solidFill>
            <a:srgbClr val="9A3548"/>
          </a:solidFill>
          <a:ln>
            <a:solidFill>
              <a:srgbClr val="9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873752"/>
            <a:ext cx="384048" cy="329184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19072" y="4864607"/>
            <a:ext cx="24505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A practical source checker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15968" y="4818888"/>
            <a:ext cx="658368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0" b="0" i="0">
                <a:solidFill>
                  <a:srgbClr val="27343C"/>
                </a:solidFill>
                <a:latin typeface="Liberation Sans"/>
              </a:rPr>
              <a:t>Profiles describe parsing and control; definitions are inferred; clashes receive source-oriented diagnostics.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715000"/>
            <a:ext cx="11055096" cy="530352"/>
          </a:xfrm>
          <a:prstGeom prst="roundRect">
            <a:avLst/>
          </a:prstGeom>
          <a:solidFill>
            <a:srgbClr val="E6F1F1"/>
          </a:solidFill>
          <a:ln w="10160">
            <a:solidFill>
              <a:srgbClr val="58AE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733288"/>
            <a:ext cx="10689336" cy="4846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2304A"/>
                </a:solidFill>
                <a:latin typeface="Liberation Sans"/>
              </a:rPr>
              <a:t>Best interpretation: executable stack-effect documentation with useful static diagnostics and clearly bounded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Type Checking for Forth</dc:title>
  <dc:subject>Making stack-effect specifications executable</dc:subject>
  <dc:creator>Jaanus Pöial</dc:creator>
  <cp:keywords>Forth, static type checking, stack effects, symbolic analysis</cp:keywords>
  <dc:description>Improved self-explanatory presentation generated from the project materials.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
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jpeg" ContentType="image/jpeg"/>
  <Override PartName="/ppt/media/image2.jpeg" ContentType="image/jpeg"/>
  <Override PartName="/ppt/media/image3.jpeg" ContentType="image/jpeg"/>
  <Override PartName="/ppt/media/image4.jpeg" ContentType="image/jpeg"/>
  <Override PartName="/ppt/media/image5.png" ContentType="image/png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9144000" cy="5143500"/>
  <p:notesSz cx="51435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õ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p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a 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i 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t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l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d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i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s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k</a:t>
            </a: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s</a:t>
            </a:r>
            <a:endParaRPr b="0" lang="et-E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t-EE" sz="2000" spc="-1" strike="noStrike">
                <a:solidFill>
                  <a:srgbClr val="000000"/>
                </a:solidFill>
                <a:latin typeface="Arial"/>
              </a:rPr>
              <a:t>Klõpsa märkmete vormingu redigeerimiseks</a:t>
            </a:r>
            <a:endParaRPr b="0" lang="et-EE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t-EE" sz="1400" spc="-1" strike="noStrike">
                <a:solidFill>
                  <a:srgbClr val="000000"/>
                </a:solidFill>
                <a:latin typeface="Times New Roman"/>
              </a:rPr>
              <a:t>&lt;päis&gt;</a:t>
            </a:r>
            <a:endParaRPr b="0" lang="et-E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t-E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t-EE" sz="1400" spc="-1" strike="noStrike">
                <a:solidFill>
                  <a:srgbClr val="000000"/>
                </a:solidFill>
                <a:latin typeface="Times New Roman"/>
              </a:rPr>
              <a:t>&lt;kuupäev/kellaaeg›</a:t>
            </a:r>
            <a:endParaRPr b="0" lang="et-E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t-E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t-EE" sz="1400" spc="-1" strike="noStrike">
                <a:solidFill>
                  <a:srgbClr val="000000"/>
                </a:solidFill>
                <a:latin typeface="Times New Roman"/>
              </a:rPr>
              <a:t>&lt;jalus&gt;</a:t>
            </a:r>
            <a:endParaRPr b="0" lang="et-EE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t-EE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FE9EC93D-113D-4A1B-B5BC-6EF3CEEEEEE4}" type="slidenum">
              <a:rPr b="0" lang="et-EE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t-EE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C997E79-DE0C-4D56-8EEA-355D8A84B17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0CA173C-9885-4FE4-B417-1D557031F99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671D255-4E02-4E25-B329-4546B521057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09AF94B-3140-44E8-9ED4-FF815A69CDA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625446E-CFD5-44CD-8756-95375897A5D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8FCCFF2-B0AD-4AD2-991A-0899D8EE5314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14BF3D-7E94-4C2C-AFDB-489BC429C28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DD3EDF5-B978-4C38-856E-CC433542427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2BC0522-96C8-47E6-972C-97DE605D8AE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56E9566-DD5B-4253-8934-F953BE25E46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t-EE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t-EE" sz="1800" spc="-1" strike="noStrike">
                <a:solidFill>
                  <a:schemeClr val="dk1"/>
                </a:solidFill>
                <a:latin typeface="Calibri"/>
              </a:rPr>
              <a:t>Klõpsa tiitli tekstivormingu redigeerimiseks</a:t>
            </a:r>
            <a:endParaRPr b="0" lang="et-E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6865" lnSpcReduction="10000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t-EE" sz="3200" spc="-1" strike="noStrike">
                <a:solidFill>
                  <a:schemeClr val="dk1"/>
                </a:solidFill>
                <a:latin typeface="Calibri"/>
              </a:rPr>
              <a:t>Klõpsa liigenduse tekstivormingu redigeerimiseks</a:t>
            </a:r>
            <a:endParaRPr b="0" lang="et-EE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t-EE" sz="2400" spc="-1" strike="noStrike">
                <a:solidFill>
                  <a:schemeClr val="dk1"/>
                </a:solidFill>
                <a:latin typeface="Calibri"/>
              </a:rPr>
              <a:t>Teine liigendustase</a:t>
            </a:r>
            <a:endParaRPr b="0" lang="et-EE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t-EE" sz="2000" spc="-1" strike="noStrike">
                <a:solidFill>
                  <a:schemeClr val="dk1"/>
                </a:solidFill>
                <a:latin typeface="Calibri"/>
              </a:rPr>
              <a:t>Kolmas liigendustase</a:t>
            </a:r>
            <a:endParaRPr b="0" lang="et-EE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t-EE" sz="2000" spc="-1" strike="noStrike">
                <a:solidFill>
                  <a:schemeClr val="dk1"/>
                </a:solidFill>
                <a:latin typeface="Calibri"/>
              </a:rPr>
              <a:t>Neljas liigendustase</a:t>
            </a:r>
            <a:endParaRPr b="0" lang="et-EE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t-EE" sz="2000" spc="-1" strike="noStrike">
                <a:solidFill>
                  <a:schemeClr val="dk1"/>
                </a:solidFill>
                <a:latin typeface="Calibri"/>
              </a:rPr>
              <a:t>Viies liigendustase</a:t>
            </a:r>
            <a:endParaRPr b="0" lang="et-EE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t-EE" sz="2000" spc="-1" strike="noStrike">
                <a:solidFill>
                  <a:schemeClr val="dk1"/>
                </a:solidFill>
                <a:latin typeface="Calibri"/>
              </a:rPr>
              <a:t>Kuues liigendustase</a:t>
            </a:r>
            <a:endParaRPr b="0" lang="et-EE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t-EE" sz="2000" spc="-1" strike="noStrike">
                <a:solidFill>
                  <a:schemeClr val="dk1"/>
                </a:solidFill>
                <a:latin typeface="Calibri"/>
              </a:rPr>
              <a:t>Seitsmes liigendustase</a:t>
            </a:r>
            <a:endParaRPr b="0" lang="et-EE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4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9" name="Text 1"/>
          <p:cNvSpPr/>
          <p:nvPr/>
        </p:nvSpPr>
        <p:spPr>
          <a:xfrm>
            <a:off x="657360" y="1232280"/>
            <a:ext cx="564336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80000"/>
              </a:lnSpc>
              <a:tabLst>
                <a:tab algn="l" pos="0"/>
              </a:tabLst>
            </a:pPr>
            <a:r>
              <a:rPr b="1" lang="en-US" sz="3300" spc="-4" strike="noStrike">
                <a:solidFill>
                  <a:srgbClr val="123159"/>
                </a:solidFill>
                <a:latin typeface="Courier New"/>
                <a:ea typeface="Courier New"/>
              </a:rPr>
              <a:t>Static Type Checking for Forth</a:t>
            </a:r>
            <a:endParaRPr b="0" lang="et-EE" sz="3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Text 4"/>
          <p:cNvSpPr/>
          <p:nvPr/>
        </p:nvSpPr>
        <p:spPr>
          <a:xfrm>
            <a:off x="8426160" y="1505880"/>
            <a:ext cx="138240" cy="33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r" defTabSz="914400">
              <a:lnSpc>
                <a:spcPct val="124000"/>
              </a:lnSpc>
              <a:tabLst>
                <a:tab algn="l" pos="0"/>
              </a:tabLst>
            </a:pP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Text 6"/>
          <p:cNvSpPr/>
          <p:nvPr/>
        </p:nvSpPr>
        <p:spPr>
          <a:xfrm>
            <a:off x="1305720" y="2760120"/>
            <a:ext cx="3914280" cy="2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900" spc="-1" strike="noStrike">
                <a:solidFill>
                  <a:srgbClr val="123159"/>
                </a:solidFill>
                <a:latin typeface="Courier New"/>
                <a:ea typeface="Courier New"/>
              </a:rPr>
              <a:t>Jaanus Pöial</a:t>
            </a:r>
            <a:endParaRPr b="0" lang="et-EE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2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71a20"/>
                </a:solidFill>
                <a:latin typeface="Courier New"/>
                <a:ea typeface="Courier New"/>
              </a:rPr>
              <a:t>Tallinn University of Technology</a:t>
            </a:r>
            <a:endParaRPr b="0" lang="et-EE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Text 7"/>
          <p:cNvSpPr/>
          <p:nvPr/>
        </p:nvSpPr>
        <p:spPr>
          <a:xfrm>
            <a:off x="4572000" y="4531320"/>
            <a:ext cx="3914280" cy="29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900" spc="-1" strike="noStrike">
                <a:solidFill>
                  <a:srgbClr val="123159"/>
                </a:solidFill>
                <a:latin typeface="Courier New"/>
                <a:ea typeface="Courier New"/>
              </a:rPr>
              <a:t>IMPLEMENTATION</a:t>
            </a:r>
            <a:endParaRPr b="0" lang="et-EE" sz="9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2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71a20"/>
                </a:solidFill>
                <a:latin typeface="Courier New"/>
                <a:ea typeface="Courier New"/>
              </a:rPr>
              <a:t>gforth-evaluator.fs</a:t>
            </a:r>
            <a:endParaRPr b="0" lang="et-EE" sz="9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14" name="Text 0"/>
          <p:cNvSpPr/>
          <p:nvPr/>
        </p:nvSpPr>
        <p:spPr>
          <a:xfrm>
            <a:off x="657360" y="299880"/>
            <a:ext cx="7667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83000"/>
              </a:lnSpc>
              <a:tabLst>
                <a:tab algn="l" pos="0"/>
              </a:tabLst>
            </a:pPr>
            <a:r>
              <a:rPr b="1" lang="en-US" sz="2950" spc="-4" strike="noStrike">
                <a:solidFill>
                  <a:srgbClr val="123159"/>
                </a:solidFill>
                <a:latin typeface="Courier New"/>
                <a:ea typeface="Courier New"/>
              </a:rPr>
              <a:t>Defining the stack effect calculus</a:t>
            </a:r>
            <a:endParaRPr b="0" lang="et-EE" sz="2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8340480" y="299880"/>
            <a:ext cx="130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10224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2638"/>
                </a:solidFill>
                <a:latin typeface="Courier New"/>
                <a:ea typeface="Courier New"/>
              </a:rPr>
              <a:t>01</a:t>
            </a:r>
            <a:endParaRPr b="0" lang="et-E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3664440" y="1476000"/>
            <a:ext cx="18144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7a2638"/>
                </a:solidFill>
                <a:latin typeface="Courier New"/>
                <a:ea typeface="Courier New"/>
              </a:rPr>
              <a:t>SET OF STACK EFFECTS</a:t>
            </a:r>
            <a:endParaRPr b="0" lang="et-EE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Text 3"/>
          <p:cNvSpPr/>
          <p:nvPr/>
        </p:nvSpPr>
        <p:spPr>
          <a:xfrm>
            <a:off x="2246760" y="1715400"/>
            <a:ext cx="4650480" cy="38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159"/>
                </a:solidFill>
                <a:latin typeface="Courier New"/>
                <a:ea typeface="Courier New"/>
              </a:rPr>
              <a:t>S = ( T* × T* ) </a:t>
            </a:r>
            <a:r>
              <a:rPr b="1" lang="en-US" sz="2550" spc="-1" strike="noStrike">
                <a:solidFill>
                  <a:srgbClr val="171a20"/>
                </a:solidFill>
                <a:latin typeface="Courier New"/>
                <a:ea typeface="Courier New"/>
              </a:rPr>
              <a:t>∪</a:t>
            </a:r>
            <a:r>
              <a:rPr b="1" lang="en-US" sz="2550" spc="-1" strike="noStrike">
                <a:solidFill>
                  <a:srgbClr val="123159"/>
                </a:solidFill>
                <a:latin typeface="Courier New"/>
                <a:ea typeface="Courier New"/>
              </a:rPr>
              <a:t> { Ø }</a:t>
            </a:r>
            <a:endParaRPr b="0" lang="et-EE" sz="2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657360" y="2518920"/>
            <a:ext cx="24667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7a2638"/>
                </a:solidFill>
                <a:latin typeface="Courier New"/>
                <a:ea typeface="Courier New"/>
              </a:rPr>
              <a:t>T*</a:t>
            </a:r>
            <a:endParaRPr b="0" lang="et-EE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657360" y="2790360"/>
            <a:ext cx="2466720" cy="65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92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71a20"/>
                </a:solidFill>
                <a:latin typeface="Georgia"/>
                <a:ea typeface="Georgia"/>
              </a:rPr>
              <a:t>A finite list of operand types, with the top of stack on the right.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Text 6"/>
          <p:cNvSpPr/>
          <p:nvPr/>
        </p:nvSpPr>
        <p:spPr>
          <a:xfrm>
            <a:off x="3488400" y="2518920"/>
            <a:ext cx="22453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7a2638"/>
                </a:solidFill>
                <a:latin typeface="Courier New"/>
                <a:ea typeface="Courier New"/>
              </a:rPr>
              <a:t>Ø</a:t>
            </a:r>
            <a:endParaRPr b="0" lang="et-EE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Text 7"/>
          <p:cNvSpPr/>
          <p:nvPr/>
        </p:nvSpPr>
        <p:spPr>
          <a:xfrm>
            <a:off x="3488400" y="2790360"/>
            <a:ext cx="22453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92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71a20"/>
                </a:solidFill>
                <a:latin typeface="Georgia"/>
                <a:ea typeface="Georgia"/>
              </a:rPr>
              <a:t>The distinguished stack-error element.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Text 8"/>
          <p:cNvSpPr/>
          <p:nvPr/>
        </p:nvSpPr>
        <p:spPr>
          <a:xfrm>
            <a:off x="6098400" y="2518920"/>
            <a:ext cx="2245320" cy="17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-1" strike="noStrike">
                <a:solidFill>
                  <a:srgbClr val="7a2638"/>
                </a:solidFill>
                <a:latin typeface="Courier New"/>
                <a:ea typeface="Courier New"/>
              </a:rPr>
              <a:t>1 = ( -- )</a:t>
            </a:r>
            <a:endParaRPr b="0" lang="et-EE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Text 9"/>
          <p:cNvSpPr/>
          <p:nvPr/>
        </p:nvSpPr>
        <p:spPr>
          <a:xfrm>
            <a:off x="6098400" y="2790360"/>
            <a:ext cx="224532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92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71a20"/>
                </a:solidFill>
                <a:latin typeface="Georgia"/>
                <a:ea typeface="Georgia"/>
              </a:rPr>
              <a:t>The unity effect for composition.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657360" y="4090680"/>
            <a:ext cx="7829280" cy="64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1"/>
          <p:cNvSpPr/>
          <p:nvPr/>
        </p:nvSpPr>
        <p:spPr>
          <a:xfrm>
            <a:off x="657360" y="4090680"/>
            <a:ext cx="7829280" cy="6840"/>
          </a:xfrm>
          <a:prstGeom prst="rect">
            <a:avLst/>
          </a:prstGeom>
          <a:solidFill>
            <a:srgbClr val="171a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2"/>
          <p:cNvSpPr/>
          <p:nvPr/>
        </p:nvSpPr>
        <p:spPr>
          <a:xfrm>
            <a:off x="657360" y="4090680"/>
            <a:ext cx="7829280" cy="60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2240" bIns="0" anchor="t">
            <a:spAutoFit/>
          </a:bodyPr>
          <a:p>
            <a:pPr defTabSz="914400">
              <a:lnSpc>
                <a:spcPct val="104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123159"/>
                </a:solidFill>
                <a:latin typeface="Georgia"/>
                <a:ea typeface="Georgia"/>
              </a:rPr>
              <a:t>With composition, </a:t>
            </a:r>
            <a:r>
              <a:rPr b="1" lang="en-US" sz="1500" spc="-1" strike="noStrike">
                <a:solidFill>
                  <a:srgbClr val="123159"/>
                </a:solidFill>
                <a:latin typeface="Georgia"/>
                <a:ea typeface="Georgia"/>
              </a:rPr>
              <a:t>S</a:t>
            </a:r>
            <a:r>
              <a:rPr b="0" lang="en-US" sz="1600" spc="-1" strike="noStrike">
                <a:solidFill>
                  <a:srgbClr val="123159"/>
                </a:solidFill>
                <a:latin typeface="Georgia"/>
                <a:ea typeface="Georgia"/>
              </a:rPr>
              <a:t> forms a polycyclic monoid: the mathematical basis for static checking.</a:t>
            </a:r>
            <a:endParaRPr b="0" lang="et-EE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28" name="Text 0"/>
          <p:cNvSpPr/>
          <p:nvPr/>
        </p:nvSpPr>
        <p:spPr>
          <a:xfrm>
            <a:off x="778680" y="299880"/>
            <a:ext cx="606492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83000"/>
              </a:lnSpc>
              <a:tabLst>
                <a:tab algn="l" pos="0"/>
              </a:tabLst>
            </a:pPr>
            <a:r>
              <a:rPr b="1" lang="en-US" sz="2950" spc="-4" strike="noStrike">
                <a:solidFill>
                  <a:srgbClr val="123159"/>
                </a:solidFill>
                <a:latin typeface="Courier New"/>
                <a:ea typeface="Courier New"/>
              </a:rPr>
              <a:t>Defining the type hierarchy</a:t>
            </a:r>
            <a:endParaRPr b="0" lang="et-EE" sz="2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Text 1"/>
          <p:cNvSpPr/>
          <p:nvPr/>
        </p:nvSpPr>
        <p:spPr>
          <a:xfrm>
            <a:off x="8340480" y="299880"/>
            <a:ext cx="130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10224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2638"/>
                </a:solidFill>
                <a:latin typeface="Courier New"/>
                <a:ea typeface="Courier New"/>
              </a:rPr>
              <a:t>02</a:t>
            </a:r>
            <a:endParaRPr b="0" lang="et-E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Text 2"/>
          <p:cNvSpPr/>
          <p:nvPr/>
        </p:nvSpPr>
        <p:spPr>
          <a:xfrm>
            <a:off x="657360" y="1214280"/>
            <a:ext cx="37245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7a2638"/>
                </a:solidFill>
                <a:latin typeface="Courier New"/>
                <a:ea typeface="Courier New"/>
              </a:rPr>
              <a:t>PROFILE DECLARATIONS</a:t>
            </a:r>
            <a:endParaRPr b="0" lang="et-E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Text 3"/>
          <p:cNvSpPr/>
          <p:nvPr/>
        </p:nvSpPr>
        <p:spPr>
          <a:xfrm>
            <a:off x="657360" y="1503720"/>
            <a:ext cx="3724560" cy="169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1550" spc="-1" strike="noStrike">
                <a:solidFill>
                  <a:srgbClr val="7a2638"/>
                </a:solidFill>
                <a:latin typeface="Courier New"/>
                <a:ea typeface="Courier New"/>
              </a:rPr>
              <a:t>type</a:t>
            </a:r>
            <a:r>
              <a:rPr b="1" lang="en-US" sz="1550" spc="-1" strike="noStrike">
                <a:solidFill>
                  <a:srgbClr val="123159"/>
                </a:solidFill>
                <a:latin typeface="Courier New"/>
                <a:ea typeface="Courier New"/>
              </a:rPr>
              <a:t> X cell x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1550" spc="-1" strike="noStrike">
                <a:solidFill>
                  <a:srgbClr val="7a2638"/>
                </a:solidFill>
                <a:latin typeface="Courier New"/>
                <a:ea typeface="Courier New"/>
              </a:rPr>
              <a:t>type</a:t>
            </a:r>
            <a:r>
              <a:rPr b="1" lang="en-US" sz="1550" spc="-1" strike="noStrike">
                <a:solidFill>
                  <a:srgbClr val="123159"/>
                </a:solidFill>
                <a:latin typeface="Courier New"/>
                <a:ea typeface="Courier New"/>
              </a:rPr>
              <a:t> addr a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1550" spc="-1" strike="noStrike">
                <a:solidFill>
                  <a:srgbClr val="7a2638"/>
                </a:solidFill>
                <a:latin typeface="Courier New"/>
                <a:ea typeface="Courier New"/>
              </a:rPr>
              <a:t>type</a:t>
            </a:r>
            <a:r>
              <a:rPr b="1" lang="en-US" sz="1550" spc="-1" strike="noStrike">
                <a:solidFill>
                  <a:srgbClr val="123159"/>
                </a:solidFill>
                <a:latin typeface="Courier New"/>
                <a:ea typeface="Courier New"/>
              </a:rPr>
              <a:t> c-addr ca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1550" spc="-1" strike="noStrike">
                <a:solidFill>
                  <a:srgbClr val="7a2638"/>
                </a:solidFill>
                <a:latin typeface="Courier New"/>
                <a:ea typeface="Courier New"/>
              </a:rPr>
              <a:t>type</a:t>
            </a:r>
            <a:r>
              <a:rPr b="1" lang="en-US" sz="1550" spc="-1" strike="noStrike">
                <a:solidFill>
                  <a:srgbClr val="123159"/>
                </a:solidFill>
                <a:latin typeface="Courier New"/>
                <a:ea typeface="Courier New"/>
              </a:rPr>
              <a:t> a-addr aa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1550" spc="-1" strike="noStrike">
                <a:solidFill>
                  <a:srgbClr val="7a2638"/>
                </a:solidFill>
                <a:latin typeface="Courier New"/>
                <a:ea typeface="Courier New"/>
              </a:rPr>
              <a:t>rel</a:t>
            </a:r>
            <a:r>
              <a:rPr b="1" lang="en-US" sz="1550" spc="-1" strike="noStrike">
                <a:solidFill>
                  <a:srgbClr val="123159"/>
                </a:solidFill>
                <a:latin typeface="Courier New"/>
                <a:ea typeface="Courier New"/>
              </a:rPr>
              <a:t> a-addr &lt; c-addr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1550" spc="-1" strike="noStrike">
                <a:solidFill>
                  <a:srgbClr val="7a2638"/>
                </a:solidFill>
                <a:latin typeface="Courier New"/>
                <a:ea typeface="Courier New"/>
              </a:rPr>
              <a:t>rel</a:t>
            </a:r>
            <a:r>
              <a:rPr b="1" lang="en-US" sz="1550" spc="-1" strike="noStrike">
                <a:solidFill>
                  <a:srgbClr val="123159"/>
                </a:solidFill>
                <a:latin typeface="Courier New"/>
                <a:ea typeface="Courier New"/>
              </a:rPr>
              <a:t> c-addr &lt; addr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18000"/>
              </a:lnSpc>
              <a:tabLst>
                <a:tab algn="l" pos="0"/>
              </a:tabLst>
            </a:pPr>
            <a:r>
              <a:rPr b="1" lang="en-US" sz="1550" spc="-1" strike="noStrike">
                <a:solidFill>
                  <a:srgbClr val="7a2638"/>
                </a:solidFill>
                <a:latin typeface="Courier New"/>
                <a:ea typeface="Courier New"/>
              </a:rPr>
              <a:t>rel</a:t>
            </a:r>
            <a:r>
              <a:rPr b="1" lang="en-US" sz="1550" spc="-1" strike="noStrike">
                <a:solidFill>
                  <a:srgbClr val="123159"/>
                </a:solidFill>
                <a:latin typeface="Courier New"/>
                <a:ea typeface="Courier New"/>
              </a:rPr>
              <a:t> addr &lt; X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Text 4"/>
          <p:cNvSpPr/>
          <p:nvPr/>
        </p:nvSpPr>
        <p:spPr>
          <a:xfrm>
            <a:off x="5217840" y="1542960"/>
            <a:ext cx="32684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7a2638"/>
                </a:solidFill>
                <a:latin typeface="Courier New"/>
                <a:ea typeface="Courier New"/>
              </a:rPr>
              <a:t>RESULTING COMPATIBILITY CHAIN</a:t>
            </a:r>
            <a:endParaRPr b="0" lang="et-E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Text 5"/>
          <p:cNvSpPr/>
          <p:nvPr/>
        </p:nvSpPr>
        <p:spPr>
          <a:xfrm>
            <a:off x="5217840" y="1832400"/>
            <a:ext cx="3268440" cy="13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1" lang="en-US" sz="2050" spc="-1" strike="noStrike">
                <a:solidFill>
                  <a:srgbClr val="123159"/>
                </a:solidFill>
                <a:latin typeface="Courier New"/>
                <a:ea typeface="Courier New"/>
              </a:rPr>
              <a:t>a-addr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2050" spc="-1" strike="noStrike">
                <a:solidFill>
                  <a:srgbClr val="7a2638"/>
                </a:solidFill>
                <a:latin typeface="Courier New"/>
                <a:ea typeface="Courier New"/>
              </a:rPr>
              <a:t>&lt;</a:t>
            </a:r>
            <a:r>
              <a:rPr b="1" lang="en-US" sz="2050" spc="-1" strike="noStrike">
                <a:solidFill>
                  <a:srgbClr val="123159"/>
                </a:solidFill>
                <a:latin typeface="Courier New"/>
                <a:ea typeface="Courier New"/>
              </a:rPr>
              <a:t> c-addr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  <a:p>
            <a:r>
              <a:rPr b="1" lang="en-US" sz="2050" spc="-1" strike="noStrike">
                <a:solidFill>
                  <a:srgbClr val="7a2638"/>
                </a:solidFill>
                <a:latin typeface="Courier New"/>
                <a:ea typeface="Courier New"/>
              </a:rPr>
              <a:t>&lt;</a:t>
            </a:r>
            <a:r>
              <a:rPr b="1" lang="en-US" sz="2050" spc="-1" strike="noStrike">
                <a:solidFill>
                  <a:srgbClr val="123159"/>
                </a:solidFill>
                <a:latin typeface="Courier New"/>
                <a:ea typeface="Courier New"/>
              </a:rPr>
              <a:t> addr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20000"/>
              </a:lnSpc>
              <a:tabLst>
                <a:tab algn="l" pos="0"/>
              </a:tabLst>
            </a:pPr>
            <a:r>
              <a:rPr b="1" lang="en-US" sz="2050" spc="-1" strike="noStrike">
                <a:solidFill>
                  <a:srgbClr val="7a2638"/>
                </a:solidFill>
                <a:latin typeface="Courier New"/>
                <a:ea typeface="Courier New"/>
              </a:rPr>
              <a:t>&lt;</a:t>
            </a:r>
            <a:r>
              <a:rPr b="1" lang="en-US" sz="2050" spc="-1" strike="noStrike">
                <a:solidFill>
                  <a:srgbClr val="123159"/>
                </a:solidFill>
                <a:latin typeface="Courier New"/>
                <a:ea typeface="Courier New"/>
              </a:rPr>
              <a:t> X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Text 6"/>
          <p:cNvSpPr/>
          <p:nvPr/>
        </p:nvSpPr>
        <p:spPr>
          <a:xfrm>
            <a:off x="5196240" y="3832560"/>
            <a:ext cx="110772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4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71a20"/>
                </a:solidFill>
                <a:latin typeface="Georgia"/>
                <a:ea typeface="Georgia"/>
              </a:rPr>
              <a:t>Aliases on a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Text 7"/>
          <p:cNvSpPr/>
          <p:nvPr/>
        </p:nvSpPr>
        <p:spPr>
          <a:xfrm>
            <a:off x="6293880" y="3796920"/>
            <a:ext cx="473400" cy="24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4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71a20"/>
                </a:solidFill>
                <a:latin typeface="monospace"/>
                <a:ea typeface="monospace"/>
              </a:rPr>
              <a:t>type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8"/>
          <p:cNvSpPr/>
          <p:nvPr/>
        </p:nvSpPr>
        <p:spPr>
          <a:xfrm>
            <a:off x="6689160" y="3832560"/>
            <a:ext cx="182556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4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71a20"/>
                </a:solidFill>
                <a:latin typeface="Georgia"/>
                <a:ea typeface="Georgia"/>
              </a:rPr>
              <a:t>line name the same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9"/>
          <p:cNvSpPr/>
          <p:nvPr/>
        </p:nvSpPr>
        <p:spPr>
          <a:xfrm>
            <a:off x="5139360" y="4101840"/>
            <a:ext cx="1410840" cy="24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4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171a20"/>
                </a:solidFill>
                <a:latin typeface="Georgia"/>
                <a:ea typeface="Georgia"/>
              </a:rPr>
              <a:t>canonical type.</a:t>
            </a:r>
            <a:endParaRPr b="0" lang="et-EE" sz="15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10"/>
          <p:cNvSpPr/>
          <p:nvPr/>
        </p:nvSpPr>
        <p:spPr>
          <a:xfrm>
            <a:off x="657360" y="4353480"/>
            <a:ext cx="7829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11"/>
          <p:cNvSpPr/>
          <p:nvPr/>
        </p:nvSpPr>
        <p:spPr>
          <a:xfrm>
            <a:off x="657360" y="4353480"/>
            <a:ext cx="7829280" cy="6840"/>
          </a:xfrm>
          <a:prstGeom prst="rect">
            <a:avLst/>
          </a:prstGeom>
          <a:solidFill>
            <a:srgbClr val="171a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Text 12"/>
          <p:cNvSpPr/>
          <p:nvPr/>
        </p:nvSpPr>
        <p:spPr>
          <a:xfrm>
            <a:off x="657360" y="4353480"/>
            <a:ext cx="7829280" cy="71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04120" bIns="0" anchor="t">
            <a:spAutoFit/>
          </a:bodyPr>
          <a:p>
            <a:pPr defTabSz="914400">
              <a:lnSpc>
                <a:spcPct val="104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159"/>
                </a:solidFill>
                <a:latin typeface="Georgia"/>
                <a:ea typeface="Georgia"/>
              </a:rPr>
              <a:t>&lt;</a:t>
            </a:r>
            <a:r>
              <a:rPr b="0" lang="en-US" sz="1600" spc="-1" strike="noStrike">
                <a:solidFill>
                  <a:srgbClr val="171a20"/>
                </a:solidFill>
                <a:latin typeface="Georgia"/>
                <a:ea typeface="Georgia"/>
              </a:rPr>
              <a:t> means “more specific than.” A word requiring </a:t>
            </a:r>
            <a:r>
              <a:rPr b="1" lang="en-US" sz="1500" spc="-1" strike="noStrike">
                <a:solidFill>
                  <a:srgbClr val="123159"/>
                </a:solidFill>
                <a:latin typeface="Georgia"/>
                <a:ea typeface="Georgia"/>
              </a:rPr>
              <a:t>c-addr</a:t>
            </a:r>
            <a:r>
              <a:rPr b="0" lang="en-US" sz="1600" spc="-1" strike="noStrike">
                <a:solidFill>
                  <a:srgbClr val="171a20"/>
                </a:solidFill>
                <a:latin typeface="Georgia"/>
                <a:ea typeface="Georgia"/>
              </a:rPr>
              <a:t> can therefore accept </a:t>
            </a:r>
            <a:r>
              <a:rPr b="1" lang="en-US" sz="1500" spc="-1" strike="noStrike">
                <a:solidFill>
                  <a:srgbClr val="123159"/>
                </a:solidFill>
                <a:latin typeface="Georgia"/>
                <a:ea typeface="Georgia"/>
              </a:rPr>
              <a:t>a-addr</a:t>
            </a:r>
            <a:r>
              <a:rPr b="0" lang="en-US" sz="1600" spc="-1" strike="noStrike">
                <a:solidFill>
                  <a:srgbClr val="171a20"/>
                </a:solidFill>
                <a:latin typeface="Georgia"/>
                <a:ea typeface="Georgia"/>
              </a:rPr>
              <a:t>.</a:t>
            </a:r>
            <a:endParaRPr b="0" lang="et-EE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42" name="Text 0"/>
          <p:cNvSpPr/>
          <p:nvPr/>
        </p:nvSpPr>
        <p:spPr>
          <a:xfrm>
            <a:off x="657360" y="299880"/>
            <a:ext cx="7667640" cy="74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83000"/>
              </a:lnSpc>
              <a:tabLst>
                <a:tab algn="l" pos="0"/>
              </a:tabLst>
            </a:pPr>
            <a:r>
              <a:rPr b="1" lang="en-US" sz="2950" spc="-4" strike="noStrike">
                <a:solidFill>
                  <a:srgbClr val="123159"/>
                </a:solidFill>
                <a:latin typeface="Courier New"/>
                <a:ea typeface="Courier New"/>
              </a:rPr>
              <a:t>Defining effects with cell identity</a:t>
            </a:r>
            <a:endParaRPr b="0" lang="et-EE" sz="2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1"/>
          <p:cNvSpPr/>
          <p:nvPr/>
        </p:nvSpPr>
        <p:spPr>
          <a:xfrm>
            <a:off x="8340480" y="299880"/>
            <a:ext cx="130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10224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2638"/>
                </a:solidFill>
                <a:latin typeface="Courier New"/>
                <a:ea typeface="Courier New"/>
              </a:rPr>
              <a:t>03</a:t>
            </a:r>
            <a:endParaRPr b="0" lang="et-E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Text 2"/>
          <p:cNvSpPr/>
          <p:nvPr/>
        </p:nvSpPr>
        <p:spPr>
          <a:xfrm>
            <a:off x="1606680" y="1447560"/>
            <a:ext cx="5929920" cy="40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650" spc="1" strike="noStrike">
                <a:solidFill>
                  <a:srgbClr val="123159"/>
                </a:solidFill>
                <a:latin typeface="Courier New"/>
                <a:ea typeface="Courier New"/>
              </a:rPr>
              <a:t>DUP ( X</a:t>
            </a:r>
            <a:r>
              <a:rPr b="1" lang="en-US" sz="2650" spc="1" strike="noStrike">
                <a:solidFill>
                  <a:srgbClr val="7a2638"/>
                </a:solidFill>
                <a:latin typeface="Courier New"/>
                <a:ea typeface="Courier New"/>
              </a:rPr>
              <a:t>[1]</a:t>
            </a:r>
            <a:r>
              <a:rPr b="1" lang="en-US" sz="2650" spc="1" strike="noStrike">
                <a:solidFill>
                  <a:srgbClr val="123159"/>
                </a:solidFill>
                <a:latin typeface="Courier New"/>
                <a:ea typeface="Courier New"/>
              </a:rPr>
              <a:t> -- X</a:t>
            </a:r>
            <a:r>
              <a:rPr b="1" lang="en-US" sz="2650" spc="1" strike="noStrike">
                <a:solidFill>
                  <a:srgbClr val="7a2638"/>
                </a:solidFill>
                <a:latin typeface="Courier New"/>
                <a:ea typeface="Courier New"/>
              </a:rPr>
              <a:t>[1]</a:t>
            </a:r>
            <a:r>
              <a:rPr b="1" lang="en-US" sz="2650" spc="1" strike="noStrike">
                <a:solidFill>
                  <a:srgbClr val="123159"/>
                </a:solidFill>
                <a:latin typeface="Courier New"/>
                <a:ea typeface="Courier New"/>
              </a:rPr>
              <a:t> X</a:t>
            </a:r>
            <a:r>
              <a:rPr b="1" lang="en-US" sz="2650" spc="1" strike="noStrike">
                <a:solidFill>
                  <a:srgbClr val="7a2638"/>
                </a:solidFill>
                <a:latin typeface="Courier New"/>
                <a:ea typeface="Courier New"/>
              </a:rPr>
              <a:t>[1]</a:t>
            </a:r>
            <a:r>
              <a:rPr b="1" lang="en-US" sz="2650" spc="1" strike="noStrike">
                <a:solidFill>
                  <a:srgbClr val="123159"/>
                </a:solidFill>
                <a:latin typeface="Courier New"/>
                <a:ea typeface="Courier New"/>
              </a:rPr>
              <a:t> )</a:t>
            </a:r>
            <a:endParaRPr b="0" lang="et-EE" sz="2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Text 3"/>
          <p:cNvSpPr/>
          <p:nvPr/>
        </p:nvSpPr>
        <p:spPr>
          <a:xfrm>
            <a:off x="657360" y="2440440"/>
            <a:ext cx="362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7a2638"/>
                </a:solidFill>
                <a:latin typeface="Courier New"/>
                <a:ea typeface="Courier New"/>
              </a:rPr>
              <a:t>TYPE</a:t>
            </a:r>
            <a:endParaRPr b="0" lang="et-E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" name="Text 4"/>
          <p:cNvSpPr/>
          <p:nvPr/>
        </p:nvSpPr>
        <p:spPr>
          <a:xfrm>
            <a:off x="657360" y="2726280"/>
            <a:ext cx="36288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8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23159"/>
                </a:solidFill>
                <a:latin typeface="Courier New"/>
                <a:ea typeface="Courier New"/>
              </a:rPr>
              <a:t>X</a:t>
            </a:r>
            <a:r>
              <a:rPr b="0" lang="en-US" sz="1800" spc="-1" strike="noStrike">
                <a:solidFill>
                  <a:srgbClr val="171a20"/>
                </a:solidFill>
                <a:latin typeface="Georgia"/>
                <a:ea typeface="Georgia"/>
              </a:rPr>
              <a:t> constrains what the position may hold.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Text 5"/>
          <p:cNvSpPr/>
          <p:nvPr/>
        </p:nvSpPr>
        <p:spPr>
          <a:xfrm>
            <a:off x="4857840" y="2440440"/>
            <a:ext cx="36288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7a2638"/>
                </a:solidFill>
                <a:latin typeface="Courier New"/>
                <a:ea typeface="Courier New"/>
              </a:rPr>
              <a:t>INDEX</a:t>
            </a:r>
            <a:endParaRPr b="0" lang="et-E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6"/>
          <p:cNvSpPr/>
          <p:nvPr/>
        </p:nvSpPr>
        <p:spPr>
          <a:xfrm>
            <a:off x="4857840" y="2726280"/>
            <a:ext cx="362880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8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23159"/>
                </a:solidFill>
                <a:latin typeface="Courier New"/>
                <a:ea typeface="Courier New"/>
              </a:rPr>
              <a:t>[1]</a:t>
            </a:r>
            <a:r>
              <a:rPr b="0" lang="en-US" sz="1800" spc="-1" strike="noStrike">
                <a:solidFill>
                  <a:srgbClr val="171a20"/>
                </a:solidFill>
                <a:latin typeface="Georgia"/>
                <a:ea typeface="Georgia"/>
              </a:rPr>
              <a:t> records that two positions denote the same abstract value.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Shape 7"/>
          <p:cNvSpPr/>
          <p:nvPr/>
        </p:nvSpPr>
        <p:spPr>
          <a:xfrm>
            <a:off x="657360" y="4126320"/>
            <a:ext cx="7829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Shape 8"/>
          <p:cNvSpPr/>
          <p:nvPr/>
        </p:nvSpPr>
        <p:spPr>
          <a:xfrm>
            <a:off x="657360" y="4126320"/>
            <a:ext cx="7829280" cy="6840"/>
          </a:xfrm>
          <a:prstGeom prst="rect">
            <a:avLst/>
          </a:prstGeom>
          <a:solidFill>
            <a:srgbClr val="171a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Text 9"/>
          <p:cNvSpPr/>
          <p:nvPr/>
        </p:nvSpPr>
        <p:spPr>
          <a:xfrm>
            <a:off x="657360" y="4126320"/>
            <a:ext cx="7829280" cy="45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04120" bIns="0" anchor="t">
            <a:spAutoFit/>
          </a:bodyPr>
          <a:p>
            <a:pPr defTabSz="914400">
              <a:lnSpc>
                <a:spcPct val="104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171a20"/>
                </a:solidFill>
                <a:latin typeface="Georgia"/>
                <a:ea typeface="Georgia"/>
              </a:rPr>
              <a:t>Repeated indices preserve </a:t>
            </a:r>
            <a:r>
              <a:rPr b="1" lang="en-US" sz="1500" spc="-1" strike="noStrike">
                <a:solidFill>
                  <a:srgbClr val="123159"/>
                </a:solidFill>
                <a:latin typeface="Georgia"/>
                <a:ea typeface="Georgia"/>
              </a:rPr>
              <a:t>equality constraints</a:t>
            </a:r>
            <a:r>
              <a:rPr b="0" lang="en-US" sz="1600" spc="-1" strike="noStrike">
                <a:solidFill>
                  <a:srgbClr val="171a20"/>
                </a:solidFill>
                <a:latin typeface="Georgia"/>
                <a:ea typeface="Georgia"/>
              </a:rPr>
              <a:t> across stack shuffles.</a:t>
            </a:r>
            <a:endParaRPr b="0" lang="et-EE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53" name="Text 0"/>
          <p:cNvSpPr/>
          <p:nvPr/>
        </p:nvSpPr>
        <p:spPr>
          <a:xfrm>
            <a:off x="657360" y="299880"/>
            <a:ext cx="7667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83000"/>
              </a:lnSpc>
              <a:tabLst>
                <a:tab algn="l" pos="0"/>
              </a:tabLst>
            </a:pPr>
            <a:r>
              <a:rPr b="1" lang="en-US" sz="2950" spc="-4" strike="noStrike">
                <a:solidFill>
                  <a:srgbClr val="123159"/>
                </a:solidFill>
                <a:latin typeface="Courier New"/>
                <a:ea typeface="Courier New"/>
              </a:rPr>
              <a:t>Example: Straight-Line Composition</a:t>
            </a:r>
            <a:endParaRPr b="0" lang="et-EE" sz="2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1"/>
          <p:cNvSpPr/>
          <p:nvPr/>
        </p:nvSpPr>
        <p:spPr>
          <a:xfrm>
            <a:off x="8340480" y="299880"/>
            <a:ext cx="130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10224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2638"/>
                </a:solidFill>
                <a:latin typeface="Courier New"/>
                <a:ea typeface="Courier New"/>
              </a:rPr>
              <a:t>04</a:t>
            </a:r>
            <a:endParaRPr b="0" lang="et-E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2"/>
          <p:cNvSpPr/>
          <p:nvPr/>
        </p:nvSpPr>
        <p:spPr>
          <a:xfrm>
            <a:off x="3401640" y="1375920"/>
            <a:ext cx="2340360" cy="41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50" spc="1" strike="noStrike">
                <a:solidFill>
                  <a:srgbClr val="123159"/>
                </a:solidFill>
                <a:latin typeface="Courier New"/>
                <a:ea typeface="Courier New"/>
              </a:rPr>
              <a:t>1 2 + DUP</a:t>
            </a:r>
            <a:endParaRPr b="0" lang="et-EE" sz="27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3"/>
          <p:cNvSpPr/>
          <p:nvPr/>
        </p:nvSpPr>
        <p:spPr>
          <a:xfrm>
            <a:off x="2333160" y="2097720"/>
            <a:ext cx="9871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7a2638"/>
                </a:solidFill>
                <a:latin typeface="Courier New"/>
                <a:ea typeface="Courier New"/>
              </a:rPr>
              <a:t>PRODUCED BY +</a:t>
            </a:r>
            <a:endParaRPr b="0" lang="et-E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Text 4"/>
          <p:cNvSpPr/>
          <p:nvPr/>
        </p:nvSpPr>
        <p:spPr>
          <a:xfrm>
            <a:off x="2737080" y="2365560"/>
            <a:ext cx="17928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123159"/>
                </a:solidFill>
                <a:latin typeface="Courier New"/>
                <a:ea typeface="Courier New"/>
              </a:rPr>
              <a:t>n</a:t>
            </a:r>
            <a:endParaRPr b="0" lang="et-EE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5"/>
          <p:cNvSpPr/>
          <p:nvPr/>
        </p:nvSpPr>
        <p:spPr>
          <a:xfrm>
            <a:off x="4132080" y="2170800"/>
            <a:ext cx="6868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1" strike="noStrike">
                <a:solidFill>
                  <a:srgbClr val="7a2638"/>
                </a:solidFill>
                <a:latin typeface="Courier New"/>
                <a:ea typeface="Courier New"/>
              </a:rPr>
              <a:t>SATISFIES</a:t>
            </a:r>
            <a:endParaRPr b="0" lang="et-E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 6"/>
          <p:cNvSpPr/>
          <p:nvPr/>
        </p:nvSpPr>
        <p:spPr>
          <a:xfrm>
            <a:off x="4354560" y="2331720"/>
            <a:ext cx="241920" cy="31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2480" bIns="0" anchor="t">
            <a:spAutoFit/>
          </a:bodyPr>
          <a:p>
            <a:pPr algn="ctr" defTabSz="914400">
              <a:lnSpc>
                <a:spcPct val="80000"/>
              </a:lnSpc>
              <a:tabLst>
                <a:tab algn="l" pos="0"/>
              </a:tabLst>
            </a:pPr>
            <a:r>
              <a:rPr b="0" lang="en-US" sz="2250" spc="-1" strike="noStrike">
                <a:solidFill>
                  <a:srgbClr val="7a2638"/>
                </a:solidFill>
                <a:latin typeface="Georgia"/>
                <a:ea typeface="Georgia"/>
              </a:rPr>
              <a:t>→</a:t>
            </a:r>
            <a:endParaRPr b="0" lang="et-EE" sz="2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7"/>
          <p:cNvSpPr/>
          <p:nvPr/>
        </p:nvSpPr>
        <p:spPr>
          <a:xfrm>
            <a:off x="5497200" y="2097720"/>
            <a:ext cx="14464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7a2638"/>
                </a:solidFill>
                <a:latin typeface="Courier New"/>
                <a:ea typeface="Courier New"/>
              </a:rPr>
              <a:t>REQUIRED BY DUP</a:t>
            </a:r>
            <a:endParaRPr b="0" lang="et-E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Text 8"/>
          <p:cNvSpPr/>
          <p:nvPr/>
        </p:nvSpPr>
        <p:spPr>
          <a:xfrm>
            <a:off x="5497200" y="2365560"/>
            <a:ext cx="144648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123159"/>
                </a:solidFill>
                <a:latin typeface="Courier New"/>
                <a:ea typeface="Courier New"/>
              </a:rPr>
              <a:t>X[1]</a:t>
            </a:r>
            <a:endParaRPr b="0" lang="et-EE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Text 9"/>
          <p:cNvSpPr/>
          <p:nvPr/>
        </p:nvSpPr>
        <p:spPr>
          <a:xfrm>
            <a:off x="2994480" y="3026160"/>
            <a:ext cx="31546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7a2638"/>
                </a:solidFill>
                <a:latin typeface="Courier New"/>
                <a:ea typeface="Courier New"/>
              </a:rPr>
              <a:t>RESULTING EFFECT</a:t>
            </a:r>
            <a:endParaRPr b="0" lang="et-EE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10"/>
          <p:cNvSpPr/>
          <p:nvPr/>
        </p:nvSpPr>
        <p:spPr>
          <a:xfrm>
            <a:off x="2994480" y="3294000"/>
            <a:ext cx="315468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123159"/>
                </a:solidFill>
                <a:latin typeface="Courier New"/>
                <a:ea typeface="Courier New"/>
              </a:rPr>
              <a:t>( -- n[1] n[1] )</a:t>
            </a:r>
            <a:endParaRPr b="0" lang="et-EE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11"/>
          <p:cNvSpPr/>
          <p:nvPr/>
        </p:nvSpPr>
        <p:spPr>
          <a:xfrm>
            <a:off x="657360" y="4126320"/>
            <a:ext cx="7829280" cy="51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Shape 12"/>
          <p:cNvSpPr/>
          <p:nvPr/>
        </p:nvSpPr>
        <p:spPr>
          <a:xfrm>
            <a:off x="657360" y="4126320"/>
            <a:ext cx="7829280" cy="6840"/>
          </a:xfrm>
          <a:prstGeom prst="rect">
            <a:avLst/>
          </a:prstGeom>
          <a:solidFill>
            <a:srgbClr val="171a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3"/>
          <p:cNvSpPr/>
          <p:nvPr/>
        </p:nvSpPr>
        <p:spPr>
          <a:xfrm>
            <a:off x="657360" y="4126320"/>
            <a:ext cx="78292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04120" bIns="0" anchor="t">
            <a:spAutoFit/>
          </a:bodyPr>
          <a:p>
            <a:pPr algn="ctr" defTabSz="914400">
              <a:lnSpc>
                <a:spcPct val="104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The specific type </a:t>
            </a:r>
            <a:r>
              <a:rPr b="1" lang="en-US" sz="1800" spc="-1" strike="noStrike">
                <a:solidFill>
                  <a:srgbClr val="123159"/>
                </a:solidFill>
                <a:latin typeface="Courier New"/>
                <a:ea typeface="Courier New"/>
              </a:rPr>
              <a:t>n</a:t>
            </a: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 flows to both correlated outputs.</a:t>
            </a:r>
            <a:endParaRPr b="0" lang="et-EE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68" name="Text 0"/>
          <p:cNvSpPr/>
          <p:nvPr/>
        </p:nvSpPr>
        <p:spPr>
          <a:xfrm>
            <a:off x="657360" y="299880"/>
            <a:ext cx="7667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83000"/>
              </a:lnSpc>
              <a:tabLst>
                <a:tab algn="l" pos="0"/>
              </a:tabLst>
            </a:pPr>
            <a:r>
              <a:rPr b="1" lang="en-US" sz="2950" spc="-4" strike="noStrike">
                <a:solidFill>
                  <a:srgbClr val="123159"/>
                </a:solidFill>
                <a:latin typeface="Courier New"/>
                <a:ea typeface="Courier New"/>
              </a:rPr>
              <a:t>Example: Subtype-Aware Refinement</a:t>
            </a:r>
            <a:endParaRPr b="0" lang="et-EE" sz="2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1"/>
          <p:cNvSpPr/>
          <p:nvPr/>
        </p:nvSpPr>
        <p:spPr>
          <a:xfrm>
            <a:off x="8340480" y="299880"/>
            <a:ext cx="130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10224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2638"/>
                </a:solidFill>
                <a:latin typeface="Courier New"/>
                <a:ea typeface="Courier New"/>
              </a:rPr>
              <a:t>05</a:t>
            </a:r>
            <a:endParaRPr b="0" lang="et-E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Text 2"/>
          <p:cNvSpPr/>
          <p:nvPr/>
        </p:nvSpPr>
        <p:spPr>
          <a:xfrm>
            <a:off x="657360" y="1304640"/>
            <a:ext cx="7829280" cy="43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50" spc="1" strike="noStrike">
                <a:solidFill>
                  <a:srgbClr val="123159"/>
                </a:solidFill>
                <a:latin typeface="Courier New"/>
                <a:ea typeface="Courier New"/>
              </a:rPr>
              <a:t>DP C@ 0=</a:t>
            </a:r>
            <a:endParaRPr b="0" lang="et-EE" sz="2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Text 3"/>
          <p:cNvSpPr/>
          <p:nvPr/>
        </p:nvSpPr>
        <p:spPr>
          <a:xfrm>
            <a:off x="1877040" y="2079720"/>
            <a:ext cx="28908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36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7a2638"/>
                </a:solidFill>
                <a:latin typeface="Courier New"/>
                <a:ea typeface="Courier New"/>
              </a:rPr>
              <a:t>DP</a:t>
            </a:r>
            <a:endParaRPr b="0" lang="et-EE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4"/>
          <p:cNvSpPr/>
          <p:nvPr/>
        </p:nvSpPr>
        <p:spPr>
          <a:xfrm>
            <a:off x="2430720" y="2154600"/>
            <a:ext cx="203400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36000"/>
              </a:lnSpc>
              <a:tabLst>
                <a:tab algn="l" pos="0"/>
              </a:tabLst>
            </a:pPr>
            <a:r>
              <a:rPr b="0" lang="en-US" sz="2050" spc="-1" strike="noStrike">
                <a:solidFill>
                  <a:srgbClr val="171a20"/>
                </a:solidFill>
                <a:latin typeface="Courier New"/>
                <a:ea typeface="Courier New"/>
              </a:rPr>
              <a:t>( -- a-addr )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Text 5"/>
          <p:cNvSpPr/>
          <p:nvPr/>
        </p:nvSpPr>
        <p:spPr>
          <a:xfrm>
            <a:off x="1877040" y="2541240"/>
            <a:ext cx="28908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36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7a2638"/>
                </a:solidFill>
                <a:latin typeface="Courier New"/>
                <a:ea typeface="Courier New"/>
              </a:rPr>
              <a:t>C@</a:t>
            </a:r>
            <a:endParaRPr b="0" lang="et-EE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Text 6"/>
          <p:cNvSpPr/>
          <p:nvPr/>
        </p:nvSpPr>
        <p:spPr>
          <a:xfrm>
            <a:off x="2528280" y="2616120"/>
            <a:ext cx="281592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36000"/>
              </a:lnSpc>
              <a:tabLst>
                <a:tab algn="l" pos="0"/>
              </a:tabLst>
            </a:pPr>
            <a:r>
              <a:rPr b="0" lang="en-US" sz="2050" spc="-1" strike="noStrike">
                <a:solidFill>
                  <a:srgbClr val="171a20"/>
                </a:solidFill>
                <a:latin typeface="Courier New"/>
                <a:ea typeface="Courier New"/>
              </a:rPr>
              <a:t>( a-addr -- char )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Text 7"/>
          <p:cNvSpPr/>
          <p:nvPr/>
        </p:nvSpPr>
        <p:spPr>
          <a:xfrm>
            <a:off x="5888160" y="2666160"/>
            <a:ext cx="15541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36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7a2638"/>
                </a:solidFill>
                <a:latin typeface="Georgia"/>
                <a:ea typeface="Georgia"/>
              </a:rPr>
              <a:t>← </a:t>
            </a:r>
            <a:r>
              <a:rPr b="0" i="1" lang="en-US" sz="1500" spc="-1" strike="noStrike">
                <a:solidFill>
                  <a:srgbClr val="7a2638"/>
                </a:solidFill>
                <a:latin typeface="Georgia"/>
                <a:ea typeface="Georgia"/>
              </a:rPr>
              <a:t>requires c-addr</a:t>
            </a:r>
            <a:endParaRPr b="0" lang="et-EE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8"/>
          <p:cNvSpPr/>
          <p:nvPr/>
        </p:nvSpPr>
        <p:spPr>
          <a:xfrm>
            <a:off x="1877040" y="3002760"/>
            <a:ext cx="289080" cy="39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36000"/>
              </a:lnSpc>
              <a:tabLst>
                <a:tab algn="l" pos="0"/>
              </a:tabLst>
            </a:pPr>
            <a:r>
              <a:rPr b="1" lang="en-US" sz="1900" spc="-1" strike="noStrike">
                <a:solidFill>
                  <a:srgbClr val="7a2638"/>
                </a:solidFill>
                <a:latin typeface="Courier New"/>
                <a:ea typeface="Courier New"/>
              </a:rPr>
              <a:t>0=</a:t>
            </a:r>
            <a:endParaRPr b="0" lang="et-EE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2522520" y="3077640"/>
            <a:ext cx="2502000" cy="42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36000"/>
              </a:lnSpc>
              <a:tabLst>
                <a:tab algn="l" pos="0"/>
              </a:tabLst>
            </a:pPr>
            <a:r>
              <a:rPr b="0" lang="en-US" sz="2050" spc="-1" strike="noStrike">
                <a:solidFill>
                  <a:srgbClr val="171a20"/>
                </a:solidFill>
                <a:latin typeface="Courier New"/>
                <a:ea typeface="Courier New"/>
              </a:rPr>
              <a:t>( char -- flag )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574240" y="3127680"/>
            <a:ext cx="1096920" cy="31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36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7a2638"/>
                </a:solidFill>
                <a:latin typeface="Georgia"/>
                <a:ea typeface="Georgia"/>
              </a:rPr>
              <a:t>← </a:t>
            </a:r>
            <a:r>
              <a:rPr b="0" i="1" lang="en-US" sz="1500" spc="-1" strike="noStrike">
                <a:solidFill>
                  <a:srgbClr val="7a2638"/>
                </a:solidFill>
                <a:latin typeface="Georgia"/>
                <a:ea typeface="Georgia"/>
              </a:rPr>
              <a:t>requires n</a:t>
            </a:r>
            <a:endParaRPr b="0" lang="et-EE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657360" y="3857040"/>
            <a:ext cx="782928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123159"/>
                </a:solidFill>
                <a:latin typeface="Courier New"/>
                <a:ea typeface="Courier New"/>
              </a:rPr>
              <a:t>RESULT: ( -- flag )</a:t>
            </a:r>
            <a:endParaRPr b="0" lang="et-EE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12"/>
          <p:cNvSpPr/>
          <p:nvPr/>
        </p:nvSpPr>
        <p:spPr>
          <a:xfrm>
            <a:off x="657360" y="4232160"/>
            <a:ext cx="782928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" name="Shape 13"/>
          <p:cNvSpPr/>
          <p:nvPr/>
        </p:nvSpPr>
        <p:spPr>
          <a:xfrm>
            <a:off x="657360" y="4232160"/>
            <a:ext cx="7829280" cy="6840"/>
          </a:xfrm>
          <a:prstGeom prst="rect">
            <a:avLst/>
          </a:prstGeom>
          <a:solidFill>
            <a:srgbClr val="171a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" name="Text 14"/>
          <p:cNvSpPr/>
          <p:nvPr/>
        </p:nvSpPr>
        <p:spPr>
          <a:xfrm>
            <a:off x="657360" y="4232160"/>
            <a:ext cx="7829280" cy="76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04120" bIns="0" anchor="t">
            <a:spAutoFit/>
          </a:bodyPr>
          <a:p>
            <a:pPr defTabSz="914400">
              <a:lnSpc>
                <a:spcPct val="108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The evaluator retains the more specific type. </a:t>
            </a:r>
            <a:r>
              <a:rPr b="1" lang="en-US" sz="1700" spc="-1" strike="noStrike">
                <a:solidFill>
                  <a:srgbClr val="123159"/>
                </a:solidFill>
                <a:latin typeface="Courier New"/>
                <a:ea typeface="Courier New"/>
              </a:rPr>
              <a:t>C@</a:t>
            </a: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 accepts </a:t>
            </a:r>
            <a:r>
              <a:rPr b="1" lang="en-US" sz="1700" spc="-1" strike="noStrike">
                <a:solidFill>
                  <a:srgbClr val="123159"/>
                </a:solidFill>
                <a:latin typeface="Courier New"/>
                <a:ea typeface="Courier New"/>
              </a:rPr>
              <a:t>a-addr</a:t>
            </a: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 because it is a declared subtype of </a:t>
            </a:r>
            <a:r>
              <a:rPr b="1" lang="en-US" sz="1700" spc="-1" strike="noStrike">
                <a:solidFill>
                  <a:srgbClr val="123159"/>
                </a:solidFill>
                <a:latin typeface="Courier New"/>
                <a:ea typeface="Courier New"/>
              </a:rPr>
              <a:t>c-addr</a:t>
            </a: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.</a:t>
            </a:r>
            <a:endParaRPr b="0" lang="et-EE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84" name="Text 0"/>
          <p:cNvSpPr/>
          <p:nvPr/>
        </p:nvSpPr>
        <p:spPr>
          <a:xfrm>
            <a:off x="801360" y="299880"/>
            <a:ext cx="718776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83000"/>
              </a:lnSpc>
              <a:tabLst>
                <a:tab algn="l" pos="0"/>
              </a:tabLst>
            </a:pPr>
            <a:r>
              <a:rPr b="1" lang="en-US" sz="2950" spc="-4" strike="noStrike">
                <a:solidFill>
                  <a:srgbClr val="123159"/>
                </a:solidFill>
                <a:latin typeface="Courier New"/>
                <a:ea typeface="Courier New"/>
              </a:rPr>
              <a:t>Example: Stack-shuffle inference</a:t>
            </a:r>
            <a:endParaRPr b="0" lang="et-EE" sz="2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 1"/>
          <p:cNvSpPr/>
          <p:nvPr/>
        </p:nvSpPr>
        <p:spPr>
          <a:xfrm>
            <a:off x="8340480" y="299880"/>
            <a:ext cx="130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10224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2638"/>
                </a:solidFill>
                <a:latin typeface="Courier New"/>
                <a:ea typeface="Courier New"/>
              </a:rPr>
              <a:t>06</a:t>
            </a:r>
            <a:endParaRPr b="0" lang="et-E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Text 2"/>
          <p:cNvSpPr/>
          <p:nvPr/>
        </p:nvSpPr>
        <p:spPr>
          <a:xfrm>
            <a:off x="4193640" y="1300320"/>
            <a:ext cx="75564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7a2638"/>
                </a:solidFill>
                <a:latin typeface="Courier New"/>
                <a:ea typeface="Courier New"/>
              </a:rPr>
              <a:t>SOURCE CODE</a:t>
            </a:r>
            <a:endParaRPr b="0" lang="et-E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Text 3"/>
          <p:cNvSpPr/>
          <p:nvPr/>
        </p:nvSpPr>
        <p:spPr>
          <a:xfrm>
            <a:off x="2434320" y="1589400"/>
            <a:ext cx="427500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1" strike="noStrike">
                <a:solidFill>
                  <a:srgbClr val="123159"/>
                </a:solidFill>
                <a:latin typeface="Courier New"/>
                <a:ea typeface="Courier New"/>
              </a:rPr>
              <a:t>: PEEK2 DUP @ SWAP @ ;</a:t>
            </a:r>
            <a:endParaRPr b="0" lang="et-EE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4"/>
          <p:cNvSpPr/>
          <p:nvPr/>
        </p:nvSpPr>
        <p:spPr>
          <a:xfrm>
            <a:off x="4457880" y="2178720"/>
            <a:ext cx="228240" cy="26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80000"/>
              </a:lnSpc>
              <a:tabLst>
                <a:tab algn="l" pos="0"/>
              </a:tabLst>
            </a:pPr>
            <a:r>
              <a:rPr b="0" lang="en-US" sz="2150" spc="-1" strike="noStrike">
                <a:solidFill>
                  <a:srgbClr val="171a20"/>
                </a:solidFill>
                <a:latin typeface="Georgia"/>
                <a:ea typeface="Georgia"/>
              </a:rPr>
              <a:t>↓</a:t>
            </a:r>
            <a:endParaRPr b="0" lang="et-EE" sz="2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Text 5"/>
          <p:cNvSpPr/>
          <p:nvPr/>
        </p:nvSpPr>
        <p:spPr>
          <a:xfrm>
            <a:off x="3912840" y="2714760"/>
            <a:ext cx="1317960" cy="13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7a2638"/>
                </a:solidFill>
                <a:latin typeface="Courier New"/>
                <a:ea typeface="Courier New"/>
              </a:rPr>
              <a:t>INFERRED EFFECT</a:t>
            </a:r>
            <a:endParaRPr b="0" lang="et-EE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Text 6"/>
          <p:cNvSpPr/>
          <p:nvPr/>
        </p:nvSpPr>
        <p:spPr>
          <a:xfrm>
            <a:off x="1857600" y="3003840"/>
            <a:ext cx="5428440" cy="32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23159"/>
                </a:solidFill>
                <a:latin typeface="Courier New"/>
                <a:ea typeface="Courier New"/>
              </a:rPr>
              <a:t>PEEK2 ( </a:t>
            </a:r>
            <a:r>
              <a:rPr b="1" lang="en-US" sz="2100" spc="-1" strike="noStrike">
                <a:solidFill>
                  <a:srgbClr val="7a2638"/>
                </a:solidFill>
                <a:latin typeface="Courier New"/>
                <a:ea typeface="Courier New"/>
              </a:rPr>
              <a:t>a-addr[1]</a:t>
            </a:r>
            <a:r>
              <a:rPr b="1" lang="en-US" sz="2100" spc="-1" strike="noStrike">
                <a:solidFill>
                  <a:srgbClr val="123159"/>
                </a:solidFill>
                <a:latin typeface="Courier New"/>
                <a:ea typeface="Courier New"/>
              </a:rPr>
              <a:t> -- X[2] X )</a:t>
            </a:r>
            <a:endParaRPr b="0" lang="et-EE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Shape 7"/>
          <p:cNvSpPr/>
          <p:nvPr/>
        </p:nvSpPr>
        <p:spPr>
          <a:xfrm>
            <a:off x="657360" y="3907800"/>
            <a:ext cx="7829280" cy="84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Shape 8"/>
          <p:cNvSpPr/>
          <p:nvPr/>
        </p:nvSpPr>
        <p:spPr>
          <a:xfrm>
            <a:off x="657360" y="3907800"/>
            <a:ext cx="7829280" cy="6840"/>
          </a:xfrm>
          <a:prstGeom prst="rect">
            <a:avLst/>
          </a:prstGeom>
          <a:solidFill>
            <a:srgbClr val="171a2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7800" bIns="-37800" anchor="t">
            <a:noAutofit/>
          </a:bodyPr>
          <a:p>
            <a:endParaRPr b="0" lang="et-EE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Text 9"/>
          <p:cNvSpPr/>
          <p:nvPr/>
        </p:nvSpPr>
        <p:spPr>
          <a:xfrm>
            <a:off x="657360" y="3907800"/>
            <a:ext cx="7829280" cy="76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04120" bIns="0" anchor="t">
            <a:spAutoFit/>
          </a:bodyPr>
          <a:p>
            <a:pPr defTabSz="914400">
              <a:lnSpc>
                <a:spcPct val="108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The requirement flows backward through </a:t>
            </a:r>
            <a:r>
              <a:rPr b="1" lang="en-US" sz="1700" spc="-1" strike="noStrike">
                <a:solidFill>
                  <a:srgbClr val="123159"/>
                </a:solidFill>
                <a:latin typeface="Courier New"/>
                <a:ea typeface="Courier New"/>
              </a:rPr>
              <a:t>DUP</a:t>
            </a: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 and </a:t>
            </a:r>
            <a:r>
              <a:rPr b="1" lang="en-US" sz="1700" spc="-1" strike="noStrike">
                <a:solidFill>
                  <a:srgbClr val="123159"/>
                </a:solidFill>
                <a:latin typeface="Courier New"/>
                <a:ea typeface="Courier New"/>
              </a:rPr>
              <a:t>SWAP</a:t>
            </a: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. Both duplicated values are eventually consumed by </a:t>
            </a:r>
            <a:r>
              <a:rPr b="1" lang="en-US" sz="1700" spc="-1" strike="noStrike">
                <a:solidFill>
                  <a:srgbClr val="123159"/>
                </a:solidFill>
                <a:latin typeface="Courier New"/>
                <a:ea typeface="Courier New"/>
              </a:rPr>
              <a:t>@</a:t>
            </a: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, which requires an address.</a:t>
            </a:r>
            <a:endParaRPr b="0" lang="et-EE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5120"/>
          </a:xfrm>
          <a:prstGeom prst="rect">
            <a:avLst/>
          </a:prstGeom>
          <a:ln w="0">
            <a:noFill/>
          </a:ln>
        </p:spPr>
      </p:pic>
      <p:sp>
        <p:nvSpPr>
          <p:cNvPr id="95" name="Text 0"/>
          <p:cNvSpPr/>
          <p:nvPr/>
        </p:nvSpPr>
        <p:spPr>
          <a:xfrm>
            <a:off x="657360" y="299880"/>
            <a:ext cx="7667640" cy="67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83000"/>
              </a:lnSpc>
              <a:tabLst>
                <a:tab algn="l" pos="0"/>
              </a:tabLst>
            </a:pPr>
            <a:r>
              <a:rPr b="1" lang="en-US" sz="2650" spc="-1" strike="noStrike">
                <a:solidFill>
                  <a:srgbClr val="123159"/>
                </a:solidFill>
                <a:latin typeface="Courier New"/>
                <a:ea typeface="Courier New"/>
              </a:rPr>
              <a:t>Example: Branching as a Meet on Effects</a:t>
            </a:r>
            <a:endParaRPr b="0" lang="et-EE" sz="26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1"/>
          <p:cNvSpPr/>
          <p:nvPr/>
        </p:nvSpPr>
        <p:spPr>
          <a:xfrm>
            <a:off x="8340480" y="299880"/>
            <a:ext cx="130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10224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2638"/>
                </a:solidFill>
                <a:latin typeface="Courier New"/>
                <a:ea typeface="Courier New"/>
              </a:rPr>
              <a:t>08</a:t>
            </a:r>
            <a:endParaRPr b="0" lang="et-E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Text 2"/>
          <p:cNvSpPr/>
          <p:nvPr/>
        </p:nvSpPr>
        <p:spPr>
          <a:xfrm>
            <a:off x="657360" y="1358280"/>
            <a:ext cx="782928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123159"/>
                </a:solidFill>
                <a:latin typeface="Courier New"/>
                <a:ea typeface="Courier New"/>
              </a:rPr>
              <a:t>: FUN </a:t>
            </a:r>
            <a:r>
              <a:rPr b="1" lang="en-US" sz="2350" spc="-1" strike="noStrike">
                <a:solidFill>
                  <a:srgbClr val="7a2638"/>
                </a:solidFill>
                <a:latin typeface="Courier New"/>
                <a:ea typeface="Courier New"/>
              </a:rPr>
              <a:t>IF</a:t>
            </a:r>
            <a:r>
              <a:rPr b="1" lang="en-US" sz="2350" spc="-1" strike="noStrike">
                <a:solidFill>
                  <a:srgbClr val="123159"/>
                </a:solidFill>
                <a:latin typeface="Courier New"/>
                <a:ea typeface="Courier New"/>
              </a:rPr>
              <a:t> NEGATE </a:t>
            </a:r>
            <a:r>
              <a:rPr b="1" lang="en-US" sz="2350" spc="-1" strike="noStrike">
                <a:solidFill>
                  <a:srgbClr val="7a2638"/>
                </a:solidFill>
                <a:latin typeface="Courier New"/>
                <a:ea typeface="Courier New"/>
              </a:rPr>
              <a:t>ELSE</a:t>
            </a:r>
            <a:r>
              <a:rPr b="1" lang="en-US" sz="2350" spc="-1" strike="noStrike">
                <a:solidFill>
                  <a:srgbClr val="123159"/>
                </a:solidFill>
                <a:latin typeface="Courier New"/>
                <a:ea typeface="Courier New"/>
              </a:rPr>
              <a:t> 1+ </a:t>
            </a:r>
            <a:r>
              <a:rPr b="1" lang="en-US" sz="2350" spc="-1" strike="noStrike">
                <a:solidFill>
                  <a:srgbClr val="7a2638"/>
                </a:solidFill>
                <a:latin typeface="Courier New"/>
                <a:ea typeface="Courier New"/>
              </a:rPr>
              <a:t>FI</a:t>
            </a:r>
            <a:r>
              <a:rPr b="1" lang="en-US" sz="2350" spc="-1" strike="noStrike">
                <a:solidFill>
                  <a:srgbClr val="123159"/>
                </a:solidFill>
                <a:latin typeface="Courier New"/>
                <a:ea typeface="Courier New"/>
              </a:rPr>
              <a:t> ;</a:t>
            </a:r>
            <a:endParaRPr b="0" lang="et-EE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Text 3"/>
          <p:cNvSpPr/>
          <p:nvPr/>
        </p:nvSpPr>
        <p:spPr>
          <a:xfrm>
            <a:off x="657360" y="2104920"/>
            <a:ext cx="391428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7a2638"/>
                </a:solidFill>
                <a:latin typeface="Courier New"/>
                <a:ea typeface="Courier New"/>
              </a:rPr>
              <a:t>TRUE PATH</a:t>
            </a:r>
            <a:endParaRPr b="0" lang="et-E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4"/>
          <p:cNvSpPr/>
          <p:nvPr/>
        </p:nvSpPr>
        <p:spPr>
          <a:xfrm>
            <a:off x="657360" y="2390760"/>
            <a:ext cx="3914280" cy="6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2050" spc="-1" strike="noStrike">
                <a:solidFill>
                  <a:srgbClr val="123159"/>
                </a:solidFill>
                <a:latin typeface="Courier New"/>
                <a:ea typeface="Courier New"/>
              </a:rPr>
              <a:t>NEGATE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12000"/>
              </a:lnSpc>
              <a:tabLst>
                <a:tab algn="l" pos="0"/>
              </a:tabLst>
            </a:pPr>
            <a:r>
              <a:rPr b="0" lang="en-US" sz="2050" spc="-1" strike="noStrike">
                <a:solidFill>
                  <a:srgbClr val="123159"/>
                </a:solidFill>
                <a:latin typeface="Courier New"/>
                <a:ea typeface="Courier New"/>
              </a:rPr>
              <a:t>( n -- n )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5"/>
          <p:cNvSpPr/>
          <p:nvPr/>
        </p:nvSpPr>
        <p:spPr>
          <a:xfrm>
            <a:off x="4572000" y="2104920"/>
            <a:ext cx="391428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7a2638"/>
                </a:solidFill>
                <a:latin typeface="Courier New"/>
                <a:ea typeface="Courier New"/>
              </a:rPr>
              <a:t>FALSE PATH</a:t>
            </a:r>
            <a:endParaRPr b="0" lang="et-E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6"/>
          <p:cNvSpPr/>
          <p:nvPr/>
        </p:nvSpPr>
        <p:spPr>
          <a:xfrm>
            <a:off x="4572000" y="2390760"/>
            <a:ext cx="3914280" cy="66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r>
              <a:rPr b="0" lang="en-US" sz="2050" spc="-1" strike="noStrike">
                <a:solidFill>
                  <a:srgbClr val="123159"/>
                </a:solidFill>
                <a:latin typeface="Courier New"/>
                <a:ea typeface="Courier New"/>
              </a:rPr>
              <a:t>1+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12000"/>
              </a:lnSpc>
              <a:tabLst>
                <a:tab algn="l" pos="0"/>
              </a:tabLst>
            </a:pPr>
            <a:r>
              <a:rPr b="0" lang="en-US" sz="2050" spc="-1" strike="noStrike">
                <a:solidFill>
                  <a:srgbClr val="123159"/>
                </a:solidFill>
                <a:latin typeface="Courier New"/>
                <a:ea typeface="Courier New"/>
              </a:rPr>
              <a:t>( n -- n )</a:t>
            </a:r>
            <a:endParaRPr b="0" lang="et-EE" sz="2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7"/>
          <p:cNvSpPr/>
          <p:nvPr/>
        </p:nvSpPr>
        <p:spPr>
          <a:xfrm>
            <a:off x="657360" y="3579480"/>
            <a:ext cx="7829280" cy="35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50" spc="-1" strike="noStrike">
                <a:solidFill>
                  <a:srgbClr val="123159"/>
                </a:solidFill>
                <a:latin typeface="Courier New"/>
                <a:ea typeface="Courier New"/>
              </a:rPr>
              <a:t>FUN ( n flag -- n )</a:t>
            </a:r>
            <a:endParaRPr b="0" lang="et-EE" sz="2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8"/>
          <p:cNvSpPr/>
          <p:nvPr/>
        </p:nvSpPr>
        <p:spPr>
          <a:xfrm>
            <a:off x="657360" y="4311720"/>
            <a:ext cx="7829280" cy="79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7960" bIns="0" anchor="t">
            <a:spAutoFit/>
          </a:bodyPr>
          <a:p>
            <a:pPr algn="ctr" defTabSz="914400">
              <a:lnSpc>
                <a:spcPct val="107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Despite different value-level behavior, both paths preserve the same numeric stack interface.</a:t>
            </a:r>
            <a:endParaRPr b="0" lang="et-EE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4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105" name="Text 0"/>
          <p:cNvSpPr/>
          <p:nvPr/>
        </p:nvSpPr>
        <p:spPr>
          <a:xfrm>
            <a:off x="760320" y="299880"/>
            <a:ext cx="516708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83000"/>
              </a:lnSpc>
              <a:tabLst>
                <a:tab algn="l" pos="0"/>
              </a:tabLst>
            </a:pPr>
            <a:r>
              <a:rPr b="1" lang="en-US" sz="2950" spc="-4" strike="noStrike">
                <a:solidFill>
                  <a:srgbClr val="123159"/>
                </a:solidFill>
                <a:latin typeface="Courier New"/>
                <a:ea typeface="Courier New"/>
              </a:rPr>
              <a:t>Example: Loop Stability</a:t>
            </a:r>
            <a:endParaRPr b="0" lang="et-EE" sz="2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 1"/>
          <p:cNvSpPr/>
          <p:nvPr/>
        </p:nvSpPr>
        <p:spPr>
          <a:xfrm>
            <a:off x="8340480" y="299880"/>
            <a:ext cx="130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10224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2638"/>
                </a:solidFill>
                <a:latin typeface="Courier New"/>
                <a:ea typeface="Courier New"/>
              </a:rPr>
              <a:t>09</a:t>
            </a:r>
            <a:endParaRPr b="0" lang="et-E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"/>
          <p:cNvSpPr/>
          <p:nvPr/>
        </p:nvSpPr>
        <p:spPr>
          <a:xfrm>
            <a:off x="1691280" y="1228680"/>
            <a:ext cx="57614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50" spc="-1" strike="noStrike">
                <a:solidFill>
                  <a:srgbClr val="123159"/>
                </a:solidFill>
                <a:latin typeface="Courier New"/>
                <a:ea typeface="Courier New"/>
              </a:rPr>
              <a:t>: ULOOP </a:t>
            </a:r>
            <a:r>
              <a:rPr b="1" lang="en-US" sz="2450" spc="-1" strike="noStrike">
                <a:solidFill>
                  <a:srgbClr val="7a2638"/>
                </a:solidFill>
                <a:latin typeface="Courier New"/>
                <a:ea typeface="Courier New"/>
              </a:rPr>
              <a:t>BEGIN</a:t>
            </a:r>
            <a:r>
              <a:rPr b="1" lang="en-US" sz="2450" spc="-1" strike="noStrike">
                <a:solidFill>
                  <a:srgbClr val="123159"/>
                </a:solidFill>
                <a:latin typeface="Courier New"/>
                <a:ea typeface="Courier New"/>
              </a:rPr>
              <a:t> DUP 0= </a:t>
            </a:r>
            <a:r>
              <a:rPr b="1" lang="en-US" sz="2450" spc="-1" strike="noStrike">
                <a:solidFill>
                  <a:srgbClr val="7a2638"/>
                </a:solidFill>
                <a:latin typeface="Courier New"/>
                <a:ea typeface="Courier New"/>
              </a:rPr>
              <a:t>UNTIL</a:t>
            </a:r>
            <a:r>
              <a:rPr b="1" lang="en-US" sz="2450" spc="-1" strike="noStrike">
                <a:solidFill>
                  <a:srgbClr val="123159"/>
                </a:solidFill>
                <a:latin typeface="Courier New"/>
                <a:ea typeface="Courier New"/>
              </a:rPr>
              <a:t> ;</a:t>
            </a:r>
            <a:endParaRPr b="0" lang="et-EE" sz="2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3006720" y="1975320"/>
            <a:ext cx="6732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7a2638"/>
                </a:solidFill>
                <a:latin typeface="Courier New"/>
                <a:ea typeface="Courier New"/>
              </a:rPr>
              <a:t>ONE PASS</a:t>
            </a:r>
            <a:endParaRPr b="0" lang="et-E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Text 4"/>
          <p:cNvSpPr/>
          <p:nvPr/>
        </p:nvSpPr>
        <p:spPr>
          <a:xfrm>
            <a:off x="3232440" y="2261160"/>
            <a:ext cx="22212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800" spc="-1" strike="noStrike">
                <a:solidFill>
                  <a:srgbClr val="123159"/>
                </a:solidFill>
                <a:latin typeface="Georgia"/>
                <a:ea typeface="Georgia"/>
              </a:rPr>
              <a:t>π</a:t>
            </a:r>
            <a:endParaRPr b="0" lang="et-E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5"/>
          <p:cNvSpPr/>
          <p:nvPr/>
        </p:nvSpPr>
        <p:spPr>
          <a:xfrm>
            <a:off x="4324680" y="1975320"/>
            <a:ext cx="284760" cy="54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307800" bIns="-324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171a20"/>
                </a:solidFill>
                <a:latin typeface="Georgia"/>
                <a:ea typeface="Georgia"/>
              </a:rPr>
              <a:t>vs.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6"/>
          <p:cNvSpPr/>
          <p:nvPr/>
        </p:nvSpPr>
        <p:spPr>
          <a:xfrm>
            <a:off x="5273640" y="1975320"/>
            <a:ext cx="842400" cy="16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7a2638"/>
                </a:solidFill>
                <a:latin typeface="Courier New"/>
                <a:ea typeface="Courier New"/>
              </a:rPr>
              <a:t>TWO PASSES</a:t>
            </a:r>
            <a:endParaRPr b="0" lang="et-EE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Text 7"/>
          <p:cNvSpPr/>
          <p:nvPr/>
        </p:nvSpPr>
        <p:spPr>
          <a:xfrm>
            <a:off x="5425920" y="2261160"/>
            <a:ext cx="53748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2800" spc="-1" strike="noStrike">
                <a:solidFill>
                  <a:srgbClr val="123159"/>
                </a:solidFill>
                <a:latin typeface="Georgia"/>
                <a:ea typeface="Georgia"/>
              </a:rPr>
              <a:t>π π</a:t>
            </a:r>
            <a:endParaRPr b="0" lang="et-EE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8"/>
          <p:cNvSpPr/>
          <p:nvPr/>
        </p:nvSpPr>
        <p:spPr>
          <a:xfrm>
            <a:off x="2308320" y="3043080"/>
            <a:ext cx="452664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450" spc="-1" strike="noStrike">
                <a:solidFill>
                  <a:srgbClr val="123159"/>
                </a:solidFill>
                <a:latin typeface="Courier New"/>
                <a:ea typeface="Courier New"/>
              </a:rPr>
              <a:t>ULOOP ( n</a:t>
            </a:r>
            <a:r>
              <a:rPr b="1" lang="en-US" sz="2450" spc="-1" strike="noStrike">
                <a:solidFill>
                  <a:srgbClr val="7a2638"/>
                </a:solidFill>
                <a:latin typeface="Courier New"/>
                <a:ea typeface="Courier New"/>
              </a:rPr>
              <a:t>[1]</a:t>
            </a:r>
            <a:r>
              <a:rPr b="1" lang="en-US" sz="2450" spc="-1" strike="noStrike">
                <a:solidFill>
                  <a:srgbClr val="123159"/>
                </a:solidFill>
                <a:latin typeface="Courier New"/>
                <a:ea typeface="Courier New"/>
              </a:rPr>
              <a:t> -- n</a:t>
            </a:r>
            <a:r>
              <a:rPr b="1" lang="en-US" sz="2450" spc="-1" strike="noStrike">
                <a:solidFill>
                  <a:srgbClr val="7a2638"/>
                </a:solidFill>
                <a:latin typeface="Courier New"/>
                <a:ea typeface="Courier New"/>
              </a:rPr>
              <a:t>[1]</a:t>
            </a:r>
            <a:r>
              <a:rPr b="1" lang="en-US" sz="2450" spc="-1" strike="noStrike">
                <a:solidFill>
                  <a:srgbClr val="123159"/>
                </a:solidFill>
                <a:latin typeface="Courier New"/>
                <a:ea typeface="Courier New"/>
              </a:rPr>
              <a:t> )</a:t>
            </a:r>
            <a:endParaRPr b="0" lang="et-EE" sz="24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Text 9"/>
          <p:cNvSpPr/>
          <p:nvPr/>
        </p:nvSpPr>
        <p:spPr>
          <a:xfrm>
            <a:off x="657360" y="3789720"/>
            <a:ext cx="7829280" cy="5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237960" bIns="0" anchor="t">
            <a:spAutoFit/>
          </a:bodyPr>
          <a:p>
            <a:pPr algn="ctr" defTabSz="914400">
              <a:lnSpc>
                <a:spcPct val="107000"/>
              </a:lnSpc>
              <a:tabLst>
                <a:tab algn="l" pos="0"/>
              </a:tabLst>
            </a:pPr>
            <a:r>
              <a:rPr b="0" lang="en-US" sz="1700" spc="-1" strike="noStrike">
                <a:solidFill>
                  <a:srgbClr val="171a20"/>
                </a:solidFill>
                <a:latin typeface="Georgia"/>
                <a:ea typeface="Georgia"/>
              </a:rPr>
              <a:t>A local stack-stability test, not a general loop invariant.</a:t>
            </a:r>
            <a:endParaRPr b="0" lang="et-EE" sz="17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Image 0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9143640" cy="5143320"/>
          </a:xfrm>
          <a:prstGeom prst="rect">
            <a:avLst/>
          </a:prstGeom>
          <a:ln w="0">
            <a:noFill/>
          </a:ln>
        </p:spPr>
      </p:pic>
      <p:sp>
        <p:nvSpPr>
          <p:cNvPr id="116" name="Text 0"/>
          <p:cNvSpPr/>
          <p:nvPr/>
        </p:nvSpPr>
        <p:spPr>
          <a:xfrm>
            <a:off x="688320" y="299880"/>
            <a:ext cx="1573200" cy="37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83000"/>
              </a:lnSpc>
              <a:tabLst>
                <a:tab algn="l" pos="0"/>
              </a:tabLst>
            </a:pPr>
            <a:r>
              <a:rPr b="1" lang="en-US" sz="2950" spc="-4" strike="noStrike">
                <a:solidFill>
                  <a:srgbClr val="123159"/>
                </a:solidFill>
                <a:latin typeface="Courier New"/>
                <a:ea typeface="Courier New"/>
              </a:rPr>
              <a:t>Summary</a:t>
            </a:r>
            <a:endParaRPr b="0" lang="et-EE" sz="2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Text 1"/>
          <p:cNvSpPr/>
          <p:nvPr/>
        </p:nvSpPr>
        <p:spPr>
          <a:xfrm>
            <a:off x="8340480" y="299880"/>
            <a:ext cx="130680" cy="23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10224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2638"/>
                </a:solidFill>
                <a:latin typeface="Courier New"/>
                <a:ea typeface="Courier New"/>
              </a:rPr>
              <a:t>10</a:t>
            </a:r>
            <a:endParaRPr b="0" lang="et-EE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657360" y="1157400"/>
            <a:ext cx="78292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7a2638"/>
                </a:solidFill>
                <a:latin typeface="Courier New"/>
                <a:ea typeface="Courier New"/>
              </a:rPr>
              <a:t>POLYCYCLIC MONOID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3"/>
          <p:cNvSpPr/>
          <p:nvPr/>
        </p:nvSpPr>
        <p:spPr>
          <a:xfrm>
            <a:off x="1325880" y="1507320"/>
            <a:ext cx="649188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8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71a20"/>
                </a:solidFill>
                <a:latin typeface="Georgia"/>
                <a:ea typeface="Georgia"/>
              </a:rPr>
              <a:t>Provides the rigorous algebraic foundation for stack effects.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4"/>
          <p:cNvSpPr/>
          <p:nvPr/>
        </p:nvSpPr>
        <p:spPr>
          <a:xfrm>
            <a:off x="657360" y="2049480"/>
            <a:ext cx="78292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7a2638"/>
                </a:solidFill>
                <a:latin typeface="Courier New"/>
                <a:ea typeface="Courier New"/>
              </a:rPr>
              <a:t>PROFILE-DRIVEN TYPES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Text 5"/>
          <p:cNvSpPr/>
          <p:nvPr/>
        </p:nvSpPr>
        <p:spPr>
          <a:xfrm>
            <a:off x="1234440" y="2399400"/>
            <a:ext cx="667476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8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71a20"/>
                </a:solidFill>
                <a:latin typeface="Georgia"/>
                <a:ea typeface="Georgia"/>
              </a:rPr>
              <a:t>Allow external definition of hierarchies and primitive effects.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Text 6"/>
          <p:cNvSpPr/>
          <p:nvPr/>
        </p:nvSpPr>
        <p:spPr>
          <a:xfrm>
            <a:off x="657360" y="2941920"/>
            <a:ext cx="78292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7a2638"/>
                </a:solidFill>
                <a:latin typeface="Courier New"/>
                <a:ea typeface="Courier New"/>
              </a:rPr>
              <a:t>SYMBOLIC INDICES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Text 7"/>
          <p:cNvSpPr/>
          <p:nvPr/>
        </p:nvSpPr>
        <p:spPr>
          <a:xfrm>
            <a:off x="1808280" y="3291840"/>
            <a:ext cx="5527080" cy="29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t">
            <a:spAutoFit/>
          </a:bodyPr>
          <a:p>
            <a:pPr defTabSz="914400">
              <a:lnSpc>
                <a:spcPct val="108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71a20"/>
                </a:solidFill>
                <a:latin typeface="Georgia"/>
                <a:ea typeface="Georgia"/>
              </a:rPr>
              <a:t>Track value flow and identity across stack shuffles.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Text 8"/>
          <p:cNvSpPr/>
          <p:nvPr/>
        </p:nvSpPr>
        <p:spPr>
          <a:xfrm>
            <a:off x="657360" y="3834000"/>
            <a:ext cx="782928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7a2638"/>
                </a:solidFill>
                <a:latin typeface="Courier New"/>
                <a:ea typeface="Courier New"/>
              </a:rPr>
              <a:t>GFORTH EVALUATOR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9"/>
          <p:cNvSpPr/>
          <p:nvPr/>
        </p:nvSpPr>
        <p:spPr>
          <a:xfrm>
            <a:off x="657360" y="4183920"/>
            <a:ext cx="7829280" cy="59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ct val="108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171a20"/>
                </a:solidFill>
                <a:latin typeface="Georgia"/>
                <a:ea typeface="Georgia"/>
              </a:rPr>
              <a:t>Implements these theoretical concepts to provide reproducible, source-level static checking.</a:t>
            </a:r>
            <a:endParaRPr b="0" lang="et-EE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2026-08-26T19:01:29Z</dcterms:created>
  <dc:creator>PptxGenJS</dc:creator>
  <dc:description/>
  <dc:language>et-EE</dc:language>
  <cp:lastModifiedBy/>
  <dcterms:modified xsi:type="dcterms:W3CDTF">2026-08-26T22:05:31Z</dcterms:modified>
  <cp:revision>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10</vt:i4>
  </property>
  <property fmtid="{D5CDD505-2E9C-101B-9397-08002B2CF9AE}" pid="3" name="PresentationFormat">
    <vt:lpwstr>On-screen Show (16:9)</vt:lpwstr>
  </property>
  <property fmtid="{D5CDD505-2E9C-101B-9397-08002B2CF9AE}" pid="4" name="Slides">
    <vt:i4>10</vt:i4>
  </property>
</Properties>
</file>
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4EC"/>
          </a:solidFill>
          <a:ln>
            <a:solidFill>
              <a:srgbClr val="F7F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7C86"/>
          </a:solidFill>
          <a:ln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777240"/>
            <a:ext cx="667512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12304A"/>
                </a:solidFill>
                <a:latin typeface="Liberation Sans"/>
              </a:rPr>
              <a:t>Static Type Checking
for Forth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2423160"/>
            <a:ext cx="67665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9A3548"/>
                </a:solidFill>
                <a:latin typeface="Liberation Sans"/>
              </a:rPr>
              <a:t>Making stack-effect specifications executable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2999232"/>
            <a:ext cx="699516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27343C"/>
                </a:solidFill>
                <a:latin typeface="Liberation Sans"/>
              </a:rPr>
              <a:t>Infer required and produced stack suffixes, preserve value identity,
and report incompatible boundaries—without running the source.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4187952"/>
            <a:ext cx="1600200" cy="329184"/>
          </a:xfrm>
          <a:prstGeom prst="roundRect">
            <a:avLst/>
          </a:prstGeom>
          <a:solidFill>
            <a:srgbClr val="0E7C86"/>
          </a:solidFill>
          <a:ln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4187952"/>
            <a:ext cx="1600200" cy="329184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Liberation Sans"/>
              </a:rPr>
              <a:t>PROFILE-DRIVEN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487168" y="4187952"/>
            <a:ext cx="1481328" cy="329184"/>
          </a:xfrm>
          <a:prstGeom prst="roundRect">
            <a:avLst/>
          </a:prstGeom>
          <a:solidFill>
            <a:srgbClr val="2D6684"/>
          </a:solidFill>
          <a:ln>
            <a:solidFill>
              <a:srgbClr val="2D66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87168" y="4187952"/>
            <a:ext cx="1481328" cy="329184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Liberation Sans"/>
              </a:rPr>
              <a:t>SOURCE-LEVEL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05656" y="4187952"/>
            <a:ext cx="1225296" cy="329184"/>
          </a:xfrm>
          <a:prstGeom prst="roundRect">
            <a:avLst/>
          </a:prstGeom>
          <a:solidFill>
            <a:srgbClr val="9A3548"/>
          </a:solidFill>
          <a:ln>
            <a:solidFill>
              <a:srgbClr val="9A35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5656" y="4187952"/>
            <a:ext cx="1225296" cy="329184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Liberation Sans"/>
              </a:rPr>
              <a:t>SYMBOLIC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56448" y="1444752"/>
            <a:ext cx="685800" cy="62179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5E6B73"/>
                </a:solidFill>
                <a:latin typeface="Liberation Sans"/>
              </a:rPr>
              <a:t>F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65008" y="1353312"/>
            <a:ext cx="868680" cy="804672"/>
          </a:xfrm>
          <a:prstGeom prst="rect">
            <a:avLst/>
          </a:prstGeom>
          <a:solidFill>
            <a:srgbClr val="ECEAE4"/>
          </a:solidFill>
          <a:ln w="12700">
            <a:solidFill>
              <a:srgbClr val="D8D8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65008" y="1353312"/>
            <a:ext cx="868680" cy="8046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5E6B73"/>
                </a:solidFill>
                <a:latin typeface="Liberation Sans"/>
              </a:rPr>
              <a:t>F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33688" y="1353312"/>
            <a:ext cx="1481328" cy="804672"/>
          </a:xfrm>
          <a:prstGeom prst="rect">
            <a:avLst/>
          </a:prstGeom>
          <a:solidFill>
            <a:srgbClr val="E6F1F1"/>
          </a:solidFill>
          <a:ln w="1270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33688" y="1353312"/>
            <a:ext cx="1481328" cy="8046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0E7C86"/>
                </a:solidFill>
                <a:latin typeface="Liberation Mono"/>
              </a:rPr>
              <a:t>a-addr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235440" y="2487168"/>
            <a:ext cx="0" cy="484632"/>
          </a:xfrm>
          <a:prstGeom prst="line">
            <a:avLst/>
          </a:prstGeom>
          <a:ln w="25400">
            <a:solidFill>
              <a:srgbClr val="0E7C86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869680" y="2276856"/>
            <a:ext cx="731520" cy="329184"/>
          </a:xfrm>
          <a:prstGeom prst="roundRect">
            <a:avLst/>
          </a:prstGeom>
          <a:solidFill>
            <a:srgbClr val="12304A"/>
          </a:solidFill>
          <a:ln>
            <a:solidFill>
              <a:srgbClr val="123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680" y="2276856"/>
            <a:ext cx="731520" cy="329184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Liberation Sans"/>
              </a:rPr>
              <a:t>@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65008" y="3108960"/>
            <a:ext cx="868680" cy="804672"/>
          </a:xfrm>
          <a:prstGeom prst="rect">
            <a:avLst/>
          </a:prstGeom>
          <a:solidFill>
            <a:srgbClr val="ECEAE4"/>
          </a:solidFill>
          <a:ln w="12700">
            <a:solidFill>
              <a:srgbClr val="D8D8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65008" y="3108960"/>
            <a:ext cx="868680" cy="8046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5E6B73"/>
                </a:solidFill>
                <a:latin typeface="Liberation Sans"/>
              </a:rPr>
              <a:t>F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33688" y="3108960"/>
            <a:ext cx="1481328" cy="804672"/>
          </a:xfrm>
          <a:prstGeom prst="rect">
            <a:avLst/>
          </a:prstGeom>
          <a:solidFill>
            <a:srgbClr val="E8F0F5"/>
          </a:solidFill>
          <a:ln w="12700">
            <a:solidFill>
              <a:srgbClr val="2D66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33688" y="3108960"/>
            <a:ext cx="1481328" cy="8046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2D6684"/>
                </a:solidFill>
                <a:latin typeface="Liberation Mono"/>
              </a:rPr>
              <a:t>X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26679" y="4343400"/>
            <a:ext cx="3044952" cy="576072"/>
          </a:xfrm>
          <a:prstGeom prst="roundRect">
            <a:avLst/>
          </a:prstGeom>
          <a:solidFill>
            <a:srgbClr val="FFFDFC"/>
          </a:solidFill>
          <a:ln w="1016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99831" y="4379976"/>
            <a:ext cx="2898648" cy="502920"/>
          </a:xfrm>
          <a:prstGeom prst="rect">
            <a:avLst/>
          </a:prstGeom>
          <a:noFill/>
        </p:spPr>
        <p:txBody>
          <a:bodyPr wrap="square" lIns="128016" rIns="128016" tIns="128016" bIns="12801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2304A"/>
                </a:solidFill>
                <a:latin typeface="Liberation Mono"/>
              </a:rPr>
              <a:t>@  ( a-addr -- X 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5715000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7343C"/>
                </a:solidFill>
                <a:latin typeface="Liberation Sans"/>
              </a:rPr>
              <a:t>Jaanus Pöial
Tallinn University of Technology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62672" y="5897880"/>
            <a:ext cx="349300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E6B73"/>
                </a:solidFill>
                <a:latin typeface="Liberation Mono"/>
              </a:rPr>
              <a:t>Native checker: gforth-evaluator.fs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30352" y="228600"/>
            <a:ext cx="11128248" cy="0"/>
          </a:xfrm>
          <a:prstGeom prst="line">
            <a:avLst/>
          </a:prstGeom>
          <a:ln w="2286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30352" y="347472"/>
            <a:ext cx="3200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9A3548"/>
                </a:solidFill>
                <a:latin typeface="Liberation Sans"/>
              </a:rP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521207"/>
            <a:ext cx="10561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2304A"/>
                </a:solidFill>
                <a:latin typeface="Liberation Sans"/>
              </a:rPr>
              <a:t>Why check Forth before running it?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42976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9A3548"/>
                </a:solidFill>
                <a:latin typeface="Liberation Mono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83680"/>
            <a:ext cx="3657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5E6B73"/>
                </a:solidFill>
                <a:latin typeface="Liberation Sans"/>
              </a:rPr>
              <a:t>STATIC TYPE CHECKING FOR FORTH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65392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 i="0">
                <a:solidFill>
                  <a:srgbClr val="5E6B73"/>
                </a:solidFill>
                <a:latin typeface="Liberation Sans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05840"/>
            <a:ext cx="110185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27343C"/>
                </a:solidFill>
                <a:latin typeface="Liberation Sans"/>
              </a:rPr>
              <a:t>Forth passes values through untagged cells. Producers and consumers are adjacent in time—but not named in the source.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691640"/>
            <a:ext cx="3246120" cy="3611880"/>
          </a:xfrm>
          <a:prstGeom prst="roundRect">
            <a:avLst/>
          </a:prstGeom>
          <a:solidFill>
            <a:srgbClr val="F5E7E8"/>
          </a:solidFill>
          <a:ln w="12700">
            <a:solidFill>
              <a:srgbClr val="9A35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49808" y="1901952"/>
            <a:ext cx="402336" cy="347472"/>
          </a:xfrm>
          <a:prstGeom prst="roundRect">
            <a:avLst/>
          </a:prstGeom>
          <a:solidFill>
            <a:srgbClr val="9A3548"/>
          </a:solidFill>
          <a:ln>
            <a:solidFill>
              <a:srgbClr val="9A35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1901952"/>
            <a:ext cx="402336" cy="347472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Liberation Sans"/>
              </a:rPr>
              <a:t>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359152"/>
            <a:ext cx="2880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2304A"/>
                </a:solidFill>
                <a:latin typeface="Liberation Sans"/>
              </a:rPr>
              <a:t>A depth-correct error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971800"/>
            <a:ext cx="2852928" cy="2057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27343C"/>
                </a:solidFill>
                <a:latin typeface="Liberation Sans"/>
              </a:rPr>
              <a:t>C@ leaves a char.  ! expects an address on top.
The stack depth can look plausible while the boundary type is wrong.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42232" y="1691640"/>
            <a:ext cx="3246120" cy="3611880"/>
          </a:xfrm>
          <a:prstGeom prst="roundRect">
            <a:avLst/>
          </a:prstGeom>
          <a:solidFill>
            <a:srgbClr val="E8F0F5"/>
          </a:solidFill>
          <a:ln w="12700">
            <a:solidFill>
              <a:srgbClr val="2D66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325112" y="1901952"/>
            <a:ext cx="402336" cy="347472"/>
          </a:xfrm>
          <a:prstGeom prst="roundRect">
            <a:avLst/>
          </a:prstGeom>
          <a:solidFill>
            <a:srgbClr val="2D6684"/>
          </a:solidFill>
          <a:ln>
            <a:solidFill>
              <a:srgbClr val="2D66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25112" y="1901952"/>
            <a:ext cx="402336" cy="347472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Liberation Sans"/>
              </a:rPr>
              <a:t>!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25112" y="2359152"/>
            <a:ext cx="2880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2304A"/>
                </a:solidFill>
                <a:latin typeface="Liberation Sans"/>
              </a:rPr>
              <a:t>Shuffles hide provenance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25112" y="2971800"/>
            <a:ext cx="2852928" cy="2057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27343C"/>
                </a:solidFill>
                <a:latin typeface="Liberation Sans"/>
              </a:rPr>
              <a:t>DUP, SWAP, OVER, and ROT move or copy cells without names.
A later use may be the first clue to an earlier requirement.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17536" y="1691640"/>
            <a:ext cx="3246120" cy="3611880"/>
          </a:xfrm>
          <a:prstGeom prst="roundRect">
            <a:avLst/>
          </a:prstGeom>
          <a:solidFill>
            <a:srgbClr val="F7ECE1"/>
          </a:solidFill>
          <a:ln w="12700">
            <a:solidFill>
              <a:srgbClr val="C46A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900415" y="1901952"/>
            <a:ext cx="402336" cy="347472"/>
          </a:xfrm>
          <a:prstGeom prst="roundRect">
            <a:avLst/>
          </a:prstGeom>
          <a:solidFill>
            <a:srgbClr val="C46A2B"/>
          </a:solidFill>
          <a:ln>
            <a:solidFill>
              <a:srgbClr val="C46A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00415" y="1901952"/>
            <a:ext cx="402336" cy="347472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Liberation Sans"/>
              </a:rP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00415" y="2359152"/>
            <a:ext cx="2880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2304A"/>
                </a:solidFill>
                <a:latin typeface="Liberation Sans"/>
              </a:rPr>
              <a:t>Comments can drift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00415" y="2971800"/>
            <a:ext cx="2852928" cy="2057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27343C"/>
                </a:solidFill>
                <a:latin typeface="Liberation Sans"/>
              </a:rPr>
              <a:t>( n -- n² ) may explain intent, but a normal Forth system does not derive or verify it.
An edit can leave the comment stale.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669280"/>
            <a:ext cx="11055096" cy="530352"/>
          </a:xfrm>
          <a:prstGeom prst="roundRect">
            <a:avLst/>
          </a:prstGeom>
          <a:solidFill>
            <a:srgbClr val="E6F1F1"/>
          </a:solidFill>
          <a:ln w="10160">
            <a:solidFill>
              <a:srgbClr val="58A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8" y="5687568"/>
            <a:ext cx="10689336" cy="4846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12304A"/>
                </a:solidFill>
                <a:latin typeface="Liberation Sans"/>
              </a:rPr>
              <a:t>Goal: catch stack-shape and type mistakes at source level—without changing the target Forth or tagging runtime cells.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30352" y="228600"/>
            <a:ext cx="11128248" cy="0"/>
          </a:xfrm>
          <a:prstGeom prst="line">
            <a:avLst/>
          </a:prstGeom>
          <a:ln w="2286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30352" y="347472"/>
            <a:ext cx="3200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9A3548"/>
                </a:solidFill>
                <a:latin typeface="Liberation Sans"/>
              </a:rP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521207"/>
            <a:ext cx="10561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2304A"/>
                </a:solidFill>
                <a:latin typeface="Liberation Sans"/>
              </a:rPr>
              <a:t>From an informal comment to a checkable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42976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9A3548"/>
                </a:solidFill>
                <a:latin typeface="Liberation Mono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83680"/>
            <a:ext cx="3657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5E6B73"/>
                </a:solidFill>
                <a:latin typeface="Liberation Sans"/>
              </a:rPr>
              <a:t>STATIC TYPE CHECKING FOR FORTH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65392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 i="0">
                <a:solidFill>
                  <a:srgbClr val="5E6B73"/>
                </a:solidFill>
                <a:latin typeface="Liberation Sans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097280"/>
            <a:ext cx="9902952" cy="658368"/>
          </a:xfrm>
          <a:prstGeom prst="roundRect">
            <a:avLst/>
          </a:prstGeom>
          <a:solidFill>
            <a:srgbClr val="ECEAE4"/>
          </a:solidFill>
          <a:ln w="10160">
            <a:solidFill>
              <a:srgbClr val="D8D8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16152" y="1133856"/>
            <a:ext cx="9756648" cy="585216"/>
          </a:xfrm>
          <a:prstGeom prst="rect">
            <a:avLst/>
          </a:prstGeom>
          <a:noFill/>
        </p:spPr>
        <p:txBody>
          <a:bodyPr wrap="square" lIns="128016" rIns="128016" tIns="128016" bIns="12801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12304A"/>
                </a:solidFill>
                <a:latin typeface="Liberation Mono"/>
              </a:rPr>
              <a:t>: SQUARED  DUP * ;      ( n -- n² 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057400"/>
            <a:ext cx="4251960" cy="3200400"/>
          </a:xfrm>
          <a:prstGeom prst="roundRect">
            <a:avLst/>
          </a:prstGeom>
          <a:solidFill>
            <a:srgbClr val="F7ECE1"/>
          </a:solidFill>
          <a:ln w="12700">
            <a:solidFill>
              <a:srgbClr val="C46A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313432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46A2B"/>
                </a:solidFill>
                <a:latin typeface="Liberation Sans"/>
              </a:rPr>
              <a:t>INFORMAL SEMANTIC COMMENT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761488"/>
            <a:ext cx="367588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12304A"/>
                </a:solidFill>
                <a:latin typeface="Liberation Sans"/>
              </a:rPr>
              <a:t>n² says what the result means mathematically.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401568"/>
            <a:ext cx="3657600" cy="141732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lnSpc>
                <a:spcPct val="100000"/>
              </a:lnSpc>
              <a:spcAft>
                <a:spcPts val="700"/>
              </a:spcAft>
            </a:pPr>
            <a:r>
              <a:rPr sz="1400" b="1">
                <a:solidFill>
                  <a:srgbClr val="C46A2B"/>
                </a:solidFill>
                <a:latin typeface="Liberation Sans"/>
              </a:rPr>
              <a:t>• </a:t>
            </a:r>
            <a:r>
              <a:rPr sz="1400">
                <a:solidFill>
                  <a:srgbClr val="27343C"/>
                </a:solidFill>
                <a:latin typeface="Liberation Sans"/>
              </a:rPr>
              <a:t>Useful documentation</a:t>
            </a: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sz="1400" b="1">
                <a:solidFill>
                  <a:srgbClr val="C46A2B"/>
                </a:solidFill>
                <a:latin typeface="Liberation Sans"/>
              </a:rPr>
              <a:t>• </a:t>
            </a:r>
            <a:r>
              <a:rPr sz="1400">
                <a:solidFill>
                  <a:srgbClr val="27343C"/>
                </a:solidFill>
                <a:latin typeface="Liberation Sans"/>
              </a:rPr>
              <a:t>May be absent or stale</a:t>
            </a:r>
          </a:p>
          <a:p>
            <a:pPr>
              <a:lnSpc>
                <a:spcPct val="100000"/>
              </a:lnSpc>
              <a:spcAft>
                <a:spcPts val="700"/>
              </a:spcAft>
            </a:pPr>
            <a:r>
              <a:rPr sz="1400" b="1">
                <a:solidFill>
                  <a:srgbClr val="C46A2B"/>
                </a:solidFill>
                <a:latin typeface="Liberation Sans"/>
              </a:rPr>
              <a:t>• </a:t>
            </a:r>
            <a:r>
              <a:rPr sz="1400">
                <a:solidFill>
                  <a:srgbClr val="27343C"/>
                </a:solidFill>
                <a:latin typeface="Liberation Sans"/>
              </a:rPr>
              <a:t>Consumed as source text; not trusted as an assertion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193792" y="3657600"/>
            <a:ext cx="1709928" cy="0"/>
          </a:xfrm>
          <a:prstGeom prst="line">
            <a:avLst/>
          </a:prstGeom>
          <a:ln w="27940">
            <a:solidFill>
              <a:srgbClr val="0E7C86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623560" y="3200400"/>
            <a:ext cx="850392" cy="329184"/>
          </a:xfrm>
          <a:prstGeom prst="roundRect">
            <a:avLst/>
          </a:prstGeom>
          <a:solidFill>
            <a:srgbClr val="0E7C86"/>
          </a:solidFill>
          <a:ln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23560" y="3200400"/>
            <a:ext cx="850392" cy="329184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Liberation Sans"/>
              </a:rPr>
              <a:t>CHECK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05472" y="2057400"/>
            <a:ext cx="4315968" cy="3200400"/>
          </a:xfrm>
          <a:prstGeom prst="roundRect">
            <a:avLst/>
          </a:prstGeom>
          <a:solidFill>
            <a:srgbClr val="E6F1F1"/>
          </a:solidFill>
          <a:ln w="1270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52360" y="2313432"/>
            <a:ext cx="3794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7C86"/>
                </a:solidFill>
                <a:latin typeface="Liberation Sans"/>
              </a:rPr>
              <a:t>TYPED SYMBOLIC EFFECTS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79792" y="2743200"/>
            <a:ext cx="3767328" cy="1051560"/>
          </a:xfrm>
          <a:prstGeom prst="roundRect">
            <a:avLst/>
          </a:prstGeom>
          <a:solidFill>
            <a:srgbClr val="FFFDFC"/>
          </a:solidFill>
          <a:ln w="10160">
            <a:solidFill>
              <a:srgbClr val="58A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52944" y="2779776"/>
            <a:ext cx="3621024" cy="978407"/>
          </a:xfrm>
          <a:prstGeom prst="rect">
            <a:avLst/>
          </a:prstGeom>
          <a:noFill/>
        </p:spPr>
        <p:txBody>
          <a:bodyPr wrap="square" lIns="128016" rIns="128016" tIns="128016" bIns="128016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2304A"/>
                </a:solidFill>
                <a:latin typeface="Liberation Mono"/>
              </a:rPr>
              <a:t>DUP  ( X[1] -- X[1] X[1] )
*    ( n n  -- n 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79792" y="3986784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5E6B73"/>
                </a:solidFill>
                <a:latin typeface="Liberation Sans"/>
              </a:rPr>
              <a:t>Inferred: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79792" y="4279392"/>
            <a:ext cx="3767328" cy="566928"/>
          </a:xfrm>
          <a:prstGeom prst="roundRect">
            <a:avLst/>
          </a:prstGeom>
          <a:solidFill>
            <a:srgbClr val="E7F0EB"/>
          </a:solidFill>
          <a:ln w="10160">
            <a:solidFill>
              <a:srgbClr val="3D7C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52944" y="4315968"/>
            <a:ext cx="3621024" cy="493776"/>
          </a:xfrm>
          <a:prstGeom prst="rect">
            <a:avLst/>
          </a:prstGeom>
          <a:noFill/>
        </p:spPr>
        <p:txBody>
          <a:bodyPr wrap="square" lIns="128016" rIns="128016" tIns="128016" bIns="12801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2304A"/>
                </a:solidFill>
                <a:latin typeface="Liberation Mono"/>
              </a:rPr>
              <a:t>SQUARED  ( n -- n 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669280"/>
            <a:ext cx="11055096" cy="530352"/>
          </a:xfrm>
          <a:prstGeom prst="roundRect">
            <a:avLst/>
          </a:prstGeom>
          <a:solidFill>
            <a:srgbClr val="E6F1F1"/>
          </a:solidFill>
          <a:ln w="10160">
            <a:solidFill>
              <a:srgbClr val="58A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8" y="5687568"/>
            <a:ext cx="10689336" cy="4846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12304A"/>
                </a:solidFill>
                <a:latin typeface="Liberation Sans"/>
              </a:rPr>
              <a:t>The checker verifies stack shape, abstract types, and cell identity—not the mathematical claim that the result equals n².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30352" y="228600"/>
            <a:ext cx="11128248" cy="0"/>
          </a:xfrm>
          <a:prstGeom prst="line">
            <a:avLst/>
          </a:prstGeom>
          <a:ln w="2286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30352" y="347472"/>
            <a:ext cx="3200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9A3548"/>
                </a:solidFill>
                <a:latin typeface="Liberation Sans"/>
              </a:rPr>
              <a:t>RESEARCH LINEAGE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521207"/>
            <a:ext cx="10561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2304A"/>
                </a:solidFill>
                <a:latin typeface="Liberation Sans"/>
              </a:rPr>
              <a:t>One idea, progressively strengthened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42976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9A3548"/>
                </a:solidFill>
                <a:latin typeface="Liberation Mono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83680"/>
            <a:ext cx="3657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5E6B73"/>
                </a:solidFill>
                <a:latin typeface="Liberation Sans"/>
              </a:rPr>
              <a:t>STATIC TYPE CHECKING FOR FORTH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65392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 i="0">
                <a:solidFill>
                  <a:srgbClr val="5E6B73"/>
                </a:solidFill>
                <a:latin typeface="Liberation Sans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109728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27343C"/>
                </a:solidFill>
                <a:latin typeface="Liberation Sans"/>
              </a:rPr>
              <a:t>The current checker combines several stages of stack-effect research into one source-level workflow.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691640"/>
            <a:ext cx="2029968" cy="3611880"/>
          </a:xfrm>
          <a:prstGeom prst="roundRect">
            <a:avLst/>
          </a:prstGeom>
          <a:solidFill>
            <a:srgbClr val="FFFDFC"/>
          </a:solidFill>
          <a:ln w="12700">
            <a:solidFill>
              <a:srgbClr val="123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13232" y="1892808"/>
            <a:ext cx="804672" cy="310896"/>
          </a:xfrm>
          <a:prstGeom prst="roundRect">
            <a:avLst/>
          </a:prstGeom>
          <a:solidFill>
            <a:srgbClr val="12304A"/>
          </a:solidFill>
          <a:ln>
            <a:solidFill>
              <a:srgbClr val="123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892808"/>
            <a:ext cx="804672" cy="310896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Liberation Sans"/>
              </a:rPr>
              <a:t>1990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2478024"/>
            <a:ext cx="1700784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2304A"/>
                </a:solidFill>
                <a:latin typeface="Liberation Sans"/>
              </a:rPr>
              <a:t>Algebraic effects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3355848"/>
            <a:ext cx="1700784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7343C"/>
                </a:solidFill>
                <a:latin typeface="Liberation Sans"/>
              </a:rPr>
              <a:t>Compose stack transformations and distinguish identity from clash.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587752" y="3493008"/>
            <a:ext cx="192024" cy="0"/>
          </a:xfrm>
          <a:prstGeom prst="line">
            <a:avLst/>
          </a:prstGeom>
          <a:ln w="19050">
            <a:solidFill>
              <a:srgbClr val="D8D8D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816352" y="1691640"/>
            <a:ext cx="2029968" cy="3611880"/>
          </a:xfrm>
          <a:prstGeom prst="roundRect">
            <a:avLst/>
          </a:prstGeom>
          <a:solidFill>
            <a:srgbClr val="FFFDFC"/>
          </a:solidFill>
          <a:ln w="12700">
            <a:solidFill>
              <a:srgbClr val="2D66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980944" y="1892808"/>
            <a:ext cx="804672" cy="310896"/>
          </a:xfrm>
          <a:prstGeom prst="roundRect">
            <a:avLst/>
          </a:prstGeom>
          <a:solidFill>
            <a:srgbClr val="2D6684"/>
          </a:solidFill>
          <a:ln>
            <a:solidFill>
              <a:srgbClr val="2D66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80944" y="1892808"/>
            <a:ext cx="804672" cy="310896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Liberation Sans"/>
              </a:rPr>
              <a:t>1991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80944" y="2478024"/>
            <a:ext cx="1700784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2304A"/>
                </a:solidFill>
                <a:latin typeface="Liberation Sans"/>
              </a:rPr>
              <a:t>Alternative effects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80944" y="3355848"/>
            <a:ext cx="1700784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7343C"/>
                </a:solidFill>
                <a:latin typeface="Liberation Sans"/>
              </a:rPr>
              <a:t>Represent non-linear behavior and control structures.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855464" y="3493008"/>
            <a:ext cx="192024" cy="0"/>
          </a:xfrm>
          <a:prstGeom prst="line">
            <a:avLst/>
          </a:prstGeom>
          <a:ln w="19050">
            <a:solidFill>
              <a:srgbClr val="D8D8D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084064" y="1691640"/>
            <a:ext cx="2029968" cy="3611880"/>
          </a:xfrm>
          <a:prstGeom prst="roundRect">
            <a:avLst/>
          </a:prstGeom>
          <a:solidFill>
            <a:srgbClr val="FFFDFC"/>
          </a:solidFill>
          <a:ln w="1270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248655" y="1892808"/>
            <a:ext cx="804672" cy="310896"/>
          </a:xfrm>
          <a:prstGeom prst="roundRect">
            <a:avLst/>
          </a:prstGeom>
          <a:solidFill>
            <a:srgbClr val="0E7C86"/>
          </a:solidFill>
          <a:ln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48655" y="1892808"/>
            <a:ext cx="804672" cy="310896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Liberation Sans"/>
              </a:rPr>
              <a:t>2002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48655" y="2478024"/>
            <a:ext cx="1700784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2304A"/>
                </a:solidFill>
                <a:latin typeface="Liberation Sans"/>
              </a:rPr>
              <a:t>Typed wildcards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48655" y="3355848"/>
            <a:ext cx="1700784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7343C"/>
                </a:solidFill>
                <a:latin typeface="Liberation Sans"/>
              </a:rPr>
              <a:t>Add subtyping, polymorphism, and symbolic value identity.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123175" y="3493008"/>
            <a:ext cx="192025" cy="0"/>
          </a:xfrm>
          <a:prstGeom prst="line">
            <a:avLst/>
          </a:prstGeom>
          <a:ln w="19050">
            <a:solidFill>
              <a:srgbClr val="D8D8D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351775" y="1691640"/>
            <a:ext cx="2029968" cy="3611880"/>
          </a:xfrm>
          <a:prstGeom prst="roundRect">
            <a:avLst/>
          </a:prstGeom>
          <a:solidFill>
            <a:srgbClr val="FFFDFC"/>
          </a:solidFill>
          <a:ln w="12700">
            <a:solidFill>
              <a:srgbClr val="C46A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516367" y="1892808"/>
            <a:ext cx="804672" cy="310896"/>
          </a:xfrm>
          <a:prstGeom prst="roundRect">
            <a:avLst/>
          </a:prstGeom>
          <a:solidFill>
            <a:srgbClr val="C46A2B"/>
          </a:solidFill>
          <a:ln>
            <a:solidFill>
              <a:srgbClr val="C46A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16367" y="1892808"/>
            <a:ext cx="804672" cy="310896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Liberation Sans"/>
              </a:rPr>
              <a:t>2006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16367" y="2478024"/>
            <a:ext cx="1700784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2304A"/>
                </a:solidFill>
                <a:latin typeface="Liberation Sans"/>
              </a:rPr>
              <a:t>Must-style analysis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16367" y="3355848"/>
            <a:ext cx="1700784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7343C"/>
                </a:solidFill>
                <a:latin typeface="Liberation Sans"/>
              </a:rPr>
              <a:t>Use common information for branches and a finite repetition test.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390888" y="3493008"/>
            <a:ext cx="192023" cy="0"/>
          </a:xfrm>
          <a:prstGeom prst="line">
            <a:avLst/>
          </a:prstGeom>
          <a:ln w="19050">
            <a:solidFill>
              <a:srgbClr val="D8D8D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9619488" y="1691640"/>
            <a:ext cx="2029968" cy="3611880"/>
          </a:xfrm>
          <a:prstGeom prst="roundRect">
            <a:avLst/>
          </a:prstGeom>
          <a:solidFill>
            <a:srgbClr val="F5E7E8"/>
          </a:solidFill>
          <a:ln w="12700">
            <a:solidFill>
              <a:srgbClr val="9A35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9784080" y="1892808"/>
            <a:ext cx="1051560" cy="310896"/>
          </a:xfrm>
          <a:prstGeom prst="roundRect">
            <a:avLst/>
          </a:prstGeom>
          <a:solidFill>
            <a:srgbClr val="9A3548"/>
          </a:solidFill>
          <a:ln>
            <a:solidFill>
              <a:srgbClr val="9A35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84080" y="1892808"/>
            <a:ext cx="1051560" cy="310896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Liberation Sans"/>
              </a:rPr>
              <a:t>CURRENT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84080" y="2478024"/>
            <a:ext cx="1700784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2304A"/>
                </a:solidFill>
                <a:latin typeface="Liberation Sans"/>
              </a:rPr>
              <a:t>External profiles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84080" y="3355848"/>
            <a:ext cx="1700784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7343C"/>
                </a:solidFill>
                <a:latin typeface="Liberation Sans"/>
              </a:rPr>
              <a:t>Load types, word effects, parser roles, and control syntax from files.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66928" y="5669280"/>
            <a:ext cx="11055096" cy="530352"/>
          </a:xfrm>
          <a:prstGeom prst="roundRect">
            <a:avLst/>
          </a:prstGeom>
          <a:solidFill>
            <a:srgbClr val="E6F1F1"/>
          </a:solidFill>
          <a:ln w="10160">
            <a:solidFill>
              <a:srgbClr val="58A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9808" y="5687568"/>
            <a:ext cx="10689336" cy="4846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12304A"/>
                </a:solidFill>
                <a:latin typeface="Liberation Sans"/>
              </a:rPr>
              <a:t>The algebra is the kernel; profile-driven source processing makes it usable on Forth programs.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30352" y="228600"/>
            <a:ext cx="11128248" cy="0"/>
          </a:xfrm>
          <a:prstGeom prst="line">
            <a:avLst/>
          </a:prstGeom>
          <a:ln w="2286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30352" y="347472"/>
            <a:ext cx="3200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9A3548"/>
                </a:solidFill>
                <a:latin typeface="Liberation Sans"/>
              </a:rPr>
              <a:t>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521207"/>
            <a:ext cx="10561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2304A"/>
                </a:solidFill>
                <a:latin typeface="Liberation Sans"/>
              </a:rPr>
              <a:t>The checker is driven by three independent inputs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42976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9A3548"/>
                </a:solidFill>
                <a:latin typeface="Liberation Mono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83680"/>
            <a:ext cx="3657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5E6B73"/>
                </a:solidFill>
                <a:latin typeface="Liberation Sans"/>
              </a:rPr>
              <a:t>STATIC TYPE CHECKING FOR FORTH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65392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 i="0">
                <a:solidFill>
                  <a:srgbClr val="5E6B73"/>
                </a:solidFill>
                <a:latin typeface="Liberation Sans"/>
              </a:rPr>
              <a:t>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261872"/>
            <a:ext cx="3108960" cy="950976"/>
          </a:xfrm>
          <a:prstGeom prst="roundRect">
            <a:avLst/>
          </a:prstGeom>
          <a:solidFill>
            <a:srgbClr val="E8F0F5"/>
          </a:solidFill>
          <a:ln w="12700">
            <a:solidFill>
              <a:srgbClr val="2D66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1380743"/>
            <a:ext cx="2651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D6684"/>
                </a:solidFill>
                <a:latin typeface="Liberation Mono"/>
              </a:rPr>
              <a:t>types.txt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1719072"/>
            <a:ext cx="26517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20" b="0" i="0">
                <a:solidFill>
                  <a:srgbClr val="27343C"/>
                </a:solidFill>
                <a:latin typeface="Liberation Sans"/>
              </a:rPr>
              <a:t>Canonical names, aliases, subtype edges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730752" y="1737360"/>
            <a:ext cx="585216" cy="0"/>
          </a:xfrm>
          <a:prstGeom prst="line">
            <a:avLst/>
          </a:prstGeom>
          <a:ln w="22860">
            <a:solidFill>
              <a:srgbClr val="2D668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94360" y="2514600"/>
            <a:ext cx="3108960" cy="950976"/>
          </a:xfrm>
          <a:prstGeom prst="roundRect">
            <a:avLst/>
          </a:prstGeom>
          <a:solidFill>
            <a:srgbClr val="E6F1F1"/>
          </a:solidFill>
          <a:ln w="1270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2633472"/>
            <a:ext cx="2651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E7C86"/>
                </a:solidFill>
                <a:latin typeface="Liberation Mono"/>
              </a:rPr>
              <a:t>specs.txt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2971800"/>
            <a:ext cx="26517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20" b="0" i="0">
                <a:solidFill>
                  <a:srgbClr val="27343C"/>
                </a:solidFill>
                <a:latin typeface="Liberation Sans"/>
              </a:rPr>
              <a:t>Word effects, literals, parser and control roles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730752" y="2990088"/>
            <a:ext cx="585216" cy="0"/>
          </a:xfrm>
          <a:prstGeom prst="line">
            <a:avLst/>
          </a:prstGeom>
          <a:ln w="22860">
            <a:solidFill>
              <a:srgbClr val="0E7C86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94360" y="3767328"/>
            <a:ext cx="3108960" cy="950976"/>
          </a:xfrm>
          <a:prstGeom prst="roundRect">
            <a:avLst/>
          </a:prstGeom>
          <a:solidFill>
            <a:srgbClr val="F7ECE1"/>
          </a:solidFill>
          <a:ln w="12700">
            <a:solidFill>
              <a:srgbClr val="C46A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886200"/>
            <a:ext cx="2651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C46A2B"/>
                </a:solidFill>
                <a:latin typeface="Liberation Mono"/>
              </a:rPr>
              <a:t>source.fs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4224528"/>
            <a:ext cx="26517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20" b="0" i="0">
                <a:solidFill>
                  <a:srgbClr val="27343C"/>
                </a:solidFill>
                <a:latin typeface="Liberation Sans"/>
              </a:rPr>
              <a:t>Forth words, definitions, and control forms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730752" y="4242816"/>
            <a:ext cx="585216" cy="0"/>
          </a:xfrm>
          <a:prstGeom prst="line">
            <a:avLst/>
          </a:prstGeom>
          <a:ln w="22860">
            <a:solidFill>
              <a:srgbClr val="C46A2B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407408" y="1609344"/>
            <a:ext cx="2907792" cy="3429000"/>
          </a:xfrm>
          <a:prstGeom prst="roundRect">
            <a:avLst/>
          </a:prstGeom>
          <a:solidFill>
            <a:srgbClr val="12304A"/>
          </a:solidFill>
          <a:ln w="12700">
            <a:solidFill>
              <a:srgbClr val="123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81728" y="1993392"/>
            <a:ext cx="235915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500" b="1" i="0">
                <a:solidFill>
                  <a:srgbClr val="FFFFFF"/>
                </a:solidFill>
                <a:latin typeface="Liberation Mono"/>
              </a:rPr>
              <a:t>SYMBOLIC
CHECKER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80" y="3017520"/>
            <a:ext cx="221284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 i="0">
                <a:solidFill>
                  <a:srgbClr val="D8EEF0"/>
                </a:solidFill>
                <a:latin typeface="Liberation Sans"/>
              </a:rPr>
              <a:t>parse source
↓
compose effects
↓
infer or diagnose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351775" y="3319272"/>
            <a:ext cx="585217" cy="0"/>
          </a:xfrm>
          <a:prstGeom prst="line">
            <a:avLst/>
          </a:prstGeom>
          <a:ln w="27940">
            <a:solidFill>
              <a:srgbClr val="0E7C86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046720" y="1298448"/>
            <a:ext cx="3538728" cy="1463040"/>
          </a:xfrm>
          <a:prstGeom prst="roundRect">
            <a:avLst/>
          </a:prstGeom>
          <a:solidFill>
            <a:srgbClr val="E7F0EB"/>
          </a:solidFill>
          <a:ln w="12700">
            <a:solidFill>
              <a:srgbClr val="3D7C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75320" y="155448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D7C62"/>
                </a:solidFill>
                <a:latin typeface="Liberation Sans"/>
              </a:rPr>
              <a:t>SUCCESS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5320" y="1901952"/>
            <a:ext cx="2999232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27343C"/>
                </a:solidFill>
                <a:latin typeface="Liberation Sans"/>
              </a:rPr>
              <a:t>Per-word trace
Inferred definition effects
Final required / produced stack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3017520"/>
            <a:ext cx="3538728" cy="1719072"/>
          </a:xfrm>
          <a:prstGeom prst="roundRect">
            <a:avLst/>
          </a:prstGeom>
          <a:solidFill>
            <a:srgbClr val="F5E7E8"/>
          </a:solidFill>
          <a:ln w="12700">
            <a:solidFill>
              <a:srgbClr val="9A35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75320" y="3273552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9A3548"/>
                </a:solidFill>
                <a:latin typeface="Liberation Sans"/>
              </a:rPr>
              <a:t>CLASH OR SOURCE ERROR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3639312"/>
            <a:ext cx="3017520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27343C"/>
                </a:solidFill>
                <a:latin typeface="Liberation Sans"/>
              </a:rPr>
              <a:t>Line and column
Source line + caret
Recovery for later diagnostics
Run log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5650992"/>
            <a:ext cx="11055096" cy="530352"/>
          </a:xfrm>
          <a:prstGeom prst="roundRect">
            <a:avLst/>
          </a:prstGeom>
          <a:solidFill>
            <a:srgbClr val="E6F1F1"/>
          </a:solidFill>
          <a:ln w="10160">
            <a:solidFill>
              <a:srgbClr val="58A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5669279"/>
            <a:ext cx="10689336" cy="4846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12304A"/>
                </a:solidFill>
                <a:latin typeface="Liberation Sans"/>
              </a:rPr>
              <a:t>No concrete values are executed. When a colon definition closes, its inferred effect becomes available to later source.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30352" y="228600"/>
            <a:ext cx="11128248" cy="0"/>
          </a:xfrm>
          <a:prstGeom prst="line">
            <a:avLst/>
          </a:prstGeom>
          <a:ln w="2286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30352" y="347472"/>
            <a:ext cx="3200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9A3548"/>
                </a:solidFill>
                <a:latin typeface="Liberation Sans"/>
              </a:rPr>
              <a:t>SEMANTICS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521207"/>
            <a:ext cx="10561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2304A"/>
                </a:solidFill>
                <a:latin typeface="Liberation Sans"/>
              </a:rPr>
              <a:t>What exactly is an effect specification?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42976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9A3548"/>
                </a:solidFill>
                <a:latin typeface="Liberation Mono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83680"/>
            <a:ext cx="3657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5E6B73"/>
                </a:solidFill>
                <a:latin typeface="Liberation Sans"/>
              </a:rPr>
              <a:t>STATIC TYPE CHECKING FOR FORTH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65392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 i="0">
                <a:solidFill>
                  <a:srgbClr val="5E6B73"/>
                </a:solidFill>
                <a:latin typeface="Liberation Sans"/>
              </a:rP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34640" y="1069848"/>
            <a:ext cx="6510528" cy="658368"/>
          </a:xfrm>
          <a:prstGeom prst="roundRect">
            <a:avLst/>
          </a:prstGeom>
          <a:solidFill>
            <a:srgbClr val="E8F0F5"/>
          </a:solidFill>
          <a:ln w="10160">
            <a:solidFill>
              <a:srgbClr val="2D66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07792" y="1106424"/>
            <a:ext cx="6364224" cy="585216"/>
          </a:xfrm>
          <a:prstGeom prst="rect">
            <a:avLst/>
          </a:prstGeom>
          <a:noFill/>
        </p:spPr>
        <p:txBody>
          <a:bodyPr wrap="square" lIns="128016" rIns="128016" tIns="128016" bIns="12801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 i="0">
                <a:solidFill>
                  <a:srgbClr val="12304A"/>
                </a:solidFill>
                <a:latin typeface="Liberation Mono"/>
              </a:rPr>
              <a:t>@     ( a-addr  --  X 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56231" y="120700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9A3548"/>
                </a:solidFill>
                <a:latin typeface="Liberation Sans"/>
              </a:rPr>
              <a:t>required input suffix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64040" y="1207008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3D7C62"/>
                </a:solidFill>
                <a:latin typeface="Liberation Sans"/>
              </a:rPr>
              <a:t>guaranteed output suffix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2084831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2304A"/>
                </a:solidFill>
                <a:latin typeface="Liberation Sans"/>
              </a:rPr>
              <a:t>Any deeper frame F passes through unchanged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2542032"/>
            <a:ext cx="685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E6B73"/>
                </a:solidFill>
                <a:latin typeface="Liberation Sans"/>
              </a:rPr>
              <a:t>before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53312" y="2450592"/>
            <a:ext cx="1298448" cy="749808"/>
          </a:xfrm>
          <a:prstGeom prst="rect">
            <a:avLst/>
          </a:prstGeom>
          <a:solidFill>
            <a:srgbClr val="ECEAE4"/>
          </a:solidFill>
          <a:ln w="12700">
            <a:solidFill>
              <a:srgbClr val="D8D8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53312" y="2450592"/>
            <a:ext cx="1298448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5E6B73"/>
                </a:solidFill>
                <a:latin typeface="Liberation Sans"/>
              </a:rPr>
              <a:t>F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51760" y="2450592"/>
            <a:ext cx="1609344" cy="749808"/>
          </a:xfrm>
          <a:prstGeom prst="rect">
            <a:avLst/>
          </a:prstGeom>
          <a:solidFill>
            <a:srgbClr val="E6F1F1"/>
          </a:solidFill>
          <a:ln w="1270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51760" y="2450592"/>
            <a:ext cx="1609344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0E7C86"/>
                </a:solidFill>
                <a:latin typeface="Liberation Mono"/>
              </a:rPr>
              <a:t>a-addr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425696" y="2825496"/>
            <a:ext cx="1088136" cy="0"/>
          </a:xfrm>
          <a:prstGeom prst="line">
            <a:avLst/>
          </a:prstGeom>
          <a:ln w="26670">
            <a:solidFill>
              <a:srgbClr val="0E7C86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4727448" y="2395728"/>
            <a:ext cx="475488" cy="310896"/>
          </a:xfrm>
          <a:prstGeom prst="roundRect">
            <a:avLst/>
          </a:prstGeom>
          <a:solidFill>
            <a:srgbClr val="12304A"/>
          </a:solidFill>
          <a:ln>
            <a:solidFill>
              <a:srgbClr val="123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27448" y="2395728"/>
            <a:ext cx="475488" cy="310896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Liberation Sans"/>
              </a:rPr>
              <a:t>@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32704" y="2542032"/>
            <a:ext cx="594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5E6B73"/>
                </a:solidFill>
                <a:latin typeface="Liberation Sans"/>
              </a:rPr>
              <a:t>after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08776" y="2450592"/>
            <a:ext cx="1298448" cy="749808"/>
          </a:xfrm>
          <a:prstGeom prst="rect">
            <a:avLst/>
          </a:prstGeom>
          <a:solidFill>
            <a:srgbClr val="ECEAE4"/>
          </a:solidFill>
          <a:ln w="12700">
            <a:solidFill>
              <a:srgbClr val="D8D8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08776" y="2450592"/>
            <a:ext cx="1298448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5E6B73"/>
                </a:solidFill>
                <a:latin typeface="Liberation Sans"/>
              </a:rPr>
              <a:t>F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507224" y="2450592"/>
            <a:ext cx="1609344" cy="749808"/>
          </a:xfrm>
          <a:prstGeom prst="rect">
            <a:avLst/>
          </a:prstGeom>
          <a:solidFill>
            <a:srgbClr val="E8F0F5"/>
          </a:solidFill>
          <a:ln w="12700">
            <a:solidFill>
              <a:srgbClr val="2D66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07224" y="2450592"/>
            <a:ext cx="1609344" cy="7498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2D6684"/>
                </a:solidFill>
                <a:latin typeface="Liberation Mono"/>
              </a:rPr>
              <a:t>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45168" y="2670048"/>
            <a:ext cx="1920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1">
                <a:solidFill>
                  <a:srgbClr val="9A3548"/>
                </a:solidFill>
                <a:latin typeface="Liberation Sans"/>
              </a:rPr>
              <a:t>top of stack is on the right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3232" y="3685032"/>
            <a:ext cx="3401568" cy="1325880"/>
          </a:xfrm>
          <a:prstGeom prst="roundRect">
            <a:avLst/>
          </a:prstGeom>
          <a:solidFill>
            <a:srgbClr val="FFFDFC"/>
          </a:solidFill>
          <a:ln w="1270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" y="3931920"/>
            <a:ext cx="29443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7C86"/>
                </a:solidFill>
                <a:latin typeface="Liberation Sans"/>
              </a:rPr>
              <a:t>RELATIONAL READING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" y="4297680"/>
            <a:ext cx="2889504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27343C"/>
                </a:solidFill>
                <a:latin typeface="Liberation Sans"/>
              </a:rPr>
              <a:t>If the stack has the form F L, the phrase may transform it to F R after compatible unification.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9120" y="3685032"/>
            <a:ext cx="3401568" cy="1325880"/>
          </a:xfrm>
          <a:prstGeom prst="roundRect">
            <a:avLst/>
          </a:prstGeom>
          <a:solidFill>
            <a:srgbClr val="FFFDFC"/>
          </a:solidFill>
          <a:ln w="12700">
            <a:solidFill>
              <a:srgbClr val="3D7C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08576" y="3931920"/>
            <a:ext cx="29443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3D7C62"/>
                </a:solidFill>
                <a:latin typeface="Liberation Sans"/>
              </a:rPr>
              <a:t>IDENTITY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846320" y="4288536"/>
            <a:ext cx="2487168" cy="420624"/>
          </a:xfrm>
          <a:prstGeom prst="roundRect">
            <a:avLst/>
          </a:prstGeom>
          <a:solidFill>
            <a:srgbClr val="E7F0EB"/>
          </a:solidFill>
          <a:ln w="10160">
            <a:solidFill>
              <a:srgbClr val="3D7C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19472" y="4325112"/>
            <a:ext cx="2340864" cy="347472"/>
          </a:xfrm>
          <a:prstGeom prst="rect">
            <a:avLst/>
          </a:prstGeom>
          <a:noFill/>
        </p:spPr>
        <p:txBody>
          <a:bodyPr wrap="square" lIns="128016" rIns="128016" tIns="128016" bIns="12801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2304A"/>
                </a:solidFill>
                <a:latin typeface="Liberation Mono"/>
              </a:rPr>
              <a:t>1 = ( -- 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65008" y="3685032"/>
            <a:ext cx="3401568" cy="1325880"/>
          </a:xfrm>
          <a:prstGeom prst="roundRect">
            <a:avLst/>
          </a:prstGeom>
          <a:solidFill>
            <a:srgbClr val="FFFDFC"/>
          </a:solidFill>
          <a:ln w="12700">
            <a:solidFill>
              <a:srgbClr val="9A35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84464" y="3931920"/>
            <a:ext cx="29443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9A3548"/>
                </a:solidFill>
                <a:latin typeface="Liberation Sans"/>
              </a:rPr>
              <a:t>CLASH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302752" y="4288536"/>
            <a:ext cx="2907792" cy="420624"/>
          </a:xfrm>
          <a:prstGeom prst="roundRect">
            <a:avLst/>
          </a:prstGeom>
          <a:solidFill>
            <a:srgbClr val="F5E7E8"/>
          </a:solidFill>
          <a:ln w="10160">
            <a:solidFill>
              <a:srgbClr val="9A35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75904" y="4325112"/>
            <a:ext cx="2761488" cy="347472"/>
          </a:xfrm>
          <a:prstGeom prst="rect">
            <a:avLst/>
          </a:prstGeom>
          <a:noFill/>
        </p:spPr>
        <p:txBody>
          <a:bodyPr wrap="square" lIns="128016" rIns="128016" tIns="128016" bIns="12801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12304A"/>
                </a:solidFill>
                <a:latin typeface="Liberation Mono"/>
              </a:rPr>
              <a:t>∅  = incompatible boundary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66928" y="5669280"/>
            <a:ext cx="11055096" cy="530352"/>
          </a:xfrm>
          <a:prstGeom prst="roundRect">
            <a:avLst/>
          </a:prstGeom>
          <a:solidFill>
            <a:srgbClr val="E6F1F1"/>
          </a:solidFill>
          <a:ln w="10160">
            <a:solidFill>
              <a:srgbClr val="58A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9808" y="5687568"/>
            <a:ext cx="10689336" cy="4846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12304A"/>
                </a:solidFill>
                <a:latin typeface="Liberation Sans"/>
              </a:rPr>
              <a:t>A stack-effect specification is a symbolic pre/post contract over only the data-stack suffix a phrase touches.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30352" y="228600"/>
            <a:ext cx="11128248" cy="0"/>
          </a:xfrm>
          <a:prstGeom prst="line">
            <a:avLst/>
          </a:prstGeom>
          <a:ln w="2286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30352" y="347472"/>
            <a:ext cx="3200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9A3548"/>
                </a:solidFill>
                <a:latin typeface="Liberation Sans"/>
              </a:rPr>
              <a:t>PROFILE-DEFINED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521207"/>
            <a:ext cx="10561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2304A"/>
                </a:solidFill>
                <a:latin typeface="Liberation Sans"/>
              </a:rPr>
              <a:t>Types express the project's compatibility policy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42976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9A3548"/>
                </a:solidFill>
                <a:latin typeface="Liberation Mono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83680"/>
            <a:ext cx="3657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5E6B73"/>
                </a:solidFill>
                <a:latin typeface="Liberation Sans"/>
              </a:rPr>
              <a:t>STATIC TYPE CHECKING FOR FORTH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65392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 i="0">
                <a:solidFill>
                  <a:srgbClr val="5E6B73"/>
                </a:solidFill>
                <a:latin typeface="Liberation Sans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170432"/>
            <a:ext cx="5413248" cy="4160520"/>
          </a:xfrm>
          <a:prstGeom prst="roundRect">
            <a:avLst/>
          </a:prstGeom>
          <a:solidFill>
            <a:srgbClr val="E6F1F1"/>
          </a:solidFill>
          <a:ln w="1270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44752"/>
            <a:ext cx="49011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7C86"/>
                </a:solidFill>
                <a:latin typeface="Liberation Sans"/>
              </a:rPr>
              <a:t>CONVENIENT FORTH-LIKE 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874519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1">
                <a:solidFill>
                  <a:srgbClr val="5E6B73"/>
                </a:solidFill>
                <a:latin typeface="Liberation Sans"/>
              </a:rPr>
              <a:t>more specific  →  more general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0392" y="2304288"/>
            <a:ext cx="4882896" cy="594360"/>
          </a:xfrm>
          <a:prstGeom prst="roundRect">
            <a:avLst/>
          </a:prstGeom>
          <a:solidFill>
            <a:srgbClr val="FFFDFC"/>
          </a:solidFill>
          <a:ln w="10160">
            <a:solidFill>
              <a:srgbClr val="58A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3544" y="2340864"/>
            <a:ext cx="4736592" cy="521208"/>
          </a:xfrm>
          <a:prstGeom prst="rect">
            <a:avLst/>
          </a:prstGeom>
          <a:noFill/>
        </p:spPr>
        <p:txBody>
          <a:bodyPr wrap="square" lIns="128016" rIns="128016" tIns="128016" bIns="12801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2304A"/>
                </a:solidFill>
                <a:latin typeface="Liberation Mono"/>
              </a:rPr>
              <a:t>a-addr  &lt;  c-addr  &lt;  addr  &lt;  X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0392" y="3090672"/>
            <a:ext cx="4882896" cy="594360"/>
          </a:xfrm>
          <a:prstGeom prst="roundRect">
            <a:avLst/>
          </a:prstGeom>
          <a:solidFill>
            <a:srgbClr val="FFFDFC"/>
          </a:solidFill>
          <a:ln w="10160">
            <a:solidFill>
              <a:srgbClr val="58A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3127248"/>
            <a:ext cx="4736592" cy="521208"/>
          </a:xfrm>
          <a:prstGeom prst="rect">
            <a:avLst/>
          </a:prstGeom>
          <a:noFill/>
        </p:spPr>
        <p:txBody>
          <a:bodyPr wrap="square" lIns="128016" rIns="128016" tIns="128016" bIns="12801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2304A"/>
                </a:solidFill>
                <a:latin typeface="Liberation Mono"/>
              </a:rPr>
              <a:t>char  &lt;  n  &lt;  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0392" y="3877056"/>
            <a:ext cx="4882896" cy="594360"/>
          </a:xfrm>
          <a:prstGeom prst="roundRect">
            <a:avLst/>
          </a:prstGeom>
          <a:solidFill>
            <a:srgbClr val="FFFDFC"/>
          </a:solidFill>
          <a:ln w="10160">
            <a:solidFill>
              <a:srgbClr val="58A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544" y="3913632"/>
            <a:ext cx="4736592" cy="521208"/>
          </a:xfrm>
          <a:prstGeom prst="rect">
            <a:avLst/>
          </a:prstGeom>
          <a:noFill/>
        </p:spPr>
        <p:txBody>
          <a:bodyPr wrap="square" lIns="128016" rIns="128016" tIns="128016" bIns="12801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2304A"/>
                </a:solidFill>
                <a:latin typeface="Liberation Mono"/>
              </a:rPr>
              <a:t>flag  &lt;  n  &lt;  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" y="4718304"/>
            <a:ext cx="4709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7343C"/>
                </a:solidFill>
                <a:latin typeface="Liberation Sans"/>
              </a:rPr>
              <a:t>Useful when the target treats flags and characters as numeric cells.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9632" y="1170432"/>
            <a:ext cx="5394960" cy="4160520"/>
          </a:xfrm>
          <a:prstGeom prst="roundRect">
            <a:avLst/>
          </a:prstGeom>
          <a:solidFill>
            <a:srgbClr val="E8F0F5"/>
          </a:solidFill>
          <a:ln w="12700">
            <a:solidFill>
              <a:srgbClr val="2D66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55664" y="1444752"/>
            <a:ext cx="48828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D6684"/>
                </a:solidFill>
                <a:latin typeface="Liberation Sans"/>
              </a:rPr>
              <a:t>STRICTER STANDARD-LIKE PROFILE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5664" y="1874519"/>
            <a:ext cx="47183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1">
                <a:solidFill>
                  <a:srgbClr val="5E6B73"/>
                </a:solidFill>
                <a:latin typeface="Liberation Sans"/>
              </a:rPr>
              <a:t>the selected file makes these choices explicit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55664" y="2304288"/>
            <a:ext cx="4882896" cy="594360"/>
          </a:xfrm>
          <a:prstGeom prst="roundRect">
            <a:avLst/>
          </a:prstGeom>
          <a:solidFill>
            <a:srgbClr val="FFFDFC"/>
          </a:solidFill>
          <a:ln w="10160">
            <a:solidFill>
              <a:srgbClr val="2D66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28816" y="2340864"/>
            <a:ext cx="4736592" cy="521208"/>
          </a:xfrm>
          <a:prstGeom prst="rect">
            <a:avLst/>
          </a:prstGeom>
          <a:noFill/>
        </p:spPr>
        <p:txBody>
          <a:bodyPr wrap="square" lIns="128016" rIns="128016" tIns="128016" bIns="12801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20" b="1" i="0">
                <a:solidFill>
                  <a:srgbClr val="12304A"/>
                </a:solidFill>
                <a:latin typeface="Liberation Mono"/>
              </a:rPr>
              <a:t>a-addr &lt; c-addr &lt; addr &lt; u &lt; n &lt; x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55664" y="3090672"/>
            <a:ext cx="4882896" cy="594360"/>
          </a:xfrm>
          <a:prstGeom prst="roundRect">
            <a:avLst/>
          </a:prstGeom>
          <a:solidFill>
            <a:srgbClr val="FFFDFC"/>
          </a:solidFill>
          <a:ln w="10160">
            <a:solidFill>
              <a:srgbClr val="2D66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28816" y="3127248"/>
            <a:ext cx="4736592" cy="521208"/>
          </a:xfrm>
          <a:prstGeom prst="rect">
            <a:avLst/>
          </a:prstGeom>
          <a:noFill/>
        </p:spPr>
        <p:txBody>
          <a:bodyPr wrap="square" lIns="128016" rIns="128016" tIns="128016" bIns="12801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12304A"/>
                </a:solidFill>
                <a:latin typeface="Liberation Mono"/>
              </a:rPr>
              <a:t>char &lt; +n &lt; u &lt; n &lt; x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55664" y="3877056"/>
            <a:ext cx="4882896" cy="594360"/>
          </a:xfrm>
          <a:prstGeom prst="roundRect">
            <a:avLst/>
          </a:prstGeom>
          <a:solidFill>
            <a:srgbClr val="FFFDFC"/>
          </a:solidFill>
          <a:ln w="10160">
            <a:solidFill>
              <a:srgbClr val="2D66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28816" y="3913632"/>
            <a:ext cx="4736592" cy="521208"/>
          </a:xfrm>
          <a:prstGeom prst="rect">
            <a:avLst/>
          </a:prstGeom>
          <a:noFill/>
        </p:spPr>
        <p:txBody>
          <a:bodyPr wrap="square" lIns="128016" rIns="128016" tIns="128016" bIns="12801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12304A"/>
                </a:solidFill>
                <a:latin typeface="Liberation Mono"/>
              </a:rPr>
              <a:t>flag &lt; x     (separate from n)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4718304"/>
            <a:ext cx="46817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7343C"/>
                </a:solidFill>
                <a:latin typeface="Liberation Sans"/>
              </a:rPr>
              <a:t>Aliases may name one canonical type: X, x, and cell can be equivalent.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650992"/>
            <a:ext cx="11055096" cy="530352"/>
          </a:xfrm>
          <a:prstGeom prst="roundRect">
            <a:avLst/>
          </a:prstGeom>
          <a:solidFill>
            <a:srgbClr val="E6F1F1"/>
          </a:solidFill>
          <a:ln w="10160">
            <a:solidFill>
              <a:srgbClr val="58A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669279"/>
            <a:ext cx="10689336" cy="4846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12304A"/>
                </a:solidFill>
                <a:latin typeface="Liberation Sans"/>
              </a:rPr>
              <a:t>Composition keeps the more specific comparable boundary type; incomparable types clash.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30352" y="228600"/>
            <a:ext cx="11128248" cy="0"/>
          </a:xfrm>
          <a:prstGeom prst="line">
            <a:avLst/>
          </a:prstGeom>
          <a:ln w="2286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30352" y="347472"/>
            <a:ext cx="3200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9A3548"/>
                </a:solidFill>
                <a:latin typeface="Liberation Sans"/>
              </a:rPr>
              <a:t>SYMBOLIC VALUE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521207"/>
            <a:ext cx="10561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2304A"/>
                </a:solidFill>
                <a:latin typeface="Liberation Sans"/>
              </a:rPr>
              <a:t>Indices remember which cell is which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42976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9A3548"/>
                </a:solidFill>
                <a:latin typeface="Liberation Mono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83680"/>
            <a:ext cx="3657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5E6B73"/>
                </a:solidFill>
                <a:latin typeface="Liberation Sans"/>
              </a:rPr>
              <a:t>STATIC TYPE CHECKING FOR FORTH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65392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 i="0">
                <a:solidFill>
                  <a:srgbClr val="5E6B73"/>
                </a:solidFill>
                <a:latin typeface="Liberation Sans"/>
              </a:rPr>
              <a:t>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261872"/>
            <a:ext cx="3246120" cy="3090672"/>
          </a:xfrm>
          <a:prstGeom prst="roundRect">
            <a:avLst/>
          </a:prstGeom>
          <a:solidFill>
            <a:srgbClr val="E6F1F1"/>
          </a:solidFill>
          <a:ln w="1270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572768" y="1536192"/>
            <a:ext cx="1225296" cy="347472"/>
          </a:xfrm>
          <a:prstGeom prst="roundRect">
            <a:avLst/>
          </a:prstGeom>
          <a:solidFill>
            <a:srgbClr val="0E7C86"/>
          </a:solidFill>
          <a:ln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72768" y="1536192"/>
            <a:ext cx="1225296" cy="347472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Liberation Sans"/>
              </a:rPr>
              <a:t>DUP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5528" y="2148840"/>
            <a:ext cx="2788920" cy="676656"/>
          </a:xfrm>
          <a:prstGeom prst="roundRect">
            <a:avLst/>
          </a:prstGeom>
          <a:solidFill>
            <a:srgbClr val="FFFDFC"/>
          </a:solidFill>
          <a:ln w="1016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185416"/>
            <a:ext cx="2642615" cy="603504"/>
          </a:xfrm>
          <a:prstGeom prst="rect">
            <a:avLst/>
          </a:prstGeom>
          <a:noFill/>
        </p:spPr>
        <p:txBody>
          <a:bodyPr wrap="square" lIns="128016" rIns="128016" tIns="128016" bIns="12801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50" b="1" i="0">
                <a:solidFill>
                  <a:srgbClr val="12304A"/>
                </a:solidFill>
                <a:latin typeface="Liberation Mono"/>
              </a:rPr>
              <a:t>( X[1] -- X[1] X[1] 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3200400"/>
            <a:ext cx="26060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27343C"/>
                </a:solidFill>
                <a:latin typeface="Liberation Sans"/>
              </a:rPr>
              <a:t>one input, two correlated outputs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42232" y="1261872"/>
            <a:ext cx="3246120" cy="3090672"/>
          </a:xfrm>
          <a:prstGeom prst="roundRect">
            <a:avLst/>
          </a:prstGeom>
          <a:solidFill>
            <a:srgbClr val="E8F0F5"/>
          </a:solidFill>
          <a:ln w="12700">
            <a:solidFill>
              <a:srgbClr val="2D66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148072" y="1536192"/>
            <a:ext cx="1225296" cy="347472"/>
          </a:xfrm>
          <a:prstGeom prst="roundRect">
            <a:avLst/>
          </a:prstGeom>
          <a:solidFill>
            <a:srgbClr val="2D6684"/>
          </a:solidFill>
          <a:ln>
            <a:solidFill>
              <a:srgbClr val="2D66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48072" y="1536192"/>
            <a:ext cx="1225296" cy="347472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Liberation Sans"/>
              </a:rPr>
              <a:t>SWAP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70832" y="2148840"/>
            <a:ext cx="2788920" cy="676656"/>
          </a:xfrm>
          <a:prstGeom prst="roundRect">
            <a:avLst/>
          </a:prstGeom>
          <a:solidFill>
            <a:srgbClr val="FFFDFC"/>
          </a:solidFill>
          <a:ln w="10160">
            <a:solidFill>
              <a:srgbClr val="2D66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43984" y="2185416"/>
            <a:ext cx="2642615" cy="603504"/>
          </a:xfrm>
          <a:prstGeom prst="rect">
            <a:avLst/>
          </a:prstGeom>
          <a:noFill/>
        </p:spPr>
        <p:txBody>
          <a:bodyPr wrap="square" lIns="128016" rIns="128016" tIns="128016" bIns="12801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50" b="1" i="0">
                <a:solidFill>
                  <a:srgbClr val="12304A"/>
                </a:solidFill>
                <a:latin typeface="Liberation Mono"/>
              </a:rPr>
              <a:t>( X[2] X[1] -- X[1] X[2] 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62272" y="3200400"/>
            <a:ext cx="26060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27343C"/>
                </a:solidFill>
                <a:latin typeface="Liberation Sans"/>
              </a:rPr>
              <a:t>two origins exchange positions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17536" y="1261872"/>
            <a:ext cx="3246120" cy="3090672"/>
          </a:xfrm>
          <a:prstGeom prst="roundRect">
            <a:avLst/>
          </a:prstGeom>
          <a:solidFill>
            <a:srgbClr val="F7ECE1"/>
          </a:solidFill>
          <a:ln w="12700">
            <a:solidFill>
              <a:srgbClr val="C46A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723376" y="1536192"/>
            <a:ext cx="1225296" cy="347472"/>
          </a:xfrm>
          <a:prstGeom prst="roundRect">
            <a:avLst/>
          </a:prstGeom>
          <a:solidFill>
            <a:srgbClr val="C46A2B"/>
          </a:solidFill>
          <a:ln>
            <a:solidFill>
              <a:srgbClr val="C46A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23376" y="1536192"/>
            <a:ext cx="1225296" cy="347472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Liberation Sans"/>
              </a:rPr>
              <a:t>OVER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46136" y="2148840"/>
            <a:ext cx="2788920" cy="676656"/>
          </a:xfrm>
          <a:prstGeom prst="roundRect">
            <a:avLst/>
          </a:prstGeom>
          <a:solidFill>
            <a:srgbClr val="FFFDFC"/>
          </a:solidFill>
          <a:ln w="10160">
            <a:solidFill>
              <a:srgbClr val="C46A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19288" y="2185416"/>
            <a:ext cx="2642615" cy="603504"/>
          </a:xfrm>
          <a:prstGeom prst="rect">
            <a:avLst/>
          </a:prstGeom>
          <a:noFill/>
        </p:spPr>
        <p:txBody>
          <a:bodyPr wrap="square" lIns="128016" rIns="128016" tIns="128016" bIns="12801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50" b="1" i="0">
                <a:solidFill>
                  <a:srgbClr val="12304A"/>
                </a:solidFill>
                <a:latin typeface="Liberation Mono"/>
              </a:rPr>
              <a:t>( X[2] X[1] -- X[2] X[1] X[2] 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37575" y="3200400"/>
            <a:ext cx="26060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27343C"/>
                </a:solidFill>
                <a:latin typeface="Liberation Sans"/>
              </a:rPr>
              <a:t>the deeper input reappears on top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4617720"/>
            <a:ext cx="10753344" cy="868680"/>
          </a:xfrm>
          <a:prstGeom prst="roundRect">
            <a:avLst/>
          </a:prstGeom>
          <a:solidFill>
            <a:srgbClr val="FFFDFC"/>
          </a:solidFill>
          <a:ln w="12700">
            <a:solidFill>
              <a:srgbClr val="D8D8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2688" y="4828032"/>
            <a:ext cx="10314432" cy="3657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350" b="1" i="0">
                <a:solidFill>
                  <a:srgbClr val="0E7C86"/>
                </a:solidFill>
                <a:latin typeface="Liberation Sans"/>
              </a:rPr>
              <a:t>same index</a:t>
            </a:r>
            <a:r>
              <a:rPr sz="1350" b="0" i="0">
                <a:solidFill>
                  <a:srgbClr val="27343C"/>
                </a:solidFill>
                <a:latin typeface="Liberation Sans"/>
              </a:rPr>
              <a:t> = same abstract origin   •   </a:t>
            </a:r>
            <a:r>
              <a:rPr sz="1350" b="1" i="0">
                <a:solidFill>
                  <a:srgbClr val="2D6684"/>
                </a:solidFill>
                <a:latin typeface="Liberation Sans"/>
              </a:rPr>
              <a:t>different indices</a:t>
            </a:r>
            <a:r>
              <a:rPr sz="1350" b="0" i="0">
                <a:solidFill>
                  <a:srgbClr val="27343C"/>
                </a:solidFill>
                <a:latin typeface="Liberation Sans"/>
              </a:rPr>
              <a:t> do not claim unequal concrete values   •   </a:t>
            </a:r>
            <a:r>
              <a:rPr sz="1350" b="1" i="0">
                <a:solidFill>
                  <a:srgbClr val="C46A2B"/>
                </a:solidFill>
                <a:latin typeface="Liberation Sans"/>
              </a:rPr>
              <a:t>no index</a:t>
            </a:r>
            <a:r>
              <a:rPr sz="1350" b="0" i="0">
                <a:solidFill>
                  <a:srgbClr val="27343C"/>
                </a:solidFill>
                <a:latin typeface="Liberation Sans"/>
              </a:rPr>
              <a:t> = fresh symbolic item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669280"/>
            <a:ext cx="11055096" cy="530352"/>
          </a:xfrm>
          <a:prstGeom prst="roundRect">
            <a:avLst/>
          </a:prstGeom>
          <a:solidFill>
            <a:srgbClr val="E6F1F1"/>
          </a:solidFill>
          <a:ln w="10160">
            <a:solidFill>
              <a:srgbClr val="58A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687568"/>
            <a:ext cx="10689336" cy="4846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12304A"/>
                </a:solidFill>
                <a:latin typeface="Liberation Sans"/>
              </a:rPr>
              <a:t>Indices are local logical variables—not addresses or runtime tags. The checker freshens them for every word occurrence.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30352" y="228600"/>
            <a:ext cx="11128248" cy="0"/>
          </a:xfrm>
          <a:prstGeom prst="line">
            <a:avLst/>
          </a:prstGeom>
          <a:ln w="2286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30352" y="347472"/>
            <a:ext cx="3200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9A3548"/>
                </a:solidFill>
                <a:latin typeface="Liberation Sans"/>
              </a:rPr>
              <a:t>EFFECT CALCULUS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521207"/>
            <a:ext cx="10561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2304A"/>
                </a:solidFill>
                <a:latin typeface="Liberation Sans"/>
              </a:rPr>
              <a:t>Three operations cover the supported source forms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42976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9A3548"/>
                </a:solidFill>
                <a:latin typeface="Liberation Mono"/>
              </a:rPr>
              <a:t>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83680"/>
            <a:ext cx="3657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5E6B73"/>
                </a:solidFill>
                <a:latin typeface="Liberation Sans"/>
              </a:rPr>
              <a:t>STATIC TYPE CHECKING FOR FORTH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65392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 i="0">
                <a:solidFill>
                  <a:srgbClr val="5E6B73"/>
                </a:solidFill>
                <a:latin typeface="Liberation Sans"/>
              </a:rPr>
              <a:t>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234440"/>
            <a:ext cx="3246120" cy="4133087"/>
          </a:xfrm>
          <a:prstGeom prst="roundRect">
            <a:avLst/>
          </a:prstGeom>
          <a:solidFill>
            <a:srgbClr val="E6F1F1"/>
          </a:solidFill>
          <a:ln w="1270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49808" y="1481328"/>
            <a:ext cx="1298448" cy="310896"/>
          </a:xfrm>
          <a:prstGeom prst="roundRect">
            <a:avLst/>
          </a:prstGeom>
          <a:solidFill>
            <a:srgbClr val="0E7C86"/>
          </a:solidFill>
          <a:ln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481328"/>
            <a:ext cx="1298448" cy="310896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Liberation Sans"/>
              </a:rPr>
              <a:t>SEQUENCE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1965960"/>
            <a:ext cx="278892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12304A"/>
                </a:solidFill>
                <a:latin typeface="Liberation Mono"/>
              </a:rPr>
              <a:t>p · q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2761488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12304A"/>
                </a:solidFill>
                <a:latin typeface="Liberation Sans"/>
              </a:rPr>
              <a:t>Boundary composition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337560"/>
            <a:ext cx="2734056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 i="0">
                <a:solidFill>
                  <a:srgbClr val="27343C"/>
                </a:solidFill>
                <a:latin typeface="Liberation Sans"/>
              </a:rPr>
              <a:t>Can q consume what p leaves? Match from the top inward and propagate the more precise type through every correlated occurrence.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42232" y="1234440"/>
            <a:ext cx="3246120" cy="4133087"/>
          </a:xfrm>
          <a:prstGeom prst="roundRect">
            <a:avLst/>
          </a:prstGeom>
          <a:solidFill>
            <a:srgbClr val="E8F0F5"/>
          </a:solidFill>
          <a:ln w="12700">
            <a:solidFill>
              <a:srgbClr val="2D66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325112" y="1481328"/>
            <a:ext cx="1536192" cy="310896"/>
          </a:xfrm>
          <a:prstGeom prst="roundRect">
            <a:avLst/>
          </a:prstGeom>
          <a:solidFill>
            <a:srgbClr val="2D6684"/>
          </a:solidFill>
          <a:ln>
            <a:solidFill>
              <a:srgbClr val="2D66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25112" y="1481328"/>
            <a:ext cx="1536192" cy="310896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Liberation Sans"/>
              </a:rPr>
              <a:t>ALTERNATIVES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70832" y="1965960"/>
            <a:ext cx="278892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12304A"/>
                </a:solidFill>
                <a:latin typeface="Liberation Mono"/>
              </a:rPr>
              <a:t>p ⊓ q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70832" y="2761488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12304A"/>
                </a:solidFill>
                <a:latin typeface="Liberation Sans"/>
              </a:rPr>
              <a:t>Common effect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98264" y="3337560"/>
            <a:ext cx="2734056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 i="0">
                <a:solidFill>
                  <a:srgbClr val="27343C"/>
                </a:solidFill>
                <a:latin typeface="Liberation Sans"/>
              </a:rPr>
              <a:t>Attempt to reconcile both path effects into one interface. This is a single must-style syntactic summary—not a set of every possible behavior.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17536" y="1234440"/>
            <a:ext cx="3246120" cy="4133087"/>
          </a:xfrm>
          <a:prstGeom prst="roundRect">
            <a:avLst/>
          </a:prstGeom>
          <a:solidFill>
            <a:srgbClr val="F7ECE1"/>
          </a:solidFill>
          <a:ln w="12700">
            <a:solidFill>
              <a:srgbClr val="C46A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00415" y="1481328"/>
            <a:ext cx="1298448" cy="310896"/>
          </a:xfrm>
          <a:prstGeom prst="roundRect">
            <a:avLst/>
          </a:prstGeom>
          <a:solidFill>
            <a:srgbClr val="C46A2B"/>
          </a:solidFill>
          <a:ln>
            <a:solidFill>
              <a:srgbClr val="C46A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00415" y="1481328"/>
            <a:ext cx="1298448" cy="310896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Liberation Sans"/>
              </a:rPr>
              <a:t>REPETITION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46136" y="1965960"/>
            <a:ext cx="278892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12304A"/>
                </a:solidFill>
                <a:latin typeface="Liberation Mono"/>
              </a:rPr>
              <a:t>p ⊓ (p · p)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46136" y="2761488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12304A"/>
                </a:solidFill>
                <a:latin typeface="Liberation Sans"/>
              </a:rPr>
              <a:t>One-versus-two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73567" y="3337560"/>
            <a:ext cx="2734056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0" i="0">
                <a:solidFill>
                  <a:srgbClr val="27343C"/>
                </a:solidFill>
                <a:latin typeface="Liberation Sans"/>
              </a:rPr>
              <a:t>Compare one pass with two consecutive passes. Accept only when the implemented merge finds a locally stable summary.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669280"/>
            <a:ext cx="11055096" cy="530352"/>
          </a:xfrm>
          <a:prstGeom prst="roundRect">
            <a:avLst/>
          </a:prstGeom>
          <a:solidFill>
            <a:srgbClr val="E6F1F1"/>
          </a:solidFill>
          <a:ln w="10160">
            <a:solidFill>
              <a:srgbClr val="58A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5687568"/>
            <a:ext cx="10689336" cy="4846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50" b="1" i="0">
                <a:solidFill>
                  <a:srgbClr val="12304A"/>
                </a:solidFill>
                <a:latin typeface="Liberation Sans"/>
              </a:rPr>
              <a:t>The untyped base has a polycyclic-monoid structure; the checker adds partial, subtype-aware, identity-sensitive matching.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30352" y="228600"/>
            <a:ext cx="11128248" cy="0"/>
          </a:xfrm>
          <a:prstGeom prst="line">
            <a:avLst/>
          </a:prstGeom>
          <a:ln w="2286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30352" y="347472"/>
            <a:ext cx="3200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9A3548"/>
                </a:solidFill>
                <a:latin typeface="Liberation Sans"/>
              </a:rPr>
              <a:t>WORKED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521207"/>
            <a:ext cx="10561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2304A"/>
                </a:solidFill>
                <a:latin typeface="Liberation Sans"/>
              </a:rPr>
              <a:t>Sequence: composition refines the whole phrase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42976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9A3548"/>
                </a:solidFill>
                <a:latin typeface="Liberation Mono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83680"/>
            <a:ext cx="3657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5E6B73"/>
                </a:solidFill>
                <a:latin typeface="Liberation Sans"/>
              </a:rPr>
              <a:t>STATIC TYPE CHECKING FOR FORTH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65392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 i="0">
                <a:solidFill>
                  <a:srgbClr val="5E6B73"/>
                </a:solidFill>
                <a:latin typeface="Liberation Sans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703320" y="1060704"/>
            <a:ext cx="4782312" cy="566928"/>
          </a:xfrm>
          <a:prstGeom prst="roundRect">
            <a:avLst/>
          </a:prstGeom>
          <a:solidFill>
            <a:srgbClr val="ECEAE4"/>
          </a:solidFill>
          <a:ln w="10160">
            <a:solidFill>
              <a:srgbClr val="D8D8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76472" y="1097280"/>
            <a:ext cx="4636008" cy="493776"/>
          </a:xfrm>
          <a:prstGeom prst="rect">
            <a:avLst/>
          </a:prstGeom>
          <a:noFill/>
        </p:spPr>
        <p:txBody>
          <a:bodyPr wrap="square" lIns="128016" rIns="128016" tIns="128016" bIns="12801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 i="0">
                <a:solidFill>
                  <a:srgbClr val="12304A"/>
                </a:solidFill>
                <a:latin typeface="Liberation Mono"/>
              </a:rPr>
              <a:t>1   2   +   DUP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057400"/>
            <a:ext cx="2029968" cy="2084831"/>
          </a:xfrm>
          <a:prstGeom prst="roundRect">
            <a:avLst/>
          </a:prstGeom>
          <a:solidFill>
            <a:srgbClr val="E8F0F5"/>
          </a:solidFill>
          <a:ln w="12700">
            <a:solidFill>
              <a:srgbClr val="2D66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252728" y="2304288"/>
            <a:ext cx="713232" cy="329184"/>
          </a:xfrm>
          <a:prstGeom prst="roundRect">
            <a:avLst/>
          </a:prstGeom>
          <a:solidFill>
            <a:srgbClr val="2D6684"/>
          </a:solidFill>
          <a:ln>
            <a:solidFill>
              <a:srgbClr val="2D66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52728" y="2304288"/>
            <a:ext cx="713232" cy="329184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Liberation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816352"/>
            <a:ext cx="18470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5E6B73"/>
                </a:solidFill>
                <a:latin typeface="Liberation Sans"/>
              </a:rPr>
              <a:t>produce 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3246120"/>
            <a:ext cx="181051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12304A"/>
                </a:solidFill>
                <a:latin typeface="Liberation Mono"/>
              </a:rPr>
              <a:t>( -- n 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70048" y="3072384"/>
            <a:ext cx="228600" cy="0"/>
          </a:xfrm>
          <a:prstGeom prst="line">
            <a:avLst/>
          </a:prstGeom>
          <a:ln w="19050">
            <a:solidFill>
              <a:srgbClr val="D8D8D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971800" y="2057400"/>
            <a:ext cx="2029968" cy="2084831"/>
          </a:xfrm>
          <a:prstGeom prst="roundRect">
            <a:avLst/>
          </a:prstGeom>
          <a:solidFill>
            <a:srgbClr val="E8F0F5"/>
          </a:solidFill>
          <a:ln w="12700">
            <a:solidFill>
              <a:srgbClr val="2D66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630168" y="2304288"/>
            <a:ext cx="713232" cy="329184"/>
          </a:xfrm>
          <a:prstGeom prst="roundRect">
            <a:avLst/>
          </a:prstGeom>
          <a:solidFill>
            <a:srgbClr val="2D6684"/>
          </a:solidFill>
          <a:ln>
            <a:solidFill>
              <a:srgbClr val="2D66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30168" y="2304288"/>
            <a:ext cx="713232" cy="329184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Liberation San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63240" y="2816352"/>
            <a:ext cx="18470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5E6B73"/>
                </a:solidFill>
                <a:latin typeface="Liberation Sans"/>
              </a:rPr>
              <a:t>produce 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81528" y="3246120"/>
            <a:ext cx="181051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12304A"/>
                </a:solidFill>
                <a:latin typeface="Liberation Mono"/>
              </a:rPr>
              <a:t>( -- n 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047488" y="3072384"/>
            <a:ext cx="411480" cy="0"/>
          </a:xfrm>
          <a:prstGeom prst="line">
            <a:avLst/>
          </a:prstGeom>
          <a:ln w="19050">
            <a:solidFill>
              <a:srgbClr val="D8D8D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5532120" y="2057400"/>
            <a:ext cx="2212848" cy="2084831"/>
          </a:xfrm>
          <a:prstGeom prst="roundRect">
            <a:avLst/>
          </a:prstGeom>
          <a:solidFill>
            <a:srgbClr val="F7ECE1"/>
          </a:solidFill>
          <a:ln w="12700">
            <a:solidFill>
              <a:srgbClr val="C46A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81928" y="2304288"/>
            <a:ext cx="713232" cy="329184"/>
          </a:xfrm>
          <a:prstGeom prst="roundRect">
            <a:avLst/>
          </a:prstGeom>
          <a:solidFill>
            <a:srgbClr val="C46A2B"/>
          </a:solidFill>
          <a:ln>
            <a:solidFill>
              <a:srgbClr val="C46A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81928" y="2304288"/>
            <a:ext cx="713232" cy="329184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Liberation Sans"/>
              </a:rPr>
              <a:t>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23559" y="2816352"/>
            <a:ext cx="202996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5E6B73"/>
                </a:solidFill>
                <a:latin typeface="Liberation Sans"/>
              </a:rPr>
              <a:t>consume two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41848" y="3246120"/>
            <a:ext cx="1993391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12304A"/>
                </a:solidFill>
                <a:latin typeface="Liberation Mono"/>
              </a:rPr>
              <a:t>( n n -- n )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790688" y="3072384"/>
            <a:ext cx="393191" cy="0"/>
          </a:xfrm>
          <a:prstGeom prst="line">
            <a:avLst/>
          </a:prstGeom>
          <a:ln w="19050">
            <a:solidFill>
              <a:srgbClr val="D8D8D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8257031" y="2057400"/>
            <a:ext cx="3337560" cy="2084831"/>
          </a:xfrm>
          <a:prstGeom prst="roundRect">
            <a:avLst/>
          </a:prstGeom>
          <a:solidFill>
            <a:srgbClr val="E6F1F1"/>
          </a:solidFill>
          <a:ln w="1270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569196" y="2304288"/>
            <a:ext cx="713232" cy="329184"/>
          </a:xfrm>
          <a:prstGeom prst="roundRect">
            <a:avLst/>
          </a:prstGeom>
          <a:solidFill>
            <a:srgbClr val="0E7C86"/>
          </a:solidFill>
          <a:ln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69196" y="2304288"/>
            <a:ext cx="713232" cy="329184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Liberation Sans"/>
              </a:rPr>
              <a:t>DUP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48471" y="2816352"/>
            <a:ext cx="3154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5E6B73"/>
                </a:solidFill>
                <a:latin typeface="Liberation Sans"/>
              </a:rPr>
              <a:t>copy one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66759" y="3246120"/>
            <a:ext cx="3118104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20" b="1" i="0">
                <a:solidFill>
                  <a:srgbClr val="12304A"/>
                </a:solidFill>
                <a:latin typeface="Liberation Mono"/>
              </a:rPr>
              <a:t>( X[1] -- X[1] X[1] 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77440" y="4443984"/>
            <a:ext cx="7434072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450" b="1" i="0">
                <a:solidFill>
                  <a:srgbClr val="5E6B73"/>
                </a:solidFill>
                <a:latin typeface="Liberation Sans"/>
              </a:rPr>
              <a:t>Boundary match:  </a:t>
            </a:r>
            <a:r>
              <a:rPr sz="1800" b="1" i="0">
                <a:solidFill>
                  <a:srgbClr val="2D6684"/>
                </a:solidFill>
                <a:latin typeface="Liberation Mono"/>
              </a:rPr>
              <a:t>n</a:t>
            </a:r>
            <a:r>
              <a:rPr sz="1450" b="0" i="0">
                <a:solidFill>
                  <a:srgbClr val="27343C"/>
                </a:solidFill>
                <a:latin typeface="Liberation Sans"/>
              </a:rPr>
              <a:t>  satisfies  </a:t>
            </a:r>
            <a:r>
              <a:rPr sz="1800" b="1" i="0">
                <a:solidFill>
                  <a:srgbClr val="0E7C86"/>
                </a:solidFill>
                <a:latin typeface="Liberation Mono"/>
              </a:rPr>
              <a:t>X[1]</a:t>
            </a:r>
            <a:r>
              <a:rPr sz="1450" b="1" i="0">
                <a:solidFill>
                  <a:srgbClr val="12304A"/>
                </a:solidFill>
                <a:latin typeface="Liberation Sans"/>
              </a:rPr>
              <a:t>  → retain 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10128" y="4956048"/>
            <a:ext cx="5577840" cy="557784"/>
          </a:xfrm>
          <a:prstGeom prst="roundRect">
            <a:avLst/>
          </a:prstGeom>
          <a:solidFill>
            <a:srgbClr val="E7F0EB"/>
          </a:solidFill>
          <a:ln w="10160">
            <a:solidFill>
              <a:srgbClr val="3D7C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383280" y="4992624"/>
            <a:ext cx="5431536" cy="484632"/>
          </a:xfrm>
          <a:prstGeom prst="rect">
            <a:avLst/>
          </a:prstGeom>
          <a:noFill/>
        </p:spPr>
        <p:txBody>
          <a:bodyPr wrap="square" lIns="128016" rIns="128016" tIns="128016" bIns="12801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12304A"/>
                </a:solidFill>
                <a:latin typeface="Liberation Mono"/>
              </a:rPr>
              <a:t>whole phrase:   ( -- n[1] n[1] 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5733288"/>
            <a:ext cx="11055096" cy="530352"/>
          </a:xfrm>
          <a:prstGeom prst="roundRect">
            <a:avLst/>
          </a:prstGeom>
          <a:solidFill>
            <a:srgbClr val="E6F1F1"/>
          </a:solidFill>
          <a:ln w="10160">
            <a:solidFill>
              <a:srgbClr val="58A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9808" y="5751575"/>
            <a:ext cx="10689336" cy="4846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12304A"/>
                </a:solidFill>
                <a:latin typeface="Liberation Sans"/>
              </a:rPr>
              <a:t>Substitution is global: the numeric refinement reaches both outputs that DUP correlates.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30352" y="228600"/>
            <a:ext cx="11128248" cy="0"/>
          </a:xfrm>
          <a:prstGeom prst="line">
            <a:avLst/>
          </a:prstGeom>
          <a:ln w="2286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30352" y="347472"/>
            <a:ext cx="3200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9A3548"/>
                </a:solidFill>
                <a:latin typeface="Liberation Sans"/>
              </a:rPr>
              <a:t>TYPE-AWARE COMPOSITION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521207"/>
            <a:ext cx="10561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2304A"/>
                </a:solidFill>
                <a:latin typeface="Liberation Sans"/>
              </a:rPr>
              <a:t>A boundary can refine—or fail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42976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9A3548"/>
                </a:solidFill>
                <a:latin typeface="Liberation Mono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83680"/>
            <a:ext cx="3657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5E6B73"/>
                </a:solidFill>
                <a:latin typeface="Liberation Sans"/>
              </a:rPr>
              <a:t>STATIC TYPE CHECKING FOR FORTH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65392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 i="0">
                <a:solidFill>
                  <a:srgbClr val="5E6B73"/>
                </a:solidFill>
                <a:latin typeface="Liberation Sans"/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170432"/>
            <a:ext cx="5413248" cy="4370832"/>
          </a:xfrm>
          <a:prstGeom prst="roundRect">
            <a:avLst/>
          </a:prstGeom>
          <a:solidFill>
            <a:srgbClr val="E7F0EB"/>
          </a:solidFill>
          <a:ln w="12700">
            <a:solidFill>
              <a:srgbClr val="3D7C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444752"/>
            <a:ext cx="1152144" cy="310896"/>
          </a:xfrm>
          <a:prstGeom prst="roundRect">
            <a:avLst/>
          </a:prstGeom>
          <a:solidFill>
            <a:srgbClr val="3D7C62"/>
          </a:solidFill>
          <a:ln>
            <a:solidFill>
              <a:srgbClr val="3D7C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444752"/>
            <a:ext cx="1152144" cy="310896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Liberation Sans"/>
              </a:rPr>
              <a:t>COMPATIBLE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" y="1920240"/>
            <a:ext cx="4590288" cy="530352"/>
          </a:xfrm>
          <a:prstGeom prst="roundRect">
            <a:avLst/>
          </a:prstGeom>
          <a:solidFill>
            <a:srgbClr val="FFFDFC"/>
          </a:solidFill>
          <a:ln w="10160">
            <a:solidFill>
              <a:srgbClr val="3D7C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1956816"/>
            <a:ext cx="4443983" cy="457199"/>
          </a:xfrm>
          <a:prstGeom prst="rect">
            <a:avLst/>
          </a:prstGeom>
          <a:noFill/>
        </p:spPr>
        <p:txBody>
          <a:bodyPr wrap="square" lIns="128016" rIns="128016" tIns="128016" bIns="12801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12304A"/>
                </a:solidFill>
                <a:latin typeface="Liberation Mono"/>
              </a:rPr>
              <a:t>DP   C@   0=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761488"/>
            <a:ext cx="53035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9A3548"/>
                </a:solidFill>
                <a:latin typeface="Liberation Mono"/>
              </a:rPr>
              <a:t>DP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55648" y="2761488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12304A"/>
                </a:solidFill>
                <a:latin typeface="Liberation Mono"/>
              </a:rPr>
              <a:t>( -- a-addr 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3209544"/>
            <a:ext cx="53035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9A3548"/>
                </a:solidFill>
                <a:latin typeface="Liberation Mono"/>
              </a:rPr>
              <a:t>C@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55648" y="3209544"/>
            <a:ext cx="2651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12304A"/>
                </a:solidFill>
                <a:latin typeface="Liberation Mono"/>
              </a:rPr>
              <a:t>( a-addr -- char 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86200" y="3191256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1">
                <a:solidFill>
                  <a:srgbClr val="3D7C62"/>
                </a:solidFill>
                <a:latin typeface="Liberation Sans"/>
              </a:rPr>
              <a:t>declared input: c-addr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3657600"/>
            <a:ext cx="53035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9A3548"/>
                </a:solidFill>
                <a:latin typeface="Liberation Mono"/>
              </a:rPr>
              <a:t>0=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55648" y="3657600"/>
            <a:ext cx="2651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12304A"/>
                </a:solidFill>
                <a:latin typeface="Liberation Mono"/>
              </a:rPr>
              <a:t>( char -- flag 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86200" y="3639312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1">
                <a:solidFill>
                  <a:srgbClr val="3D7C62"/>
                </a:solidFill>
                <a:latin typeface="Liberation Sans"/>
              </a:rPr>
              <a:t>declared input: x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8" y="4343400"/>
            <a:ext cx="4133087" cy="548640"/>
          </a:xfrm>
          <a:prstGeom prst="roundRect">
            <a:avLst/>
          </a:prstGeom>
          <a:solidFill>
            <a:srgbClr val="FFFDFC"/>
          </a:solidFill>
          <a:ln w="10160">
            <a:solidFill>
              <a:srgbClr val="3D7C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80160" y="4379976"/>
            <a:ext cx="3986783" cy="475488"/>
          </a:xfrm>
          <a:prstGeom prst="rect">
            <a:avLst/>
          </a:prstGeom>
          <a:noFill/>
        </p:spPr>
        <p:txBody>
          <a:bodyPr wrap="square" lIns="128016" rIns="128016" tIns="128016" bIns="12801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12304A"/>
                </a:solidFill>
                <a:latin typeface="Liberation Mono"/>
              </a:rPr>
              <a:t>result:  ( -- flag 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" y="5056632"/>
            <a:ext cx="4709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27343C"/>
                </a:solidFill>
                <a:latin typeface="Liberation Sans"/>
              </a:rPr>
              <a:t>The trace retains a-addr because it is more specific than c-addr.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99632" y="1170432"/>
            <a:ext cx="5394960" cy="4370832"/>
          </a:xfrm>
          <a:prstGeom prst="roundRect">
            <a:avLst/>
          </a:prstGeom>
          <a:solidFill>
            <a:srgbClr val="F5E7E8"/>
          </a:solidFill>
          <a:ln w="12700">
            <a:solidFill>
              <a:srgbClr val="9A35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46520" y="1444752"/>
            <a:ext cx="749808" cy="310896"/>
          </a:xfrm>
          <a:prstGeom prst="roundRect">
            <a:avLst/>
          </a:prstGeom>
          <a:solidFill>
            <a:srgbClr val="9A3548"/>
          </a:solidFill>
          <a:ln>
            <a:solidFill>
              <a:srgbClr val="9A35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1444752"/>
            <a:ext cx="749808" cy="310896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Liberation Sans"/>
              </a:rPr>
              <a:t>CLASH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56832" y="1920240"/>
            <a:ext cx="4480560" cy="530352"/>
          </a:xfrm>
          <a:prstGeom prst="roundRect">
            <a:avLst/>
          </a:prstGeom>
          <a:solidFill>
            <a:srgbClr val="FFFDFC"/>
          </a:solidFill>
          <a:ln w="10160">
            <a:solidFill>
              <a:srgbClr val="9A35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29984" y="1956816"/>
            <a:ext cx="4334256" cy="457199"/>
          </a:xfrm>
          <a:prstGeom prst="rect">
            <a:avLst/>
          </a:prstGeom>
          <a:noFill/>
        </p:spPr>
        <p:txBody>
          <a:bodyPr wrap="square" lIns="128016" rIns="128016" tIns="128016" bIns="12801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12304A"/>
                </a:solidFill>
                <a:latin typeface="Liberation Mono"/>
              </a:rPr>
              <a:t>C@   !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29400" y="2743200"/>
            <a:ext cx="4572000" cy="521207"/>
          </a:xfrm>
          <a:prstGeom prst="roundRect">
            <a:avLst/>
          </a:prstGeom>
          <a:solidFill>
            <a:srgbClr val="FFFDFC"/>
          </a:solidFill>
          <a:ln w="10160">
            <a:solidFill>
              <a:srgbClr val="D8D8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02552" y="2779776"/>
            <a:ext cx="4425696" cy="448055"/>
          </a:xfrm>
          <a:prstGeom prst="rect">
            <a:avLst/>
          </a:prstGeom>
          <a:noFill/>
        </p:spPr>
        <p:txBody>
          <a:bodyPr wrap="square" lIns="128016" rIns="128016" tIns="128016" bIns="12801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12304A"/>
                </a:solidFill>
                <a:latin typeface="Liberation Mono"/>
              </a:rPr>
              <a:t>C@   ( c-addr -- char 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29400" y="3456432"/>
            <a:ext cx="4572000" cy="521207"/>
          </a:xfrm>
          <a:prstGeom prst="roundRect">
            <a:avLst/>
          </a:prstGeom>
          <a:solidFill>
            <a:srgbClr val="FFFDFC"/>
          </a:solidFill>
          <a:ln w="10160">
            <a:solidFill>
              <a:srgbClr val="D8D8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02552" y="3493008"/>
            <a:ext cx="4425696" cy="448055"/>
          </a:xfrm>
          <a:prstGeom prst="rect">
            <a:avLst/>
          </a:prstGeom>
          <a:noFill/>
        </p:spPr>
        <p:txBody>
          <a:bodyPr wrap="square" lIns="128016" rIns="128016" tIns="128016" bIns="12801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12304A"/>
                </a:solidFill>
                <a:latin typeface="Liberation Mono"/>
              </a:rPr>
              <a:t>!    ( X a-addr -- 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95160" y="4297680"/>
            <a:ext cx="10515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9A3548"/>
                </a:solidFill>
                <a:latin typeface="Liberation Mono"/>
              </a:rPr>
              <a:t>char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94192" y="4224528"/>
            <a:ext cx="41148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9A3548"/>
                </a:solidFill>
                <a:latin typeface="Liberation Sans"/>
              </a:rPr>
              <a:t>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25712" y="4297680"/>
            <a:ext cx="1371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9A3548"/>
                </a:solidFill>
                <a:latin typeface="Liberation Mono"/>
              </a:rPr>
              <a:t>a-addr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95160" y="4727448"/>
            <a:ext cx="1051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5E6B73"/>
                </a:solidFill>
                <a:latin typeface="Liberation Sans"/>
              </a:rPr>
              <a:t>produced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61120" y="4727448"/>
            <a:ext cx="1737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5E6B73"/>
                </a:solidFill>
                <a:latin typeface="Liberation Sans"/>
              </a:rPr>
              <a:t>required on top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66928" y="5715000"/>
            <a:ext cx="11055096" cy="530352"/>
          </a:xfrm>
          <a:prstGeom prst="roundRect">
            <a:avLst/>
          </a:prstGeom>
          <a:solidFill>
            <a:srgbClr val="F5E7E8"/>
          </a:solidFill>
          <a:ln w="10160">
            <a:solidFill>
              <a:srgbClr val="9A35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9808" y="5733288"/>
            <a:ext cx="10689336" cy="4846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9A3548"/>
                </a:solidFill>
                <a:latin typeface="Liberation Sans"/>
              </a:rPr>
              <a:t>The checker rejects the incompatible boundary before the source can attempt the bad store.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30352" y="228600"/>
            <a:ext cx="11128248" cy="0"/>
          </a:xfrm>
          <a:prstGeom prst="line">
            <a:avLst/>
          </a:prstGeom>
          <a:ln w="2286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30352" y="347472"/>
            <a:ext cx="3200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9A3548"/>
                </a:solidFill>
                <a:latin typeface="Liberation Sans"/>
              </a:rPr>
              <a:t>INFERRED DEFINITIONS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521207"/>
            <a:ext cx="10561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2304A"/>
                </a:solidFill>
                <a:latin typeface="Liberation Sans"/>
              </a:rPr>
              <a:t>Use can refine a definition backward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42976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9A3548"/>
                </a:solidFill>
                <a:latin typeface="Liberation Mono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83680"/>
            <a:ext cx="3657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5E6B73"/>
                </a:solidFill>
                <a:latin typeface="Liberation Sans"/>
              </a:rPr>
              <a:t>STATIC TYPE CHECKING FOR FORTH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65392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 i="0">
                <a:solidFill>
                  <a:srgbClr val="5E6B73"/>
                </a:solidFill>
                <a:latin typeface="Liberation Sans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34640" y="1069848"/>
            <a:ext cx="6537960" cy="603504"/>
          </a:xfrm>
          <a:prstGeom prst="roundRect">
            <a:avLst/>
          </a:prstGeom>
          <a:solidFill>
            <a:srgbClr val="ECEAE4"/>
          </a:solidFill>
          <a:ln w="10160">
            <a:solidFill>
              <a:srgbClr val="D8D8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07792" y="1106424"/>
            <a:ext cx="6391656" cy="530352"/>
          </a:xfrm>
          <a:prstGeom prst="rect">
            <a:avLst/>
          </a:prstGeom>
          <a:noFill/>
        </p:spPr>
        <p:txBody>
          <a:bodyPr wrap="square" lIns="128016" rIns="128016" tIns="128016" bIns="12801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12304A"/>
                </a:solidFill>
                <a:latin typeface="Liberation Mono"/>
              </a:rPr>
              <a:t>: PEEK2   DUP @ SWAP @   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" y="2148840"/>
            <a:ext cx="1920240" cy="1371600"/>
          </a:xfrm>
          <a:prstGeom prst="roundRect">
            <a:avLst/>
          </a:prstGeom>
          <a:solidFill>
            <a:srgbClr val="ECEAE4"/>
          </a:solidFill>
          <a:ln w="12700">
            <a:solidFill>
              <a:srgbClr val="5E6B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" y="2386584"/>
            <a:ext cx="170078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5E6B73"/>
                </a:solidFill>
                <a:latin typeface="Liberation Sans"/>
              </a:rPr>
              <a:t>unknown 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" y="2862072"/>
            <a:ext cx="17007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12304A"/>
                </a:solidFill>
                <a:latin typeface="Liberation Mono"/>
              </a:rPr>
              <a:t>X[1]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05456" y="2834640"/>
            <a:ext cx="246888" cy="0"/>
          </a:xfrm>
          <a:prstGeom prst="line">
            <a:avLst/>
          </a:prstGeom>
          <a:ln w="19050">
            <a:solidFill>
              <a:srgbClr val="D8D8D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779776" y="2148840"/>
            <a:ext cx="1920240" cy="1371600"/>
          </a:xfrm>
          <a:prstGeom prst="roundRect">
            <a:avLst/>
          </a:prstGeom>
          <a:solidFill>
            <a:srgbClr val="E6F1F1"/>
          </a:solidFill>
          <a:ln w="1270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89504" y="2386584"/>
            <a:ext cx="170078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0E7C86"/>
                </a:solidFill>
                <a:latin typeface="Liberation Sans"/>
              </a:rPr>
              <a:t>DUP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9504" y="2862072"/>
            <a:ext cx="17007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12304A"/>
                </a:solidFill>
                <a:latin typeface="Liberation Mono"/>
              </a:rPr>
              <a:t>X[1]  X[1]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700016" y="2834640"/>
            <a:ext cx="274320" cy="0"/>
          </a:xfrm>
          <a:prstGeom prst="line">
            <a:avLst/>
          </a:prstGeom>
          <a:ln w="19050">
            <a:solidFill>
              <a:srgbClr val="D8D8D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001768" y="2148840"/>
            <a:ext cx="1920240" cy="1371600"/>
          </a:xfrm>
          <a:prstGeom prst="roundRect">
            <a:avLst/>
          </a:prstGeom>
          <a:solidFill>
            <a:srgbClr val="E8F0F5"/>
          </a:solidFill>
          <a:ln w="12700">
            <a:solidFill>
              <a:srgbClr val="2D66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11496" y="2386584"/>
            <a:ext cx="170078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D6684"/>
                </a:solidFill>
                <a:latin typeface="Liberation Sans"/>
              </a:rPr>
              <a:t>first @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11496" y="2862072"/>
            <a:ext cx="17007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12304A"/>
                </a:solidFill>
                <a:latin typeface="Liberation Mono"/>
              </a:rPr>
              <a:t>a-addr  →  X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922008" y="2834640"/>
            <a:ext cx="274320" cy="0"/>
          </a:xfrm>
          <a:prstGeom prst="line">
            <a:avLst/>
          </a:prstGeom>
          <a:ln w="19050">
            <a:solidFill>
              <a:srgbClr val="D8D8D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223760" y="2148840"/>
            <a:ext cx="1920240" cy="1371600"/>
          </a:xfrm>
          <a:prstGeom prst="roundRect">
            <a:avLst/>
          </a:prstGeom>
          <a:solidFill>
            <a:srgbClr val="F7ECE1"/>
          </a:solidFill>
          <a:ln w="12700">
            <a:solidFill>
              <a:srgbClr val="C46A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33488" y="2386584"/>
            <a:ext cx="170078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C46A2B"/>
                </a:solidFill>
                <a:latin typeface="Liberation Sans"/>
              </a:rPr>
              <a:t>SWAP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33488" y="2862072"/>
            <a:ext cx="17007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12304A"/>
                </a:solidFill>
                <a:latin typeface="Liberation Mono"/>
              </a:rPr>
              <a:t>X  a-addr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144000" y="2834640"/>
            <a:ext cx="274320" cy="0"/>
          </a:xfrm>
          <a:prstGeom prst="line">
            <a:avLst/>
          </a:prstGeom>
          <a:ln w="19050">
            <a:solidFill>
              <a:srgbClr val="D8D8D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9445752" y="2148840"/>
            <a:ext cx="1920240" cy="1371600"/>
          </a:xfrm>
          <a:prstGeom prst="roundRect">
            <a:avLst/>
          </a:prstGeom>
          <a:solidFill>
            <a:srgbClr val="E8F0F5"/>
          </a:solidFill>
          <a:ln w="12700">
            <a:solidFill>
              <a:srgbClr val="2D66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55480" y="2386584"/>
            <a:ext cx="170078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D6684"/>
                </a:solidFill>
                <a:latin typeface="Liberation Sans"/>
              </a:rPr>
              <a:t>second @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55480" y="2862072"/>
            <a:ext cx="17007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12304A"/>
                </a:solidFill>
                <a:latin typeface="Liberation Mono"/>
              </a:rPr>
              <a:t>X[2]  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" y="3904487"/>
            <a:ext cx="102870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 i="0">
                <a:solidFill>
                  <a:srgbClr val="27343C"/>
                </a:solidFill>
                <a:latin typeface="Liberation Sans"/>
              </a:rPr>
              <a:t>Both copies are eventually consumed by @, so each must satisfy a-addr. That requirement travels through SWAP and DUP to the definition input.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017520" y="4709160"/>
            <a:ext cx="6163056" cy="603504"/>
          </a:xfrm>
          <a:prstGeom prst="roundRect">
            <a:avLst/>
          </a:prstGeom>
          <a:solidFill>
            <a:srgbClr val="E7F0EB"/>
          </a:solidFill>
          <a:ln w="10160">
            <a:solidFill>
              <a:srgbClr val="3D7C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090672" y="4745736"/>
            <a:ext cx="6016752" cy="530352"/>
          </a:xfrm>
          <a:prstGeom prst="rect">
            <a:avLst/>
          </a:prstGeom>
          <a:noFill/>
        </p:spPr>
        <p:txBody>
          <a:bodyPr wrap="square" lIns="128016" rIns="128016" tIns="128016" bIns="12801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12304A"/>
                </a:solidFill>
                <a:latin typeface="Liberation Mono"/>
              </a:rPr>
              <a:t>PEEK2   ( a-addr -- X X 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5669280"/>
            <a:ext cx="11055096" cy="530352"/>
          </a:xfrm>
          <a:prstGeom prst="roundRect">
            <a:avLst/>
          </a:prstGeom>
          <a:solidFill>
            <a:srgbClr val="E6F1F1"/>
          </a:solidFill>
          <a:ln w="10160">
            <a:solidFill>
              <a:srgbClr val="58A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687568"/>
            <a:ext cx="10689336" cy="4846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50" b="1" i="0">
                <a:solidFill>
                  <a:srgbClr val="12304A"/>
                </a:solidFill>
                <a:latin typeface="Liberation Sans"/>
              </a:rPr>
              <a:t>At ; the inferred effect is installed in the analysis dictionary, so later source can use PEEK2 like a declared word.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30352" y="228600"/>
            <a:ext cx="11128248" cy="0"/>
          </a:xfrm>
          <a:prstGeom prst="line">
            <a:avLst/>
          </a:prstGeom>
          <a:ln w="2286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30352" y="347472"/>
            <a:ext cx="3200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9A3548"/>
                </a:solidFill>
                <a:latin typeface="Liberation Sans"/>
              </a:rPr>
              <a:t>CONTROL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521207"/>
            <a:ext cx="10561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2304A"/>
                </a:solidFill>
                <a:latin typeface="Liberation Sans"/>
              </a:rPr>
              <a:t>Branches need one common calling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42976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9A3548"/>
                </a:solidFill>
                <a:latin typeface="Liberation Mono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83680"/>
            <a:ext cx="3657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5E6B73"/>
                </a:solidFill>
                <a:latin typeface="Liberation Sans"/>
              </a:rPr>
              <a:t>STATIC TYPE CHECKING FOR FORTH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65392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 i="0">
                <a:solidFill>
                  <a:srgbClr val="5E6B73"/>
                </a:solidFill>
                <a:latin typeface="Liberation Sans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40280" y="1051560"/>
            <a:ext cx="7717536" cy="585216"/>
          </a:xfrm>
          <a:prstGeom prst="roundRect">
            <a:avLst/>
          </a:prstGeom>
          <a:solidFill>
            <a:srgbClr val="ECEAE4"/>
          </a:solidFill>
          <a:ln w="10160">
            <a:solidFill>
              <a:srgbClr val="D8D8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13432" y="1088136"/>
            <a:ext cx="7571231" cy="512064"/>
          </a:xfrm>
          <a:prstGeom prst="rect">
            <a:avLst/>
          </a:prstGeom>
          <a:noFill/>
        </p:spPr>
        <p:txBody>
          <a:bodyPr wrap="square" lIns="128016" rIns="128016" tIns="128016" bIns="12801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12304A"/>
                </a:solidFill>
                <a:latin typeface="Liberation Mono"/>
              </a:rPr>
              <a:t>: FUN   IF NEGATE ELSE 1+ THEN   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965960"/>
            <a:ext cx="2267712" cy="530352"/>
          </a:xfrm>
          <a:prstGeom prst="roundRect">
            <a:avLst/>
          </a:prstGeom>
          <a:solidFill>
            <a:srgbClr val="E8F0F5"/>
          </a:solidFill>
          <a:ln w="10160">
            <a:solidFill>
              <a:srgbClr val="2D66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19" y="2002536"/>
            <a:ext cx="2121408" cy="457199"/>
          </a:xfrm>
          <a:prstGeom prst="rect">
            <a:avLst/>
          </a:prstGeom>
          <a:noFill/>
        </p:spPr>
        <p:txBody>
          <a:bodyPr wrap="square" lIns="128016" rIns="128016" tIns="128016" bIns="12801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50" b="1" i="0">
                <a:solidFill>
                  <a:srgbClr val="12304A"/>
                </a:solidFill>
                <a:latin typeface="Liberation Mono"/>
              </a:rPr>
              <a:t>input:  F  n  flag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926080" y="2231136"/>
            <a:ext cx="868680" cy="0"/>
          </a:xfrm>
          <a:prstGeom prst="line">
            <a:avLst/>
          </a:prstGeom>
          <a:ln w="22860">
            <a:solidFill>
              <a:srgbClr val="0E7C86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Diamond 12"/>
          <p:cNvSpPr/>
          <p:nvPr/>
        </p:nvSpPr>
        <p:spPr>
          <a:xfrm>
            <a:off x="3803904" y="1810512"/>
            <a:ext cx="1024128" cy="841248"/>
          </a:xfrm>
          <a:prstGeom prst="diamond">
            <a:avLst/>
          </a:prstGeom>
          <a:solidFill>
            <a:srgbClr val="E6F1F1"/>
          </a:solidFill>
          <a:ln w="1524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1993392"/>
            <a:ext cx="10241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0E7C86"/>
                </a:solidFill>
                <a:latin typeface="Liberation Mono"/>
              </a:rPr>
              <a:t>IF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9584" y="2770632"/>
            <a:ext cx="15727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9A3548"/>
                </a:solidFill>
                <a:latin typeface="Liberation Sans"/>
              </a:rPr>
              <a:t>consumes flag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809744" y="2084831"/>
            <a:ext cx="1005840" cy="36577"/>
          </a:xfrm>
          <a:prstGeom prst="line">
            <a:avLst/>
          </a:prstGeom>
          <a:ln w="190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809744" y="2386584"/>
            <a:ext cx="1005840" cy="841248"/>
          </a:xfrm>
          <a:prstGeom prst="line">
            <a:avLst/>
          </a:prstGeom>
          <a:ln w="190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138928" y="1892807"/>
            <a:ext cx="53035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E7C86"/>
                </a:solidFill>
                <a:latin typeface="Liberation Sans"/>
              </a:rPr>
              <a:t>true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3063240"/>
            <a:ext cx="566928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E7C86"/>
                </a:solidFill>
                <a:latin typeface="Liberation Sans"/>
              </a:rPr>
              <a:t>false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15584" y="1764792"/>
            <a:ext cx="2852928" cy="969264"/>
          </a:xfrm>
          <a:prstGeom prst="roundRect">
            <a:avLst/>
          </a:prstGeom>
          <a:solidFill>
            <a:srgbClr val="E6F1F1"/>
          </a:solidFill>
          <a:ln w="1270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98464" y="1929384"/>
            <a:ext cx="2487168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0E7C86"/>
                </a:solidFill>
                <a:latin typeface="Liberation Mono"/>
              </a:rPr>
              <a:t>NEGATE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98464" y="2304288"/>
            <a:ext cx="2487168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12304A"/>
                </a:solidFill>
                <a:latin typeface="Liberation Mono"/>
              </a:rPr>
              <a:t>( n -- n 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15584" y="2926080"/>
            <a:ext cx="2852928" cy="969264"/>
          </a:xfrm>
          <a:prstGeom prst="roundRect">
            <a:avLst/>
          </a:prstGeom>
          <a:solidFill>
            <a:srgbClr val="E8F0F5"/>
          </a:solidFill>
          <a:ln w="12700">
            <a:solidFill>
              <a:srgbClr val="2D66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98464" y="3090672"/>
            <a:ext cx="2487168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2D6684"/>
                </a:solidFill>
                <a:latin typeface="Liberation Mono"/>
              </a:rPr>
              <a:t>1+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98464" y="3465576"/>
            <a:ext cx="2487168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12304A"/>
                </a:solidFill>
                <a:latin typeface="Liberation Mono"/>
              </a:rPr>
              <a:t>( n -- n )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668512" y="2249424"/>
            <a:ext cx="704088" cy="292608"/>
          </a:xfrm>
          <a:prstGeom prst="line">
            <a:avLst/>
          </a:prstGeom>
          <a:ln w="190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8668512" y="2743200"/>
            <a:ext cx="704088" cy="667512"/>
          </a:xfrm>
          <a:prstGeom prst="line">
            <a:avLst/>
          </a:prstGeom>
          <a:ln w="190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281160" y="2441448"/>
            <a:ext cx="1627632" cy="329184"/>
          </a:xfrm>
          <a:prstGeom prst="roundRect">
            <a:avLst/>
          </a:prstGeom>
          <a:solidFill>
            <a:srgbClr val="12304A"/>
          </a:solidFill>
          <a:ln>
            <a:solidFill>
              <a:srgbClr val="123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81160" y="2441448"/>
            <a:ext cx="1627632" cy="329184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Liberation Sans"/>
              </a:rPr>
              <a:t>COMMON EFFECT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64992" y="4407408"/>
            <a:ext cx="5468112" cy="594360"/>
          </a:xfrm>
          <a:prstGeom prst="roundRect">
            <a:avLst/>
          </a:prstGeom>
          <a:solidFill>
            <a:srgbClr val="E7F0EB"/>
          </a:solidFill>
          <a:ln w="10160">
            <a:solidFill>
              <a:srgbClr val="3D7C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38144" y="4443984"/>
            <a:ext cx="5321808" cy="521208"/>
          </a:xfrm>
          <a:prstGeom prst="rect">
            <a:avLst/>
          </a:prstGeom>
          <a:noFill/>
        </p:spPr>
        <p:txBody>
          <a:bodyPr wrap="square" lIns="128016" rIns="128016" tIns="128016" bIns="12801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12304A"/>
                </a:solidFill>
                <a:latin typeface="Liberation Mono"/>
              </a:rPr>
              <a:t>FUN  ( n flag -- n 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7552" y="5212080"/>
            <a:ext cx="10195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27343C"/>
                </a:solidFill>
                <a:latin typeface="Liberation Sans"/>
              </a:rPr>
              <a:t>Inputs keep the common subtype; outputs keep the common supertype.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6928" y="5715000"/>
            <a:ext cx="11055096" cy="530352"/>
          </a:xfrm>
          <a:prstGeom prst="roundRect">
            <a:avLst/>
          </a:prstGeom>
          <a:solidFill>
            <a:srgbClr val="E6F1F1"/>
          </a:solidFill>
          <a:ln w="10160">
            <a:solidFill>
              <a:srgbClr val="58A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9808" y="5733288"/>
            <a:ext cx="10689336" cy="4846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50" b="1" i="0">
                <a:solidFill>
                  <a:srgbClr val="12304A"/>
                </a:solidFill>
                <a:latin typeface="Liberation Sans"/>
              </a:rPr>
              <a:t>Only identities guaranteed by both paths survive; path alternatives are not stored.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30352" y="228600"/>
            <a:ext cx="11128248" cy="0"/>
          </a:xfrm>
          <a:prstGeom prst="line">
            <a:avLst/>
          </a:prstGeom>
          <a:ln w="2286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30352" y="347472"/>
            <a:ext cx="3200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9A3548"/>
                </a:solidFill>
                <a:latin typeface="Liberation Sans"/>
              </a:rPr>
              <a:t>CONTROL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521207"/>
            <a:ext cx="10561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2304A"/>
                </a:solidFill>
                <a:latin typeface="Liberation Sans"/>
              </a:rPr>
              <a:t>Loops receive a local stability check—not an invariant proof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42976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9A3548"/>
                </a:solidFill>
                <a:latin typeface="Liberation Mono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83680"/>
            <a:ext cx="3657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5E6B73"/>
                </a:solidFill>
                <a:latin typeface="Liberation Sans"/>
              </a:rPr>
              <a:t>STATIC TYPE CHECKING FOR FORTH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65392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 i="0">
                <a:solidFill>
                  <a:srgbClr val="5E6B73"/>
                </a:solidFill>
                <a:latin typeface="Liberation Sans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57400" y="1051560"/>
            <a:ext cx="8065008" cy="585216"/>
          </a:xfrm>
          <a:prstGeom prst="roundRect">
            <a:avLst/>
          </a:prstGeom>
          <a:solidFill>
            <a:srgbClr val="ECEAE4"/>
          </a:solidFill>
          <a:ln w="10160">
            <a:solidFill>
              <a:srgbClr val="D8D8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30552" y="1088136"/>
            <a:ext cx="7918704" cy="512064"/>
          </a:xfrm>
          <a:prstGeom prst="rect">
            <a:avLst/>
          </a:prstGeom>
          <a:noFill/>
        </p:spPr>
        <p:txBody>
          <a:bodyPr wrap="square" lIns="128016" rIns="128016" tIns="128016" bIns="12801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12304A"/>
                </a:solidFill>
                <a:latin typeface="Liberation Mono"/>
              </a:rPr>
              <a:t>: ULOOP   BEGIN DUP 0= UNTIL   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1645920"/>
            <a:ext cx="63276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E6B73"/>
                </a:solidFill>
                <a:latin typeface="Liberation Mono"/>
              </a:rPr>
              <a:t>illustrative profile:  0= ( n -- flag )   ·   UNTIL ( flag -- 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" y="1874519"/>
            <a:ext cx="6711696" cy="3456432"/>
          </a:xfrm>
          <a:prstGeom prst="roundRect">
            <a:avLst/>
          </a:prstGeom>
          <a:solidFill>
            <a:srgbClr val="E6F1F1"/>
          </a:solidFill>
          <a:ln w="1270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139696"/>
            <a:ext cx="6217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7C86"/>
                </a:solidFill>
                <a:latin typeface="Liberation Sans"/>
              </a:rPr>
              <a:t>IMPLEMENTED ONE-VERSUS-TWO TEST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87552" y="2651760"/>
            <a:ext cx="5980176" cy="493776"/>
          </a:xfrm>
          <a:prstGeom prst="roundRect">
            <a:avLst/>
          </a:prstGeom>
          <a:solidFill>
            <a:srgbClr val="FFFDFC"/>
          </a:solidFill>
          <a:ln w="10160">
            <a:solidFill>
              <a:srgbClr val="58A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0704" y="2688336"/>
            <a:ext cx="5833872" cy="420624"/>
          </a:xfrm>
          <a:prstGeom prst="rect">
            <a:avLst/>
          </a:prstGeom>
          <a:noFill/>
        </p:spPr>
        <p:txBody>
          <a:bodyPr wrap="square" lIns="128016" rIns="128016" tIns="128016" bIns="12801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2304A"/>
                </a:solidFill>
                <a:latin typeface="Liberation Mono"/>
              </a:rPr>
              <a:t>p  =  DUP 0= UNTIL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87552" y="3429000"/>
            <a:ext cx="1956816" cy="822960"/>
          </a:xfrm>
          <a:prstGeom prst="roundRect">
            <a:avLst/>
          </a:prstGeom>
          <a:solidFill>
            <a:srgbClr val="E8F0F5"/>
          </a:solidFill>
          <a:ln w="12700">
            <a:solidFill>
              <a:srgbClr val="2D66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3575304"/>
            <a:ext cx="1956816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2D6684"/>
                </a:solidFill>
                <a:latin typeface="Liberation Mono"/>
              </a:rPr>
              <a:t>one pass
p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962656" y="3840480"/>
            <a:ext cx="694944" cy="0"/>
          </a:xfrm>
          <a:prstGeom prst="line">
            <a:avLst/>
          </a:prstGeom>
          <a:ln w="19050">
            <a:solidFill>
              <a:srgbClr val="D8D8D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3675887" y="3429000"/>
            <a:ext cx="1956816" cy="822960"/>
          </a:xfrm>
          <a:prstGeom prst="roundRect">
            <a:avLst/>
          </a:prstGeom>
          <a:solidFill>
            <a:srgbClr val="F7ECE1"/>
          </a:solidFill>
          <a:ln w="12700">
            <a:solidFill>
              <a:srgbClr val="C46A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75887" y="3575304"/>
            <a:ext cx="1956816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C46A2B"/>
                </a:solidFill>
                <a:latin typeface="Liberation Mono"/>
              </a:rPr>
              <a:t>two passes
p · p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650992" y="3840480"/>
            <a:ext cx="493776" cy="0"/>
          </a:xfrm>
          <a:prstGeom prst="line">
            <a:avLst/>
          </a:prstGeom>
          <a:ln w="19050">
            <a:solidFill>
              <a:srgbClr val="D8D8D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263640" y="3639312"/>
            <a:ext cx="475488" cy="365760"/>
          </a:xfrm>
          <a:prstGeom prst="roundRect">
            <a:avLst/>
          </a:prstGeom>
          <a:solidFill>
            <a:srgbClr val="12304A"/>
          </a:solidFill>
          <a:ln>
            <a:solidFill>
              <a:srgbClr val="123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640" y="3639312"/>
            <a:ext cx="475488" cy="36576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Liberation Sans"/>
              </a:rPr>
              <a:t>⊓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417320" y="4535424"/>
            <a:ext cx="5157216" cy="512064"/>
          </a:xfrm>
          <a:prstGeom prst="roundRect">
            <a:avLst/>
          </a:prstGeom>
          <a:solidFill>
            <a:srgbClr val="E7F0EB"/>
          </a:solidFill>
          <a:ln w="10160">
            <a:solidFill>
              <a:srgbClr val="3D7C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90472" y="4572000"/>
            <a:ext cx="5010912" cy="438912"/>
          </a:xfrm>
          <a:prstGeom prst="rect">
            <a:avLst/>
          </a:prstGeom>
          <a:noFill/>
        </p:spPr>
        <p:txBody>
          <a:bodyPr wrap="square" lIns="128016" rIns="128016" tIns="128016" bIns="12801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2304A"/>
                </a:solidFill>
                <a:latin typeface="Liberation Mono"/>
              </a:rPr>
              <a:t>ULOOP  ( n[1] -- n[1] 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07808" y="1874519"/>
            <a:ext cx="3977639" cy="3456432"/>
          </a:xfrm>
          <a:prstGeom prst="roundRect">
            <a:avLst/>
          </a:prstGeom>
          <a:solidFill>
            <a:srgbClr val="F7ECE1"/>
          </a:solidFill>
          <a:ln w="12700">
            <a:solidFill>
              <a:srgbClr val="C46A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82127" y="2139696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46A2B"/>
                </a:solidFill>
                <a:latin typeface="Liberation Sans"/>
              </a:rPr>
              <a:t>WHAT THIS RESULT SAYS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82127" y="2688336"/>
            <a:ext cx="3337560" cy="214884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lnSpc>
                <a:spcPct val="100000"/>
              </a:lnSpc>
              <a:spcAft>
                <a:spcPts val="800"/>
              </a:spcAft>
            </a:pPr>
            <a:r>
              <a:rPr sz="1320" b="1">
                <a:solidFill>
                  <a:srgbClr val="C46A2B"/>
                </a:solidFill>
                <a:latin typeface="Liberation Sans"/>
              </a:rPr>
              <a:t>• </a:t>
            </a:r>
            <a:r>
              <a:rPr sz="1320" b="1">
                <a:solidFill>
                  <a:srgbClr val="27343C"/>
                </a:solidFill>
                <a:latin typeface="Liberation Sans"/>
              </a:rPr>
              <a:t>Useful: </a:t>
            </a:r>
            <a:r>
              <a:rPr sz="1320">
                <a:solidFill>
                  <a:srgbClr val="27343C"/>
                </a:solidFill>
                <a:latin typeface="Liberation Sans"/>
              </a:rPr>
              <a:t>detects many bodies that grow, shrink, or change incompatibly on a second pass.</a:t>
            </a:r>
          </a:p>
          <a:p>
            <a:pPr>
              <a:lnSpc>
                <a:spcPct val="100000"/>
              </a:lnSpc>
              <a:spcAft>
                <a:spcPts val="800"/>
              </a:spcAft>
            </a:pPr>
            <a:r>
              <a:rPr sz="1320" b="1">
                <a:solidFill>
                  <a:srgbClr val="C46A2B"/>
                </a:solidFill>
                <a:latin typeface="Liberation Sans"/>
              </a:rPr>
              <a:t>• </a:t>
            </a:r>
            <a:r>
              <a:rPr sz="1320" b="1">
                <a:solidFill>
                  <a:srgbClr val="27343C"/>
                </a:solidFill>
                <a:latin typeface="Liberation Sans"/>
              </a:rPr>
              <a:t>Local only: </a:t>
            </a:r>
            <a:r>
              <a:rPr sz="1320">
                <a:solidFill>
                  <a:srgbClr val="27343C"/>
                </a:solidFill>
                <a:latin typeface="Liberation Sans"/>
              </a:rPr>
              <a:t>the duplicated copy feeds 0= and UNTIL; the original n remains.</a:t>
            </a:r>
          </a:p>
          <a:p>
            <a:pPr>
              <a:lnSpc>
                <a:spcPct val="100000"/>
              </a:lnSpc>
              <a:spcAft>
                <a:spcPts val="800"/>
              </a:spcAft>
            </a:pPr>
            <a:r>
              <a:rPr sz="1320" b="1">
                <a:solidFill>
                  <a:srgbClr val="C46A2B"/>
                </a:solidFill>
                <a:latin typeface="Liberation Sans"/>
              </a:rPr>
              <a:t>• </a:t>
            </a:r>
            <a:r>
              <a:rPr sz="1320" b="1">
                <a:solidFill>
                  <a:srgbClr val="27343C"/>
                </a:solidFill>
                <a:latin typeface="Liberation Sans"/>
              </a:rPr>
              <a:t>Not proved: </a:t>
            </a:r>
            <a:r>
              <a:rPr sz="1320">
                <a:solidFill>
                  <a:srgbClr val="27343C"/>
                </a:solidFill>
                <a:latin typeface="Liberation Sans"/>
              </a:rPr>
              <a:t>termination, every iteration count, or a general inductive loop invariant.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669280"/>
            <a:ext cx="11055096" cy="530352"/>
          </a:xfrm>
          <a:prstGeom prst="roundRect">
            <a:avLst/>
          </a:prstGeom>
          <a:solidFill>
            <a:srgbClr val="F7ECE1"/>
          </a:solidFill>
          <a:ln w="10160">
            <a:solidFill>
              <a:srgbClr val="C46A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687568"/>
            <a:ext cx="10689336" cy="4846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C46A2B"/>
                </a:solidFill>
                <a:latin typeface="Liberation Sans"/>
              </a:rPr>
              <a:t>Treat the reported loop effect as a finite stack-stability approximation, not as full loop verification.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30352" y="228600"/>
            <a:ext cx="11128248" cy="0"/>
          </a:xfrm>
          <a:prstGeom prst="line">
            <a:avLst/>
          </a:prstGeom>
          <a:ln w="2286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30352" y="347472"/>
            <a:ext cx="3200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9A3548"/>
                </a:solidFill>
                <a:latin typeface="Liberation Sans"/>
              </a:rPr>
              <a:t>SPECIFICATION INTERFACE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521207"/>
            <a:ext cx="10561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2304A"/>
                </a:solidFill>
                <a:latin typeface="Liberation Sans"/>
              </a:rPr>
              <a:t>Forth source behavior is part of the specification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42976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9A3548"/>
                </a:solidFill>
                <a:latin typeface="Liberation Mono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83680"/>
            <a:ext cx="3657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5E6B73"/>
                </a:solidFill>
                <a:latin typeface="Liberation Sans"/>
              </a:rPr>
              <a:t>STATIC TYPE CHECKING FOR FORTH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65392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 i="0">
                <a:solidFill>
                  <a:srgbClr val="5E6B73"/>
                </a:solidFill>
                <a:latin typeface="Liberation Sans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152144"/>
            <a:ext cx="5431536" cy="4443984"/>
          </a:xfrm>
          <a:prstGeom prst="roundRect">
            <a:avLst/>
          </a:prstGeom>
          <a:solidFill>
            <a:srgbClr val="E8F0F5"/>
          </a:solidFill>
          <a:ln w="12700">
            <a:solidFill>
              <a:srgbClr val="2D66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41732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D6684"/>
                </a:solidFill>
                <a:latin typeface="Liberation Sans"/>
              </a:rPr>
              <a:t>WORD ENTRIES COMBINE TWO KINDS OF INFORMATION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9536" y="1920240"/>
            <a:ext cx="4892040" cy="1847088"/>
          </a:xfrm>
          <a:prstGeom prst="roundRect">
            <a:avLst/>
          </a:prstGeom>
          <a:solidFill>
            <a:srgbClr val="FFFDFC"/>
          </a:solidFill>
          <a:ln w="10160">
            <a:solidFill>
              <a:srgbClr val="2D66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1956816"/>
            <a:ext cx="4745736" cy="1773936"/>
          </a:xfrm>
          <a:prstGeom prst="rect">
            <a:avLst/>
          </a:prstGeom>
          <a:noFill/>
        </p:spPr>
        <p:txBody>
          <a:bodyPr wrap="square" lIns="128016" rIns="128016" tIns="128016" bIns="128016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1" i="0">
                <a:solidFill>
                  <a:srgbClr val="12304A"/>
                </a:solidFill>
                <a:latin typeface="Liberation Mono"/>
              </a:rPr>
              <a:t>"("  parse until ")"        ( -- )
:    parse word define colon  ( -- )
;    control end              ( -- )
literal integer               ( -- n 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087368"/>
            <a:ext cx="10241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D6684"/>
                </a:solidFill>
                <a:latin typeface="Liberation Sans"/>
              </a:rPr>
              <a:t>Metadata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01952" y="4059936"/>
            <a:ext cx="3675887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7343C"/>
                </a:solidFill>
                <a:latin typeface="Liberation Sans"/>
              </a:rPr>
              <a:t>says how the source reader consumes names, delimiters, and definition boundaries.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773168"/>
            <a:ext cx="135331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9A3548"/>
                </a:solidFill>
                <a:latin typeface="Liberation Sans"/>
              </a:rPr>
              <a:t>The ( -- ) part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31136" y="4736592"/>
            <a:ext cx="3346704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7343C"/>
                </a:solidFill>
                <a:latin typeface="Liberation Sans"/>
              </a:rPr>
              <a:t>is the modeled runtime data-stack effect; it does not mean that : or ; has no compile-time job.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152144"/>
            <a:ext cx="5376672" cy="4443984"/>
          </a:xfrm>
          <a:prstGeom prst="roundRect">
            <a:avLst/>
          </a:prstGeom>
          <a:solidFill>
            <a:srgbClr val="E6F1F1"/>
          </a:solidFill>
          <a:ln w="1270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83096" y="141732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E7C86"/>
                </a:solidFill>
                <a:latin typeface="Liberation Sans"/>
              </a:rPr>
              <a:t>CONTROL SYNTAX AND ITS EFFECT RECIPE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83096" y="1920240"/>
            <a:ext cx="4846320" cy="2322576"/>
          </a:xfrm>
          <a:prstGeom prst="roundRect">
            <a:avLst/>
          </a:prstGeom>
          <a:solidFill>
            <a:srgbClr val="FFFDFC"/>
          </a:solidFill>
          <a:ln w="1016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56248" y="1956816"/>
            <a:ext cx="4700016" cy="2249424"/>
          </a:xfrm>
          <a:prstGeom prst="rect">
            <a:avLst/>
          </a:prstGeom>
          <a:noFill/>
        </p:spPr>
        <p:txBody>
          <a:bodyPr wrap="square" lIns="128016" rIns="128016" tIns="128016" bIns="128016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2304A"/>
                </a:solidFill>
                <a:latin typeface="Liberation Mono"/>
              </a:rPr>
              <a:t>syntax:
  IF &lt;then branch&gt;
  [ELSE &lt;else branch&gt;] FI
effect:
  IF
  either &lt;then branch&gt; &lt;else branch&gt;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4553712"/>
            <a:ext cx="47091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27343C"/>
                </a:solidFill>
                <a:latin typeface="Liberation Sans"/>
              </a:rPr>
              <a:t>The syntax block captures source regions. The effect block combines their inferred summaries by sequencing, either, or repeat.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742432"/>
            <a:ext cx="11055096" cy="530352"/>
          </a:xfrm>
          <a:prstGeom prst="roundRect">
            <a:avLst/>
          </a:prstGeom>
          <a:solidFill>
            <a:srgbClr val="E6F1F1"/>
          </a:solidFill>
          <a:ln w="10160">
            <a:solidFill>
              <a:srgbClr val="58A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760720"/>
            <a:ext cx="10689336" cy="4846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50" b="1" i="0">
                <a:solidFill>
                  <a:srgbClr val="12304A"/>
                </a:solidFill>
                <a:latin typeface="Liberation Sans"/>
              </a:rPr>
              <a:t>Ordinary stack comments are consumed but not trusted; only a recognized locals declaration may provide a provisional shape.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30352" y="228600"/>
            <a:ext cx="11128248" cy="0"/>
          </a:xfrm>
          <a:prstGeom prst="line">
            <a:avLst/>
          </a:prstGeom>
          <a:ln w="2286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30352" y="347472"/>
            <a:ext cx="3200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9A3548"/>
                </a:solidFill>
                <a:latin typeface="Liberation Sans"/>
              </a:rPr>
              <a:t>WHAT THE PROJECT DEMONSTRATES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521207"/>
            <a:ext cx="10561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2304A"/>
                </a:solidFill>
                <a:latin typeface="Liberation Sans"/>
              </a:rPr>
              <a:t>Results in the supplied examples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42976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9A3548"/>
                </a:solidFill>
                <a:latin typeface="Liberation Mono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83680"/>
            <a:ext cx="3657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5E6B73"/>
                </a:solidFill>
                <a:latin typeface="Liberation Sans"/>
              </a:rPr>
              <a:t>STATIC TYPE CHECKING FOR FORTH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65392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 i="0">
                <a:solidFill>
                  <a:srgbClr val="5E6B73"/>
                </a:solidFill>
                <a:latin typeface="Liberation Sans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207008"/>
            <a:ext cx="3246120" cy="1993392"/>
          </a:xfrm>
          <a:prstGeom prst="roundRect">
            <a:avLst/>
          </a:prstGeom>
          <a:solidFill>
            <a:srgbClr val="E6F1F1"/>
          </a:solidFill>
          <a:ln w="1270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1371600"/>
            <a:ext cx="1353312" cy="274320"/>
          </a:xfrm>
          <a:prstGeom prst="roundRect">
            <a:avLst/>
          </a:prstGeom>
          <a:solidFill>
            <a:srgbClr val="0E7C86"/>
          </a:solidFill>
          <a:ln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371600"/>
            <a:ext cx="1353312" cy="27432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FFFFFF"/>
                </a:solidFill>
                <a:latin typeface="Liberation Sans"/>
              </a:rPr>
              <a:t>STRAIGHT 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1801368"/>
            <a:ext cx="2880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50" b="1" i="0">
                <a:solidFill>
                  <a:srgbClr val="12304A"/>
                </a:solidFill>
                <a:latin typeface="Liberation Mono"/>
              </a:rPr>
              <a:t>1 2 + DUP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176272"/>
            <a:ext cx="291693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E7C86"/>
                </a:solidFill>
                <a:latin typeface="Liberation Mono"/>
              </a:rPr>
              <a:t>( -- n[1] n[1] 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24328"/>
            <a:ext cx="28254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30" b="0" i="0">
                <a:solidFill>
                  <a:srgbClr val="27343C"/>
                </a:solidFill>
                <a:latin typeface="Liberation Sans"/>
              </a:rPr>
              <a:t>type propagation + correlated outputs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42232" y="1207008"/>
            <a:ext cx="3246120" cy="1993392"/>
          </a:xfrm>
          <a:prstGeom prst="roundRect">
            <a:avLst/>
          </a:prstGeom>
          <a:solidFill>
            <a:srgbClr val="E8F0F5"/>
          </a:solidFill>
          <a:ln w="12700">
            <a:solidFill>
              <a:srgbClr val="2D66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306824" y="1371600"/>
            <a:ext cx="1170432" cy="274320"/>
          </a:xfrm>
          <a:prstGeom prst="roundRect">
            <a:avLst/>
          </a:prstGeom>
          <a:solidFill>
            <a:srgbClr val="2D6684"/>
          </a:solidFill>
          <a:ln>
            <a:solidFill>
              <a:srgbClr val="2D66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06824" y="1371600"/>
            <a:ext cx="1170432" cy="27432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FFFFFF"/>
                </a:solidFill>
                <a:latin typeface="Liberation Sans"/>
              </a:rPr>
              <a:t>SUBTYPING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25112" y="1801368"/>
            <a:ext cx="2880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50" b="1" i="0">
                <a:solidFill>
                  <a:srgbClr val="12304A"/>
                </a:solidFill>
                <a:latin typeface="Liberation Mono"/>
              </a:rPr>
              <a:t>DP C@ 0=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06824" y="2176272"/>
            <a:ext cx="291693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2D6684"/>
                </a:solidFill>
                <a:latin typeface="Liberation Mono"/>
              </a:rPr>
              <a:t>( -- flag 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52544" y="2624328"/>
            <a:ext cx="28254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30" b="0" i="0">
                <a:solidFill>
                  <a:srgbClr val="27343C"/>
                </a:solidFill>
                <a:latin typeface="Liberation Sans"/>
              </a:rPr>
              <a:t>a-addr accepted where c-addr is required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17536" y="1207008"/>
            <a:ext cx="3246120" cy="1993392"/>
          </a:xfrm>
          <a:prstGeom prst="roundRect">
            <a:avLst/>
          </a:prstGeom>
          <a:solidFill>
            <a:srgbClr val="F7ECE1"/>
          </a:solidFill>
          <a:ln w="12700">
            <a:solidFill>
              <a:srgbClr val="C46A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882127" y="1371600"/>
            <a:ext cx="1170432" cy="274320"/>
          </a:xfrm>
          <a:prstGeom prst="roundRect">
            <a:avLst/>
          </a:prstGeom>
          <a:solidFill>
            <a:srgbClr val="C46A2B"/>
          </a:solidFill>
          <a:ln>
            <a:solidFill>
              <a:srgbClr val="C46A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82127" y="1371600"/>
            <a:ext cx="1170432" cy="27432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FFFFFF"/>
                </a:solidFill>
                <a:latin typeface="Liberation Sans"/>
              </a:rPr>
              <a:t>DEFINITION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00415" y="1801368"/>
            <a:ext cx="2880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50" b="1" i="0">
                <a:solidFill>
                  <a:srgbClr val="12304A"/>
                </a:solidFill>
                <a:latin typeface="Liberation Mono"/>
              </a:rPr>
              <a:t>PEEK2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82127" y="2176272"/>
            <a:ext cx="291693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30" b="1" i="0">
                <a:solidFill>
                  <a:srgbClr val="C46A2B"/>
                </a:solidFill>
                <a:latin typeface="Liberation Mono"/>
              </a:rPr>
              <a:t>( a-addr -- X X 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27848" y="2624328"/>
            <a:ext cx="28254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30" b="0" i="0">
                <a:solidFill>
                  <a:srgbClr val="27343C"/>
                </a:solidFill>
                <a:latin typeface="Liberation Sans"/>
              </a:rPr>
              <a:t>requirements inferred backward through shuffles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3502152"/>
            <a:ext cx="3246120" cy="1993392"/>
          </a:xfrm>
          <a:prstGeom prst="roundRect">
            <a:avLst/>
          </a:prstGeom>
          <a:solidFill>
            <a:srgbClr val="E7F0EB"/>
          </a:solidFill>
          <a:ln w="12700">
            <a:solidFill>
              <a:srgbClr val="3D7C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31520" y="3666744"/>
            <a:ext cx="1170432" cy="274320"/>
          </a:xfrm>
          <a:prstGeom prst="roundRect">
            <a:avLst/>
          </a:prstGeom>
          <a:solidFill>
            <a:srgbClr val="3D7C62"/>
          </a:solidFill>
          <a:ln>
            <a:solidFill>
              <a:srgbClr val="3D7C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3666744"/>
            <a:ext cx="1170432" cy="27432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FFFFFF"/>
                </a:solidFill>
                <a:latin typeface="Liberation Sans"/>
              </a:rPr>
              <a:t>BRANCH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8" y="4096512"/>
            <a:ext cx="2880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50" b="1" i="0">
                <a:solidFill>
                  <a:srgbClr val="12304A"/>
                </a:solidFill>
                <a:latin typeface="Liberation Mono"/>
              </a:rPr>
              <a:t>FUN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471416"/>
            <a:ext cx="291693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3D7C62"/>
                </a:solidFill>
                <a:latin typeface="Liberation Mono"/>
              </a:rPr>
              <a:t>( n flag -- n 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919472"/>
            <a:ext cx="28254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30" b="0" i="0">
                <a:solidFill>
                  <a:srgbClr val="27343C"/>
                </a:solidFill>
                <a:latin typeface="Liberation Sans"/>
              </a:rPr>
              <a:t>different paths, one numeric interface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142232" y="3502152"/>
            <a:ext cx="3246120" cy="1993392"/>
          </a:xfrm>
          <a:prstGeom prst="roundRect">
            <a:avLst/>
          </a:prstGeom>
          <a:solidFill>
            <a:srgbClr val="E6F1F1"/>
          </a:solidFill>
          <a:ln w="1270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306824" y="3666744"/>
            <a:ext cx="1170432" cy="274320"/>
          </a:xfrm>
          <a:prstGeom prst="roundRect">
            <a:avLst/>
          </a:prstGeom>
          <a:solidFill>
            <a:srgbClr val="0E7C86"/>
          </a:solidFill>
          <a:ln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06824" y="3666744"/>
            <a:ext cx="1170432" cy="27432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FFFFFF"/>
                </a:solidFill>
                <a:latin typeface="Liberation Sans"/>
              </a:rPr>
              <a:t>LOOP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25112" y="4096512"/>
            <a:ext cx="2880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50" b="1" i="0">
                <a:solidFill>
                  <a:srgbClr val="12304A"/>
                </a:solidFill>
                <a:latin typeface="Liberation Mono"/>
              </a:rPr>
              <a:t>ULOOP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06824" y="4471416"/>
            <a:ext cx="291693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E7C86"/>
                </a:solidFill>
                <a:latin typeface="Liberation Mono"/>
              </a:rPr>
              <a:t>( n[1] -- n[1] 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52544" y="4919472"/>
            <a:ext cx="28254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30" b="0" i="0">
                <a:solidFill>
                  <a:srgbClr val="27343C"/>
                </a:solidFill>
                <a:latin typeface="Liberation Sans"/>
              </a:rPr>
              <a:t>passes the local one-versus-two test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17536" y="3502152"/>
            <a:ext cx="3246120" cy="1993392"/>
          </a:xfrm>
          <a:prstGeom prst="roundRect">
            <a:avLst/>
          </a:prstGeom>
          <a:solidFill>
            <a:srgbClr val="F5E7E8"/>
          </a:solidFill>
          <a:ln w="12700">
            <a:solidFill>
              <a:srgbClr val="9A35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882127" y="3666744"/>
            <a:ext cx="1353312" cy="274320"/>
          </a:xfrm>
          <a:prstGeom prst="roundRect">
            <a:avLst/>
          </a:prstGeom>
          <a:solidFill>
            <a:srgbClr val="9A3548"/>
          </a:solidFill>
          <a:ln>
            <a:solidFill>
              <a:srgbClr val="9A35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82127" y="3666744"/>
            <a:ext cx="1353312" cy="274320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FFFFFF"/>
                </a:solidFill>
                <a:latin typeface="Liberation Sans"/>
              </a:rPr>
              <a:t>DIAGNOSTIC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900415" y="4096512"/>
            <a:ext cx="2880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50" b="1" i="0">
                <a:solidFill>
                  <a:srgbClr val="12304A"/>
                </a:solidFill>
                <a:latin typeface="Liberation Mono"/>
              </a:rPr>
              <a:t>C@ !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882127" y="4471416"/>
            <a:ext cx="291693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9A3548"/>
                </a:solidFill>
                <a:latin typeface="Liberation Mono"/>
              </a:rPr>
              <a:t>char  ×  a-addr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27848" y="4919472"/>
            <a:ext cx="28254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30" b="0" i="0">
                <a:solidFill>
                  <a:srgbClr val="27343C"/>
                </a:solidFill>
                <a:latin typeface="Liberation Sans"/>
              </a:rPr>
              <a:t>incompatible boundary reported at source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66928" y="5806440"/>
            <a:ext cx="11055096" cy="530352"/>
          </a:xfrm>
          <a:prstGeom prst="roundRect">
            <a:avLst/>
          </a:prstGeom>
          <a:solidFill>
            <a:srgbClr val="E6F1F1"/>
          </a:solidFill>
          <a:ln w="10160">
            <a:solidFill>
              <a:srgbClr val="58A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9808" y="5824727"/>
            <a:ext cx="10689336" cy="4846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50" b="1" i="0">
                <a:solidFill>
                  <a:srgbClr val="12304A"/>
                </a:solidFill>
                <a:latin typeface="Liberation Sans"/>
              </a:rPr>
              <a:t>Together these cases show stack shape, subtype boundaries, identity flow, inferred definitions, structured control, and source diagnostics.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30352" y="228600"/>
            <a:ext cx="11128248" cy="0"/>
          </a:xfrm>
          <a:prstGeom prst="line">
            <a:avLst/>
          </a:prstGeom>
          <a:ln w="2286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30352" y="347472"/>
            <a:ext cx="3200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9A3548"/>
                </a:solidFill>
                <a:latin typeface="Liberation Sans"/>
              </a:rPr>
              <a:t>SCOPE AND TRUST BOUNDARY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521207"/>
            <a:ext cx="10561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2304A"/>
                </a:solidFill>
                <a:latin typeface="Liberation Sans"/>
              </a:rPr>
              <a:t>What acceptance means—and what it does not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42976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9A3548"/>
                </a:solidFill>
                <a:latin typeface="Liberation Mono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83680"/>
            <a:ext cx="3657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5E6B73"/>
                </a:solidFill>
                <a:latin typeface="Liberation Sans"/>
              </a:rPr>
              <a:t>STATIC TYPE CHECKING FOR FORTH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65392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 i="0">
                <a:solidFill>
                  <a:srgbClr val="5E6B73"/>
                </a:solidFill>
                <a:latin typeface="Liberation Sans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" y="1170432"/>
            <a:ext cx="5349240" cy="4297680"/>
          </a:xfrm>
          <a:prstGeom prst="roundRect">
            <a:avLst/>
          </a:prstGeom>
          <a:solidFill>
            <a:srgbClr val="E7F0EB"/>
          </a:solidFill>
          <a:ln w="12700">
            <a:solidFill>
              <a:srgbClr val="3D7C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481328"/>
            <a:ext cx="4800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3D7C62"/>
                </a:solidFill>
                <a:latin typeface="Liberation Sans"/>
              </a:rPr>
              <a:t>ACCEPTANCE SUPPORTS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1993392"/>
            <a:ext cx="4718304" cy="2514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420" b="1">
                <a:solidFill>
                  <a:srgbClr val="3D7C62"/>
                </a:solidFill>
                <a:latin typeface="Liberation Sans"/>
              </a:rPr>
              <a:t>• </a:t>
            </a:r>
            <a:r>
              <a:rPr sz="1420">
                <a:solidFill>
                  <a:srgbClr val="27343C"/>
                </a:solidFill>
                <a:latin typeface="Liberation Sans"/>
              </a:rPr>
              <a:t>Declared word effects compose without a modeled clash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420" b="1">
                <a:solidFill>
                  <a:srgbClr val="3D7C62"/>
                </a:solidFill>
                <a:latin typeface="Liberation Sans"/>
              </a:rPr>
              <a:t>• </a:t>
            </a:r>
            <a:r>
              <a:rPr sz="1420">
                <a:solidFill>
                  <a:srgbClr val="27343C"/>
                </a:solidFill>
                <a:latin typeface="Liberation Sans"/>
              </a:rPr>
              <a:t>Every checked branch receives one implemented common effect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420" b="1">
                <a:solidFill>
                  <a:srgbClr val="3D7C62"/>
                </a:solidFill>
                <a:latin typeface="Liberation Sans"/>
              </a:rPr>
              <a:t>• </a:t>
            </a:r>
            <a:r>
              <a:rPr sz="1420">
                <a:solidFill>
                  <a:srgbClr val="27343C"/>
                </a:solidFill>
                <a:latin typeface="Liberation Sans"/>
              </a:rPr>
              <a:t>Every checked loop passes the local one-versus-two test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420" b="1">
                <a:solidFill>
                  <a:srgbClr val="3D7C62"/>
                </a:solidFill>
                <a:latin typeface="Liberation Sans"/>
              </a:rPr>
              <a:t>• </a:t>
            </a:r>
            <a:r>
              <a:rPr sz="1420">
                <a:solidFill>
                  <a:srgbClr val="27343C"/>
                </a:solidFill>
                <a:latin typeface="Liberation Sans"/>
              </a:rPr>
              <a:t>Source structure, parser roles, and compilation state fit the active profile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18888"/>
            <a:ext cx="468172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3D7C62"/>
                </a:solidFill>
                <a:latin typeface="Liberation Sans"/>
              </a:rPr>
              <a:t>Useful as executable stack-effect documentation.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170432"/>
            <a:ext cx="5349240" cy="4297680"/>
          </a:xfrm>
          <a:prstGeom prst="roundRect">
            <a:avLst/>
          </a:prstGeom>
          <a:solidFill>
            <a:srgbClr val="F5E7E8"/>
          </a:solidFill>
          <a:ln w="12700">
            <a:solidFill>
              <a:srgbClr val="9A35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0528" y="1481328"/>
            <a:ext cx="4800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9A3548"/>
                </a:solidFill>
                <a:latin typeface="Liberation Sans"/>
              </a:rPr>
              <a:t>ACCEPTANCE DOES NOT PROVE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28816" y="1993392"/>
            <a:ext cx="4718304" cy="2514600"/>
          </a:xfrm>
          <a:prstGeom prst="rect">
            <a:avLst/>
          </a:prstGeom>
          <a:noFill/>
        </p:spPr>
        <p:txBody>
          <a:bodyPr wrap="square" lIns="18288" rIns="18288" tIns="0" bIns="0">
            <a:spAutoFit/>
          </a:bodyPr>
          <a:lstStyle/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420" b="1">
                <a:solidFill>
                  <a:srgbClr val="9A3548"/>
                </a:solidFill>
                <a:latin typeface="Liberation Sans"/>
              </a:rPr>
              <a:t>• </a:t>
            </a:r>
            <a:r>
              <a:rPr sz="1420">
                <a:solidFill>
                  <a:srgbClr val="27343C"/>
                </a:solidFill>
                <a:latin typeface="Liberation Sans"/>
              </a:rPr>
              <a:t>That trusted primitive and parser declarations match runtime behavior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420" b="1">
                <a:solidFill>
                  <a:srgbClr val="9A3548"/>
                </a:solidFill>
                <a:latin typeface="Liberation Sans"/>
              </a:rPr>
              <a:t>• </a:t>
            </a:r>
            <a:r>
              <a:rPr sz="1420">
                <a:solidFill>
                  <a:srgbClr val="27343C"/>
                </a:solidFill>
                <a:latin typeface="Liberation Sans"/>
              </a:rPr>
              <a:t>A path-sensitive set of every branch behavior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420" b="1">
                <a:solidFill>
                  <a:srgbClr val="9A3548"/>
                </a:solidFill>
                <a:latin typeface="Liberation Sans"/>
              </a:rPr>
              <a:t>• </a:t>
            </a:r>
            <a:r>
              <a:rPr sz="1420">
                <a:solidFill>
                  <a:srgbClr val="27343C"/>
                </a:solidFill>
                <a:latin typeface="Liberation Sans"/>
              </a:rPr>
              <a:t>Termination or an inductive invariant for arbitrary loop counts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420" b="1">
                <a:solidFill>
                  <a:srgbClr val="9A3548"/>
                </a:solidFill>
                <a:latin typeface="Liberation Sans"/>
              </a:rPr>
              <a:t>• </a:t>
            </a:r>
            <a:r>
              <a:rPr sz="1420">
                <a:solidFill>
                  <a:srgbClr val="27343C"/>
                </a:solidFill>
                <a:latin typeface="Liberation Sans"/>
              </a:rPr>
              <a:t>Unrestricted EXECUTE, return-stack tricks, non-local THROW, or metaprogramming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4818888"/>
            <a:ext cx="46634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9A3548"/>
                </a:solidFill>
                <a:latin typeface="Liberation Sans"/>
              </a:rPr>
              <a:t>Use alongside tests, review, and target-system knowledge.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724144"/>
            <a:ext cx="11055096" cy="530352"/>
          </a:xfrm>
          <a:prstGeom prst="roundRect">
            <a:avLst/>
          </a:prstGeom>
          <a:solidFill>
            <a:srgbClr val="F7ECE1"/>
          </a:solidFill>
          <a:ln w="10160">
            <a:solidFill>
              <a:srgbClr val="C46A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5742431"/>
            <a:ext cx="10689336" cy="4846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20" b="1" i="0">
                <a:solidFill>
                  <a:srgbClr val="C46A2B"/>
                </a:solidFill>
                <a:latin typeface="Liberation Sans"/>
              </a:rPr>
              <a:t>Known limits include lossy identity compaction, one effect per primitive, and the one-versus-two loop approximation.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30352" y="228600"/>
            <a:ext cx="11128248" cy="0"/>
          </a:xfrm>
          <a:prstGeom prst="line">
            <a:avLst/>
          </a:prstGeom>
          <a:ln w="2286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30352" y="347472"/>
            <a:ext cx="3200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9A3548"/>
                </a:solidFill>
                <a:latin typeface="Liberation Sans"/>
              </a:rPr>
              <a:t>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521207"/>
            <a:ext cx="10561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2304A"/>
                </a:solidFill>
                <a:latin typeface="Liberation Sans"/>
              </a:rPr>
              <a:t>Summary: from comments to checkable stack discipline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42976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9A3548"/>
                </a:solidFill>
                <a:latin typeface="Liberation Mono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83680"/>
            <a:ext cx="3657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5E6B73"/>
                </a:solidFill>
                <a:latin typeface="Liberation Sans"/>
              </a:rPr>
              <a:t>STATIC TYPE CHECKING FOR FORTH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565392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1" i="0">
                <a:solidFill>
                  <a:srgbClr val="5E6B73"/>
                </a:solidFill>
                <a:latin typeface="Liberation Sans"/>
              </a:rP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0120" y="1115568"/>
            <a:ext cx="10268712" cy="658368"/>
          </a:xfrm>
          <a:prstGeom prst="roundRect">
            <a:avLst/>
          </a:prstGeom>
          <a:solidFill>
            <a:srgbClr val="E8F0F5"/>
          </a:solidFill>
          <a:ln w="10160">
            <a:solidFill>
              <a:srgbClr val="2D66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1152144"/>
            <a:ext cx="10122408" cy="585216"/>
          </a:xfrm>
          <a:prstGeom prst="rect">
            <a:avLst/>
          </a:prstGeom>
          <a:noFill/>
        </p:spPr>
        <p:txBody>
          <a:bodyPr wrap="square" lIns="128016" rIns="128016" tIns="128016" bIns="12801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12304A"/>
                </a:solidFill>
                <a:latin typeface="Liberation Mono"/>
              </a:rPr>
              <a:t>types  +  specifications  +  source   →   inferred effects or diagnostics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0120" y="2011680"/>
            <a:ext cx="10268712" cy="694944"/>
          </a:xfrm>
          <a:prstGeom prst="roundRect">
            <a:avLst/>
          </a:prstGeom>
          <a:solidFill>
            <a:srgbClr val="E6F1F1"/>
          </a:solidFill>
          <a:ln w="1270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2185416"/>
            <a:ext cx="384048" cy="329184"/>
          </a:xfrm>
          <a:prstGeom prst="roundRect">
            <a:avLst/>
          </a:prstGeom>
          <a:solidFill>
            <a:srgbClr val="0E7C86"/>
          </a:solidFill>
          <a:ln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2185416"/>
            <a:ext cx="384048" cy="329184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Liberation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19072" y="2176272"/>
            <a:ext cx="245059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2304A"/>
                </a:solidFill>
                <a:latin typeface="Liberation Sans"/>
              </a:rPr>
              <a:t>Familiar notation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2130552"/>
            <a:ext cx="65836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10" b="0" i="0">
                <a:solidFill>
                  <a:srgbClr val="27343C"/>
                </a:solidFill>
                <a:latin typeface="Liberation Sans"/>
              </a:rPr>
              <a:t>A symbolic effect states the required and produced visible stack suffix; the deeper frame is implicit.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0120" y="2907792"/>
            <a:ext cx="10268712" cy="694944"/>
          </a:xfrm>
          <a:prstGeom prst="roundRect">
            <a:avLst/>
          </a:prstGeom>
          <a:solidFill>
            <a:srgbClr val="E8F0F5"/>
          </a:solidFill>
          <a:ln w="12700">
            <a:solidFill>
              <a:srgbClr val="2D66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43000" y="3081528"/>
            <a:ext cx="384048" cy="329184"/>
          </a:xfrm>
          <a:prstGeom prst="roundRect">
            <a:avLst/>
          </a:prstGeom>
          <a:solidFill>
            <a:srgbClr val="2D6684"/>
          </a:solidFill>
          <a:ln>
            <a:solidFill>
              <a:srgbClr val="2D66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3081528"/>
            <a:ext cx="384048" cy="329184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Liberation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19072" y="3072384"/>
            <a:ext cx="245059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2304A"/>
                </a:solidFill>
                <a:latin typeface="Liberation Sans"/>
              </a:rPr>
              <a:t>More than depth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15968" y="3026664"/>
            <a:ext cx="65836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10" b="0" i="0">
                <a:solidFill>
                  <a:srgbClr val="27343C"/>
                </a:solidFill>
                <a:latin typeface="Liberation Sans"/>
              </a:rPr>
              <a:t>Profile-defined types and indexed identities preserve compatibility and value flow through stack shuffles.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0120" y="3803904"/>
            <a:ext cx="10268712" cy="694944"/>
          </a:xfrm>
          <a:prstGeom prst="roundRect">
            <a:avLst/>
          </a:prstGeom>
          <a:solidFill>
            <a:srgbClr val="F7ECE1"/>
          </a:solidFill>
          <a:ln w="12700">
            <a:solidFill>
              <a:srgbClr val="C46A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43000" y="3977640"/>
            <a:ext cx="384048" cy="329184"/>
          </a:xfrm>
          <a:prstGeom prst="roundRect">
            <a:avLst/>
          </a:prstGeom>
          <a:solidFill>
            <a:srgbClr val="C46A2B"/>
          </a:solidFill>
          <a:ln>
            <a:solidFill>
              <a:srgbClr val="C46A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3977640"/>
            <a:ext cx="384048" cy="329184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Liberation Sans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19072" y="3968496"/>
            <a:ext cx="245059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2304A"/>
                </a:solidFill>
                <a:latin typeface="Liberation Sans"/>
              </a:rPr>
              <a:t>Three executable operations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15968" y="3922776"/>
            <a:ext cx="65836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10" b="0" i="0">
                <a:solidFill>
                  <a:srgbClr val="27343C"/>
                </a:solidFill>
                <a:latin typeface="Liberation Sans"/>
              </a:rPr>
              <a:t>Composition checks sequences, a common effect summarizes branches, and one-versus-two approximates repetition.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60120" y="4700016"/>
            <a:ext cx="10268712" cy="694944"/>
          </a:xfrm>
          <a:prstGeom prst="roundRect">
            <a:avLst/>
          </a:prstGeom>
          <a:solidFill>
            <a:srgbClr val="F5E7E8"/>
          </a:solidFill>
          <a:ln w="12700">
            <a:solidFill>
              <a:srgbClr val="9A35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143000" y="4873752"/>
            <a:ext cx="384048" cy="329184"/>
          </a:xfrm>
          <a:prstGeom prst="roundRect">
            <a:avLst/>
          </a:prstGeom>
          <a:solidFill>
            <a:srgbClr val="9A3548"/>
          </a:solidFill>
          <a:ln>
            <a:solidFill>
              <a:srgbClr val="9A35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4873752"/>
            <a:ext cx="384048" cy="329184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Liberation Sans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19072" y="4864607"/>
            <a:ext cx="245059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2304A"/>
                </a:solidFill>
                <a:latin typeface="Liberation Sans"/>
              </a:rPr>
              <a:t>A practical source checker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15968" y="4818888"/>
            <a:ext cx="6583680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10" b="0" i="0">
                <a:solidFill>
                  <a:srgbClr val="27343C"/>
                </a:solidFill>
                <a:latin typeface="Liberation Sans"/>
              </a:rPr>
              <a:t>Profiles describe parsing and control; definitions are inferred; clashes receive source-oriented diagnostics.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5715000"/>
            <a:ext cx="11055096" cy="530352"/>
          </a:xfrm>
          <a:prstGeom prst="roundRect">
            <a:avLst/>
          </a:prstGeom>
          <a:solidFill>
            <a:srgbClr val="E6F1F1"/>
          </a:solidFill>
          <a:ln w="10160">
            <a:solidFill>
              <a:srgbClr val="58A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5733288"/>
            <a:ext cx="10689336" cy="4846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12304A"/>
                </a:solidFill>
                <a:latin typeface="Liberation Sans"/>
              </a:rPr>
              <a:t>Best interpretation: executable stack-effect documentation with useful static diagnostics and clearly bounded guarantees.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Static Type Checking for Forth</dc:title>
  <dc:subject>Making stack-effect specifications executable</dc:subject>
  <dc:creator>Jaanus Pöial</dc:creator>
  <cp:keywords>Forth, static type checking, stack effects, symbolic analysis</cp:keywords>
  <dc:description>Improved self-explanatory presentation generated from the project materials.</dc:description>
  <cp:lastModifiedBy>Steve Canny</cp:lastModifiedBy>
  <cp:revision>1</cp:revision>
  <dcterms:created xsi:type="dcterms:W3CDTF">2013-01-27T09:14:16Z</dcterms:created>
  <dcterms:modified xsi:type="dcterms:W3CDTF">2026-08-28T05:22:24Z</dcterms:modified>
  <cp:category/>
</cp:coreProperties>
</file>
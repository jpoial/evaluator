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14375" y="1185863"/>
            <a:ext cx="6357938" cy="9389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84800"/>
              </a:lnSpc>
              <a:buNone/>
            </a:pPr>
            <a:r>
              <a:rPr lang="en-US" sz="3400" spc="-1" kern="0" dirty="0">
                <a:solidFill>
                  <a:srgbClr val="003A7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Configurable Static Type Checking for Forth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714375" y="2310557"/>
            <a:ext cx="8422481" cy="31086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02400"/>
              </a:lnSpc>
              <a:buNone/>
            </a:pPr>
            <a:r>
              <a:rPr lang="en-US" sz="1800" dirty="0">
                <a:solidFill>
                  <a:srgbClr val="00A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stack effect calculus to a native Gforth analyzer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714375" y="3228640"/>
            <a:ext cx="8422481" cy="699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3600"/>
              </a:lnSpc>
              <a:buNone/>
            </a:pPr>
            <a:r>
              <a:rPr lang="en-US" sz="120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Jaanus Pöial</a:t>
            </a:r>
            <a:r>
              <a:rPr lang="en-US" sz="120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r>
              <a:rPr lang="en-US" sz="120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Tallinn University of Technology</a:t>
            </a:r>
            <a:r>
              <a:rPr lang="en-US" sz="120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r>
              <a:rPr lang="en-US" sz="120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EuroForth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7219" y="364331"/>
            <a:ext cx="7886700" cy="41601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83200"/>
              </a:lnSpc>
              <a:buNone/>
            </a:pPr>
            <a:r>
              <a:rPr lang="en-US" sz="3050" spc="-1" kern="0" dirty="0">
                <a:solidFill>
                  <a:srgbClr val="003A7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Why static checking?</a:t>
            </a:r>
            <a:endParaRPr lang="en-US" sz="3050" dirty="0"/>
          </a:p>
        </p:txBody>
      </p:sp>
      <p:sp>
        <p:nvSpPr>
          <p:cNvPr id="4" name="Text 1"/>
          <p:cNvSpPr/>
          <p:nvPr/>
        </p:nvSpPr>
        <p:spPr>
          <a:xfrm>
            <a:off x="607219" y="1244687"/>
            <a:ext cx="7886700" cy="2914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180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stack-shape errors before execution.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07219" y="1757586"/>
            <a:ext cx="7886700" cy="2914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180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type mismatches at word boundaries.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07219" y="2270485"/>
            <a:ext cx="7886700" cy="2914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180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stack comments into precise word interfaces.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607219" y="2783384"/>
            <a:ext cx="7886700" cy="2914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180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Accommodate profile-defined vocabulary and control syntax.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07219" y="3610608"/>
            <a:ext cx="7143750" cy="5279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5600"/>
              </a:lnSpc>
              <a:buNone/>
            </a:pPr>
            <a:r>
              <a:rPr lang="en-US" sz="1500" dirty="0">
                <a:solidFill>
                  <a:srgbClr val="00A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Stack-effect calculus → typed wildcards and inheritance → configurable source-level checking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836037" y="4832747"/>
            <a:ext cx="57931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7219" y="350044"/>
            <a:ext cx="7886700" cy="41601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83200"/>
              </a:lnSpc>
              <a:buNone/>
            </a:pPr>
            <a:r>
              <a:rPr lang="en-US" sz="3050" dirty="0">
                <a:solidFill>
                  <a:srgbClr val="003A7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Stack effects form a calculus</a:t>
            </a:r>
            <a:endParaRPr lang="en-US" sz="3050" dirty="0"/>
          </a:p>
        </p:txBody>
      </p:sp>
      <p:sp>
        <p:nvSpPr>
          <p:cNvPr id="4" name="Text 1"/>
          <p:cNvSpPr/>
          <p:nvPr/>
        </p:nvSpPr>
        <p:spPr>
          <a:xfrm>
            <a:off x="607219" y="1123243"/>
            <a:ext cx="7886700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spc="1" kern="0" dirty="0">
                <a:solidFill>
                  <a:srgbClr val="00A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EFFECT DOMAIN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07219" y="1391134"/>
            <a:ext cx="7886700" cy="4286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25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= ( T* × T* ) </a:t>
            </a:r>
            <a:r>
              <a:rPr lang="en-US" sz="2550" b="1" dirty="0">
                <a:solidFill>
                  <a:srgbClr val="2F2F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∪</a:t>
            </a:r>
            <a:r>
              <a:rPr lang="en-US" sz="25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{ Ø }</a:t>
            </a:r>
            <a:endParaRPr lang="en-US" sz="2550" dirty="0"/>
          </a:p>
        </p:txBody>
      </p:sp>
      <p:sp>
        <p:nvSpPr>
          <p:cNvPr id="6" name="Text 3"/>
          <p:cNvSpPr/>
          <p:nvPr/>
        </p:nvSpPr>
        <p:spPr>
          <a:xfrm>
            <a:off x="607219" y="2151943"/>
            <a:ext cx="678656" cy="31371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97600"/>
              </a:lnSpc>
              <a:buNone/>
            </a:pPr>
            <a:r>
              <a:rPr lang="en-US" sz="1800" b="1" dirty="0">
                <a:solidFill>
                  <a:srgbClr val="00A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285875" y="2191234"/>
            <a:ext cx="1537413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97600"/>
              </a:lnSpc>
              <a:buNone/>
            </a:pPr>
            <a:r>
              <a:rPr lang="en-US" sz="180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operand types: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2823288" y="2112652"/>
            <a:ext cx="582941" cy="3321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97600"/>
              </a:lnSpc>
              <a:buNone/>
            </a:pPr>
            <a:r>
              <a:rPr lang="en-US" sz="1800" dirty="0">
                <a:solidFill>
                  <a:srgbClr val="2F2F2F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char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3406229" y="2191234"/>
            <a:ext cx="115528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97600"/>
              </a:lnSpc>
              <a:buNone/>
            </a:pPr>
            <a:r>
              <a:rPr lang="en-US" sz="180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3521757" y="2112652"/>
            <a:ext cx="582941" cy="3321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97600"/>
              </a:lnSpc>
              <a:buNone/>
            </a:pPr>
            <a:r>
              <a:rPr lang="en-US" sz="1800" dirty="0">
                <a:solidFill>
                  <a:srgbClr val="2F2F2F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flag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4104698" y="2191234"/>
            <a:ext cx="115528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97600"/>
              </a:lnSpc>
              <a:buNone/>
            </a:pPr>
            <a:r>
              <a:rPr lang="en-US" sz="180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220226" y="2112652"/>
            <a:ext cx="582941" cy="3321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97600"/>
              </a:lnSpc>
              <a:buNone/>
            </a:pPr>
            <a:r>
              <a:rPr lang="en-US" sz="1800" dirty="0">
                <a:solidFill>
                  <a:srgbClr val="2F2F2F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addr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4803167" y="2191234"/>
            <a:ext cx="283239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97600"/>
              </a:lnSpc>
              <a:buNone/>
            </a:pPr>
            <a:r>
              <a:rPr lang="en-US" sz="180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…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07219" y="2572810"/>
            <a:ext cx="678656" cy="31371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97600"/>
              </a:lnSpc>
              <a:buNone/>
            </a:pPr>
            <a:r>
              <a:rPr lang="en-US" sz="1800" b="1" dirty="0">
                <a:solidFill>
                  <a:srgbClr val="00A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T*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285875" y="2612101"/>
            <a:ext cx="4065408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97600"/>
              </a:lnSpc>
              <a:buNone/>
            </a:pPr>
            <a:r>
              <a:rPr lang="en-US" sz="180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lists; the last type is on the stack top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607219" y="2993678"/>
            <a:ext cx="678656" cy="31371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97600"/>
              </a:lnSpc>
              <a:buNone/>
            </a:pPr>
            <a:r>
              <a:rPr lang="en-US" sz="1800" b="1" dirty="0">
                <a:solidFill>
                  <a:srgbClr val="00A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Ø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1285875" y="3032968"/>
            <a:ext cx="3028783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97600"/>
              </a:lnSpc>
              <a:buNone/>
            </a:pPr>
            <a:r>
              <a:rPr lang="en-US" sz="180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type-clash symbol (stack error)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607219" y="3432404"/>
            <a:ext cx="678656" cy="31371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97600"/>
              </a:lnSpc>
              <a:buNone/>
            </a:pPr>
            <a:r>
              <a:rPr lang="en-US" sz="1800" b="1" dirty="0">
                <a:solidFill>
                  <a:srgbClr val="00A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1285875" y="3393114"/>
            <a:ext cx="874440" cy="3321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97600"/>
              </a:lnSpc>
              <a:buNone/>
            </a:pPr>
            <a:r>
              <a:rPr lang="en-US" sz="1800" dirty="0">
                <a:solidFill>
                  <a:srgbClr val="2F2F2F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( -- )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2160315" y="3471695"/>
            <a:ext cx="2171756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97600"/>
              </a:lnSpc>
              <a:buNone/>
            </a:pPr>
            <a:r>
              <a:rPr lang="en-US" sz="180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unity stack effect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607219" y="4039009"/>
            <a:ext cx="788670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003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composition, </a:t>
            </a:r>
            <a:r>
              <a:rPr lang="en-US" sz="1600" b="1" dirty="0">
                <a:solidFill>
                  <a:srgbClr val="003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r>
              <a:rPr lang="en-US" sz="1700" dirty="0">
                <a:solidFill>
                  <a:srgbClr val="003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a polycyclic monoid.</a:t>
            </a:r>
            <a:endParaRPr lang="en-US" sz="1700" dirty="0"/>
          </a:p>
        </p:txBody>
      </p:sp>
      <p:sp>
        <p:nvSpPr>
          <p:cNvPr id="22" name="Text 19"/>
          <p:cNvSpPr/>
          <p:nvPr/>
        </p:nvSpPr>
        <p:spPr>
          <a:xfrm>
            <a:off x="8435987" y="4997053"/>
            <a:ext cx="57931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7219" y="350044"/>
            <a:ext cx="7886700" cy="41601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83200"/>
              </a:lnSpc>
              <a:buNone/>
            </a:pPr>
            <a:r>
              <a:rPr lang="en-US" sz="3050" dirty="0">
                <a:solidFill>
                  <a:srgbClr val="003A7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Profiles define the types</a:t>
            </a:r>
            <a:endParaRPr lang="en-US" sz="3050" dirty="0"/>
          </a:p>
        </p:txBody>
      </p:sp>
      <p:sp>
        <p:nvSpPr>
          <p:cNvPr id="4" name="Text 1"/>
          <p:cNvSpPr/>
          <p:nvPr/>
        </p:nvSpPr>
        <p:spPr>
          <a:xfrm>
            <a:off x="607219" y="1180393"/>
            <a:ext cx="788670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50" b="1" spc="1" kern="0" dirty="0">
                <a:solidFill>
                  <a:srgbClr val="00A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SYSTEM EXAMPLE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607219" y="1544724"/>
            <a:ext cx="7886700" cy="3532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1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a-addr </a:t>
            </a:r>
            <a:r>
              <a:rPr lang="en-US" sz="2150" b="1" dirty="0">
                <a:solidFill>
                  <a:srgbClr val="00A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21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c-addr </a:t>
            </a:r>
            <a:r>
              <a:rPr lang="en-US" sz="2150" b="1" dirty="0">
                <a:solidFill>
                  <a:srgbClr val="00A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21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addr </a:t>
            </a:r>
            <a:r>
              <a:rPr lang="en-US" sz="2150" b="1" dirty="0">
                <a:solidFill>
                  <a:srgbClr val="00A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21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x</a:t>
            </a:r>
            <a:endParaRPr lang="en-US" sz="2150" dirty="0"/>
          </a:p>
        </p:txBody>
      </p:sp>
      <p:sp>
        <p:nvSpPr>
          <p:cNvPr id="6" name="Text 3"/>
          <p:cNvSpPr/>
          <p:nvPr/>
        </p:nvSpPr>
        <p:spPr>
          <a:xfrm>
            <a:off x="607219" y="2119406"/>
            <a:ext cx="7886700" cy="3532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1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flag </a:t>
            </a:r>
            <a:r>
              <a:rPr lang="en-US" sz="2150" b="1" dirty="0">
                <a:solidFill>
                  <a:srgbClr val="00A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21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x</a:t>
            </a:r>
            <a:endParaRPr lang="en-US" sz="2150" dirty="0"/>
          </a:p>
        </p:txBody>
      </p:sp>
      <p:sp>
        <p:nvSpPr>
          <p:cNvPr id="7" name="Text 4"/>
          <p:cNvSpPr/>
          <p:nvPr/>
        </p:nvSpPr>
        <p:spPr>
          <a:xfrm>
            <a:off x="607219" y="2694087"/>
            <a:ext cx="7886700" cy="3532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1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 </a:t>
            </a:r>
            <a:r>
              <a:rPr lang="en-US" sz="2150" b="1" dirty="0">
                <a:solidFill>
                  <a:srgbClr val="00A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21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 </a:t>
            </a:r>
            <a:r>
              <a:rPr lang="en-US" sz="2150" b="1" dirty="0">
                <a:solidFill>
                  <a:srgbClr val="00A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21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x</a:t>
            </a:r>
            <a:endParaRPr lang="en-US" sz="2150" dirty="0"/>
          </a:p>
        </p:txBody>
      </p:sp>
      <p:sp>
        <p:nvSpPr>
          <p:cNvPr id="8" name="Text 5"/>
          <p:cNvSpPr/>
          <p:nvPr/>
        </p:nvSpPr>
        <p:spPr>
          <a:xfrm>
            <a:off x="607219" y="3483080"/>
            <a:ext cx="7000875" cy="6164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&lt; u</a:t>
            </a:r>
            <a:r>
              <a:rPr lang="en-US" sz="175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means </a:t>
            </a:r>
            <a:r>
              <a:rPr lang="en-US" sz="16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r>
              <a:rPr lang="en-US" sz="175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a subtype of </a:t>
            </a:r>
            <a:r>
              <a:rPr lang="en-US" sz="16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</a:t>
            </a:r>
            <a:r>
              <a:rPr lang="en-US" sz="175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it is more exact, and the relation is </a:t>
            </a:r>
            <a:r>
              <a:rPr lang="en-US" sz="175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transitive.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8435987" y="4997053"/>
            <a:ext cx="57931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7219" y="350044"/>
            <a:ext cx="7886700" cy="41601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83200"/>
              </a:lnSpc>
              <a:buNone/>
            </a:pPr>
            <a:r>
              <a:rPr lang="en-US" sz="3050" dirty="0">
                <a:solidFill>
                  <a:srgbClr val="003A7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Profiles define word effects</a:t>
            </a:r>
            <a:endParaRPr lang="en-US" sz="3050" dirty="0"/>
          </a:p>
        </p:txBody>
      </p:sp>
      <p:sp>
        <p:nvSpPr>
          <p:cNvPr id="4" name="Text 1"/>
          <p:cNvSpPr/>
          <p:nvPr/>
        </p:nvSpPr>
        <p:spPr>
          <a:xfrm>
            <a:off x="607219" y="1087524"/>
            <a:ext cx="7886700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spc="1" kern="0" dirty="0">
                <a:solidFill>
                  <a:srgbClr val="00A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STACK MANIPULATION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07219" y="1426852"/>
            <a:ext cx="7886700" cy="28759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97600"/>
              </a:lnSpc>
              <a:buNone/>
            </a:pPr>
            <a:r>
              <a:rPr lang="en-US" sz="16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DUP ( x[1] -- x[1] x[1] )</a:t>
            </a:r>
            <a:endParaRPr lang="en-US" sz="1650" dirty="0"/>
          </a:p>
        </p:txBody>
      </p:sp>
      <p:sp>
        <p:nvSpPr>
          <p:cNvPr id="6" name="Text 3"/>
          <p:cNvSpPr/>
          <p:nvPr/>
        </p:nvSpPr>
        <p:spPr>
          <a:xfrm>
            <a:off x="607219" y="1828744"/>
            <a:ext cx="7886700" cy="28759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97600"/>
              </a:lnSpc>
              <a:buNone/>
            </a:pPr>
            <a:r>
              <a:rPr lang="en-US" sz="16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DROP ( x -- )</a:t>
            </a:r>
            <a:endParaRPr lang="en-US" sz="1650" dirty="0"/>
          </a:p>
        </p:txBody>
      </p:sp>
      <p:sp>
        <p:nvSpPr>
          <p:cNvPr id="7" name="Text 4"/>
          <p:cNvSpPr/>
          <p:nvPr/>
        </p:nvSpPr>
        <p:spPr>
          <a:xfrm>
            <a:off x="607219" y="2230636"/>
            <a:ext cx="7886700" cy="28759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97600"/>
              </a:lnSpc>
              <a:buNone/>
            </a:pPr>
            <a:r>
              <a:rPr lang="en-US" sz="16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SWAP ( x[2] x[1] -- x[1] x[2] )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607219" y="2632528"/>
            <a:ext cx="7886700" cy="28759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97600"/>
              </a:lnSpc>
              <a:buNone/>
            </a:pPr>
            <a:r>
              <a:rPr lang="en-US" sz="16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 ( x[3] x[2] x[1] -- x[2] x[1] x[3] )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607219" y="3034419"/>
            <a:ext cx="7886700" cy="28759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97600"/>
              </a:lnSpc>
              <a:buNone/>
            </a:pPr>
            <a:r>
              <a:rPr lang="en-US" sz="16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 ( x[2] x[1] -- x[2] x[1] x[2] )</a:t>
            </a:r>
            <a:endParaRPr lang="en-US" sz="1650" dirty="0"/>
          </a:p>
        </p:txBody>
      </p:sp>
      <p:sp>
        <p:nvSpPr>
          <p:cNvPr id="10" name="Text 7"/>
          <p:cNvSpPr/>
          <p:nvPr/>
        </p:nvSpPr>
        <p:spPr>
          <a:xfrm>
            <a:off x="607219" y="3600617"/>
            <a:ext cx="7886700" cy="26789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declaration states the </a:t>
            </a:r>
            <a:r>
              <a:rPr lang="en-US" sz="1500" b="1" dirty="0">
                <a:solidFill>
                  <a:srgbClr val="003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suffix</a:t>
            </a:r>
            <a:r>
              <a:rPr lang="en-US" sz="160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the </a:t>
            </a:r>
            <a:r>
              <a:rPr lang="en-US" sz="1500" b="1" dirty="0">
                <a:solidFill>
                  <a:srgbClr val="003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resulting suffix</a:t>
            </a:r>
            <a:r>
              <a:rPr lang="en-US" sz="160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data stack.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435987" y="4997053"/>
            <a:ext cx="57931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7219" y="328613"/>
            <a:ext cx="7886700" cy="40858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83200"/>
              </a:lnSpc>
              <a:buNone/>
            </a:pPr>
            <a:r>
              <a:rPr lang="en-US" sz="3000" dirty="0">
                <a:solidFill>
                  <a:srgbClr val="003A7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Composition unifies boundaries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607219" y="965802"/>
            <a:ext cx="7886700" cy="3214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all s ∈ S: s · Ø = Ø · s = Ø</a:t>
            </a:r>
            <a:endParaRPr lang="en-US" sz="1650" dirty="0"/>
          </a:p>
        </p:txBody>
      </p:sp>
      <p:sp>
        <p:nvSpPr>
          <p:cNvPr id="5" name="Text 2"/>
          <p:cNvSpPr/>
          <p:nvPr/>
        </p:nvSpPr>
        <p:spPr>
          <a:xfrm>
            <a:off x="607219" y="1508727"/>
            <a:ext cx="7886700" cy="225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spc="1" kern="0" dirty="0">
                <a:solidFill>
                  <a:srgbClr val="00A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ALL a, b, c, d, e, f ∈ T*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07219" y="1848055"/>
            <a:ext cx="7886700" cy="2536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 → b) · (eb → d) = (ea → d)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607219" y="2194527"/>
            <a:ext cx="7886700" cy="2536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 → fc) · (c → d) = (a → fd)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607219" y="2540998"/>
            <a:ext cx="7886700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2F2F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Ø, otherwise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07219" y="2962480"/>
            <a:ext cx="7886700" cy="23959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94400"/>
              </a:lnSpc>
              <a:buNone/>
            </a:pPr>
            <a:r>
              <a:rPr lang="en-US" sz="140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Ø</a:t>
            </a:r>
            <a:r>
              <a:rPr lang="en-US" sz="150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zero.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07219" y="3252081"/>
            <a:ext cx="7886700" cy="23959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94400"/>
              </a:lnSpc>
              <a:buNone/>
            </a:pPr>
            <a:r>
              <a:rPr lang="en-US" sz="140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= ( → )</a:t>
            </a:r>
            <a:r>
              <a:rPr lang="en-US" sz="150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the unity for composition.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07219" y="3541681"/>
            <a:ext cx="7886700" cy="23959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94400"/>
              </a:lnSpc>
              <a:buNone/>
            </a:pPr>
            <a:r>
              <a:rPr lang="en-US" sz="140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r>
              <a:rPr lang="en-US" sz="150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a polycyclic monoid.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435987" y="4997053"/>
            <a:ext cx="57931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7219" y="321469"/>
            <a:ext cx="7886700" cy="40116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83200"/>
              </a:lnSpc>
              <a:buNone/>
            </a:pPr>
            <a:r>
              <a:rPr lang="en-US" sz="2950" dirty="0">
                <a:solidFill>
                  <a:srgbClr val="003A7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Example: precise type propagation</a:t>
            </a:r>
            <a:endParaRPr lang="en-US" sz="2950" dirty="0"/>
          </a:p>
        </p:txBody>
      </p:sp>
      <p:sp>
        <p:nvSpPr>
          <p:cNvPr id="4" name="Text 1"/>
          <p:cNvSpPr/>
          <p:nvPr/>
        </p:nvSpPr>
        <p:spPr>
          <a:xfrm>
            <a:off x="607219" y="915516"/>
            <a:ext cx="7886700" cy="1678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50" b="1" spc="1" kern="0" dirty="0">
                <a:solidFill>
                  <a:srgbClr val="00A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ARITHMETIC AND PREDICATE OPERATIONS</a:t>
            </a:r>
            <a:endParaRPr lang="en-US" sz="950" dirty="0"/>
          </a:p>
        </p:txBody>
      </p:sp>
      <p:sp>
        <p:nvSpPr>
          <p:cNvPr id="5" name="Text 2"/>
          <p:cNvSpPr/>
          <p:nvPr/>
        </p:nvSpPr>
        <p:spPr>
          <a:xfrm>
            <a:off x="607219" y="1154832"/>
            <a:ext cx="7886700" cy="24238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93600"/>
              </a:lnSpc>
              <a:buNone/>
            </a:pPr>
            <a:r>
              <a:rPr lang="en-US" sz="14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PLUS ( x[1] x[1] -- x[1] ) “same type”</a:t>
            </a:r>
            <a:endParaRPr lang="en-US" sz="1450" dirty="0"/>
          </a:p>
        </p:txBody>
      </p:sp>
      <p:sp>
        <p:nvSpPr>
          <p:cNvPr id="6" name="Text 3"/>
          <p:cNvSpPr/>
          <p:nvPr/>
        </p:nvSpPr>
        <p:spPr>
          <a:xfrm>
            <a:off x="607219" y="1468655"/>
            <a:ext cx="7886700" cy="24238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93600"/>
              </a:lnSpc>
              <a:buNone/>
            </a:pPr>
            <a:r>
              <a:rPr lang="en-US" sz="14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( x x -- x )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607219" y="1782477"/>
            <a:ext cx="7886700" cy="24238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93600"/>
              </a:lnSpc>
              <a:buNone/>
            </a:pPr>
            <a:r>
              <a:rPr lang="en-US" sz="14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0= ( n -- flag )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607219" y="2217744"/>
            <a:ext cx="7886700" cy="1678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50" b="1" spc="1" kern="0" dirty="0">
                <a:solidFill>
                  <a:srgbClr val="00A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 AND MEMORY OPERATIONS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607219" y="2457059"/>
            <a:ext cx="7886700" cy="24238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93600"/>
              </a:lnSpc>
              <a:buNone/>
            </a:pPr>
            <a:r>
              <a:rPr lang="en-US" sz="14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DP ( -- a-addr )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607219" y="2770882"/>
            <a:ext cx="7886700" cy="24238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93600"/>
              </a:lnSpc>
              <a:buNone/>
            </a:pPr>
            <a:r>
              <a:rPr lang="en-US" sz="14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 ( a-addr -- x )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07219" y="3084705"/>
            <a:ext cx="7886700" cy="24238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93600"/>
              </a:lnSpc>
              <a:buNone/>
            </a:pPr>
            <a:r>
              <a:rPr lang="en-US" sz="14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 ( x a-addr -- )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07219" y="3398527"/>
            <a:ext cx="7886700" cy="24238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93600"/>
              </a:lnSpc>
              <a:buNone/>
            </a:pPr>
            <a:r>
              <a:rPr lang="en-US" sz="14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C@ ( c-addr -- char )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07219" y="3712350"/>
            <a:ext cx="7886700" cy="24238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93600"/>
              </a:lnSpc>
              <a:buNone/>
            </a:pPr>
            <a:r>
              <a:rPr lang="en-US" sz="14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C! ( char c-addr -- )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07219" y="4133329"/>
            <a:ext cx="7886700" cy="2614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97600"/>
              </a:lnSpc>
              <a:buNone/>
            </a:pPr>
            <a:r>
              <a:rPr lang="en-US" sz="160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composition succeeds when adjacent effects have </a:t>
            </a:r>
            <a:r>
              <a:rPr lang="en-US" sz="1500" b="1" dirty="0">
                <a:solidFill>
                  <a:srgbClr val="003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compatible touching suffixes</a:t>
            </a:r>
            <a:r>
              <a:rPr lang="en-US" sz="160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8435987" y="4997053"/>
            <a:ext cx="57931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7219" y="350044"/>
            <a:ext cx="7886700" cy="41601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83200"/>
              </a:lnSpc>
              <a:buNone/>
            </a:pPr>
            <a:r>
              <a:rPr lang="en-US" sz="3050" dirty="0">
                <a:solidFill>
                  <a:srgbClr val="003A7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Example: requirements flow backward</a:t>
            </a:r>
            <a:endParaRPr lang="en-US" sz="3050" dirty="0"/>
          </a:p>
        </p:txBody>
      </p:sp>
      <p:sp>
        <p:nvSpPr>
          <p:cNvPr id="4" name="Text 1"/>
          <p:cNvSpPr/>
          <p:nvPr/>
        </p:nvSpPr>
        <p:spPr>
          <a:xfrm>
            <a:off x="607219" y="1116099"/>
            <a:ext cx="7886700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spc="1" kern="0" dirty="0">
                <a:solidFill>
                  <a:srgbClr val="00A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 WILDCARDS PRESERVE VALUE FLOW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07219" y="1448284"/>
            <a:ext cx="7886700" cy="2914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170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SWAP ( x[2] x[1] -- x[1] x[2] )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607219" y="1918320"/>
            <a:ext cx="7886700" cy="2914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170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 ( x[2] x[1] -- x[2] x[1] x[2] )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607219" y="2388357"/>
            <a:ext cx="7886700" cy="2914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170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DUP ( x[1] -- x[1] x[1] )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7219" y="3079849"/>
            <a:ext cx="7500938" cy="6034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2400"/>
              </a:lnSpc>
              <a:buNone/>
            </a:pPr>
            <a:r>
              <a:rPr lang="en-US" sz="175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positive index denotes the same symbolic cell. Subsequent constraints on one occurrence apply to every occurrence of that value.</a:t>
            </a:r>
            <a:endParaRPr lang="en-US" sz="1750" dirty="0"/>
          </a:p>
        </p:txBody>
      </p:sp>
      <p:sp>
        <p:nvSpPr>
          <p:cNvPr id="9" name="Text 6"/>
          <p:cNvSpPr/>
          <p:nvPr/>
        </p:nvSpPr>
        <p:spPr>
          <a:xfrm>
            <a:off x="8435987" y="4997053"/>
            <a:ext cx="57931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7219" y="307181"/>
            <a:ext cx="7886700" cy="37889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83200"/>
              </a:lnSpc>
              <a:buNone/>
            </a:pPr>
            <a:r>
              <a:rPr lang="en-US" sz="2750" dirty="0">
                <a:solidFill>
                  <a:srgbClr val="003A7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Branches meet at one contract</a:t>
            </a:r>
            <a:endParaRPr lang="en-US" sz="2750" dirty="0"/>
          </a:p>
        </p:txBody>
      </p:sp>
      <p:sp>
        <p:nvSpPr>
          <p:cNvPr id="4" name="Text 1"/>
          <p:cNvSpPr/>
          <p:nvPr/>
        </p:nvSpPr>
        <p:spPr>
          <a:xfrm>
            <a:off x="607219" y="843242"/>
            <a:ext cx="7886700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spc="1" kern="0" dirty="0">
                <a:solidFill>
                  <a:srgbClr val="00A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GREATEST LOWER BOUND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07219" y="1057554"/>
            <a:ext cx="7886700" cy="21916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94400"/>
              </a:lnSpc>
              <a:buNone/>
            </a:pPr>
            <a:r>
              <a:rPr lang="en-US" sz="130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⊓ 0 = 0 r ⊓ s = s ⊓ r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607219" y="1326728"/>
            <a:ext cx="7886700" cy="21916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94400"/>
              </a:lnSpc>
              <a:buNone/>
            </a:pPr>
            <a:r>
              <a:rPr lang="en-US" sz="130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a₃ = min(a₁,a₂), b₃ = min(b₁,b₂), c₃ = min(c₁,c₂)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07219" y="1595903"/>
            <a:ext cx="7886700" cy="21916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94400"/>
              </a:lnSpc>
              <a:buNone/>
            </a:pPr>
            <a:r>
              <a:rPr lang="en-US" sz="130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(c₁a₁ → c₂b₁) ⊓ (a₂ → b₂) = (c₃a₃ → c₃b₃)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07219" y="1907939"/>
            <a:ext cx="7886700" cy="2178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97600"/>
              </a:lnSpc>
              <a:buNone/>
            </a:pPr>
            <a:r>
              <a:rPr lang="en-US" sz="130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Applicable when the corresponding type lists are related elementwise; otherwise the result is zero.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07219" y="2247267"/>
            <a:ext cx="7886700" cy="1535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b="1" spc="1" kern="0" dirty="0">
                <a:solidFill>
                  <a:srgbClr val="00A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SL2008 EXAMPLE: test1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607219" y="2436577"/>
            <a:ext cx="7886700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89600"/>
              </a:lnSpc>
              <a:buNone/>
            </a:pPr>
            <a:r>
              <a:rPr lang="en-US" sz="12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test1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07219" y="2650889"/>
            <a:ext cx="7886700" cy="200025"/>
          </a:xfrm>
          <a:prstGeom prst="rect">
            <a:avLst/>
          </a:prstGeom>
          <a:noFill/>
          <a:ln/>
        </p:spPr>
        <p:txBody>
          <a:bodyPr wrap="none" lIns="340233" tIns="0" rIns="0" bIns="0" rtlCol="0" anchor="t">
            <a:spAutoFit/>
          </a:bodyPr>
          <a:lstStyle/>
          <a:p>
            <a:pPr algn="l" indent="0" marL="0">
              <a:lnSpc>
                <a:spcPct val="89600"/>
              </a:lnSpc>
              <a:buNone/>
            </a:pPr>
            <a:r>
              <a:rPr lang="en-US" sz="12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607219" y="2865202"/>
            <a:ext cx="7886700" cy="200025"/>
          </a:xfrm>
          <a:prstGeom prst="rect">
            <a:avLst/>
          </a:prstGeom>
          <a:noFill/>
          <a:ln/>
        </p:spPr>
        <p:txBody>
          <a:bodyPr wrap="none" lIns="340233" tIns="0" rIns="0" bIns="0" rtlCol="0" anchor="t">
            <a:spAutoFit/>
          </a:bodyPr>
          <a:lstStyle/>
          <a:p>
            <a:pPr algn="l" indent="0" marL="0">
              <a:lnSpc>
                <a:spcPct val="89600"/>
              </a:lnSpc>
              <a:buNone/>
            </a:pPr>
            <a:r>
              <a:rPr lang="en-US" sz="12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607219" y="3079514"/>
            <a:ext cx="7886700" cy="200025"/>
          </a:xfrm>
          <a:prstGeom prst="rect">
            <a:avLst/>
          </a:prstGeom>
          <a:noFill/>
          <a:ln/>
        </p:spPr>
        <p:txBody>
          <a:bodyPr wrap="none" lIns="340233" tIns="0" rIns="0" bIns="0" rtlCol="0" anchor="t">
            <a:spAutoFit/>
          </a:bodyPr>
          <a:lstStyle/>
          <a:p>
            <a:pPr algn="l" indent="0" marL="0">
              <a:lnSpc>
                <a:spcPct val="89600"/>
              </a:lnSpc>
              <a:buNone/>
            </a:pPr>
            <a:r>
              <a:rPr lang="en-US" sz="12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607219" y="3293827"/>
            <a:ext cx="7886700" cy="200025"/>
          </a:xfrm>
          <a:prstGeom prst="rect">
            <a:avLst/>
          </a:prstGeom>
          <a:noFill/>
          <a:ln/>
        </p:spPr>
        <p:txBody>
          <a:bodyPr wrap="none" lIns="340233" tIns="0" rIns="0" bIns="0" rtlCol="0" anchor="t">
            <a:spAutoFit/>
          </a:bodyPr>
          <a:lstStyle/>
          <a:p>
            <a:pPr algn="l" indent="0" marL="0">
              <a:lnSpc>
                <a:spcPct val="89600"/>
              </a:lnSpc>
              <a:buNone/>
            </a:pPr>
            <a:r>
              <a:rPr lang="en-US" sz="12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607219" y="3508139"/>
            <a:ext cx="7886700" cy="200025"/>
          </a:xfrm>
          <a:prstGeom prst="rect">
            <a:avLst/>
          </a:prstGeom>
          <a:noFill/>
          <a:ln/>
        </p:spPr>
        <p:txBody>
          <a:bodyPr wrap="none" lIns="340233" tIns="0" rIns="0" bIns="0" rtlCol="0" anchor="t">
            <a:spAutoFit/>
          </a:bodyPr>
          <a:lstStyle/>
          <a:p>
            <a:pPr algn="l" indent="0" marL="0">
              <a:lnSpc>
                <a:spcPct val="89600"/>
              </a:lnSpc>
              <a:buNone/>
            </a:pPr>
            <a:r>
              <a:rPr lang="en-US" sz="12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 ;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607219" y="3751027"/>
            <a:ext cx="7886700" cy="20538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(a-addr[1] a-addr[1] a-addr[1] -- a-addr[1] a-addr[1] a-addr[1])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8435987" y="4997053"/>
            <a:ext cx="57931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7219" y="321469"/>
            <a:ext cx="7886700" cy="40116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83200"/>
              </a:lnSpc>
              <a:buNone/>
            </a:pPr>
            <a:r>
              <a:rPr lang="en-US" sz="2950" dirty="0">
                <a:solidFill>
                  <a:srgbClr val="003A7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Loops use a one-versus-two test</a:t>
            </a:r>
            <a:endParaRPr lang="en-US" sz="2950" dirty="0"/>
          </a:p>
        </p:txBody>
      </p:sp>
      <p:sp>
        <p:nvSpPr>
          <p:cNvPr id="4" name="Text 1"/>
          <p:cNvSpPr/>
          <p:nvPr/>
        </p:nvSpPr>
        <p:spPr>
          <a:xfrm>
            <a:off x="607219" y="908372"/>
            <a:ext cx="7886700" cy="1678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50" b="1" spc="1" kern="0" dirty="0">
                <a:solidFill>
                  <a:srgbClr val="00A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 INVARIANT</a:t>
            </a:r>
            <a:endParaRPr lang="en-US" sz="950" dirty="0"/>
          </a:p>
        </p:txBody>
      </p:sp>
      <p:sp>
        <p:nvSpPr>
          <p:cNvPr id="5" name="Text 2"/>
          <p:cNvSpPr/>
          <p:nvPr/>
        </p:nvSpPr>
        <p:spPr>
          <a:xfrm>
            <a:off x="607219" y="1147688"/>
            <a:ext cx="7886700" cy="33715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94400"/>
              </a:lnSpc>
              <a:buNone/>
            </a:pPr>
            <a:r>
              <a:rPr lang="en-US" sz="200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Π* s = s ⊓ (s · s)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607219" y="1599140"/>
            <a:ext cx="7358063" cy="2547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98400"/>
              </a:lnSpc>
              <a:buNone/>
            </a:pPr>
            <a:r>
              <a:rPr lang="en-US" sz="155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is an </a:t>
            </a:r>
            <a:r>
              <a:rPr lang="en-US" sz="1450" b="1" dirty="0">
                <a:solidFill>
                  <a:srgbClr val="003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idempotent element</a:t>
            </a:r>
            <a:r>
              <a:rPr lang="en-US" sz="155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most precisely describes the loop body </a:t>
            </a:r>
            <a:r>
              <a:rPr lang="en-US" sz="1450" b="1" dirty="0">
                <a:solidFill>
                  <a:srgbClr val="003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r>
              <a:rPr lang="en-US" sz="155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607219" y="1982502"/>
            <a:ext cx="7886700" cy="1535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b="1" spc="1" kern="0" dirty="0">
                <a:solidFill>
                  <a:srgbClr val="00A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SL2008 EXAMPLE: test2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607219" y="2178955"/>
            <a:ext cx="7886700" cy="2198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91200"/>
              </a:lnSpc>
              <a:buNone/>
            </a:pPr>
            <a:r>
              <a:rPr lang="en-US" sz="13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test2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607219" y="2413081"/>
            <a:ext cx="7886700" cy="219838"/>
          </a:xfrm>
          <a:prstGeom prst="rect">
            <a:avLst/>
          </a:prstGeom>
          <a:noFill/>
          <a:ln/>
        </p:spPr>
        <p:txBody>
          <a:bodyPr wrap="none" lIns="340233" tIns="0" rIns="0" bIns="0" rtlCol="0" anchor="t">
            <a:spAutoFit/>
          </a:bodyPr>
          <a:lstStyle/>
          <a:p>
            <a:pPr algn="l" indent="0" marL="0">
              <a:lnSpc>
                <a:spcPct val="91200"/>
              </a:lnSpc>
              <a:buNone/>
            </a:pPr>
            <a:r>
              <a:rPr lang="en-US" sz="13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607219" y="2647206"/>
            <a:ext cx="7886700" cy="219838"/>
          </a:xfrm>
          <a:prstGeom prst="rect">
            <a:avLst/>
          </a:prstGeom>
          <a:noFill/>
          <a:ln/>
        </p:spPr>
        <p:txBody>
          <a:bodyPr wrap="none" lIns="340233" tIns="0" rIns="0" bIns="0" rtlCol="0" anchor="t">
            <a:spAutoFit/>
          </a:bodyPr>
          <a:lstStyle/>
          <a:p>
            <a:pPr algn="l" indent="0" marL="0">
              <a:lnSpc>
                <a:spcPct val="91200"/>
              </a:lnSpc>
              <a:buNone/>
            </a:pPr>
            <a:r>
              <a:rPr lang="en-US" sz="13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SWAP OVER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07219" y="2881331"/>
            <a:ext cx="7886700" cy="219838"/>
          </a:xfrm>
          <a:prstGeom prst="rect">
            <a:avLst/>
          </a:prstGeom>
          <a:noFill/>
          <a:ln/>
        </p:spPr>
        <p:txBody>
          <a:bodyPr wrap="none" lIns="340233" tIns="0" rIns="0" bIns="0" rtlCol="0" anchor="t">
            <a:spAutoFit/>
          </a:bodyPr>
          <a:lstStyle/>
          <a:p>
            <a:pPr algn="l" indent="0" marL="0">
              <a:lnSpc>
                <a:spcPct val="91200"/>
              </a:lnSpc>
              <a:buNone/>
            </a:pPr>
            <a:r>
              <a:rPr lang="en-US" sz="13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607219" y="3115456"/>
            <a:ext cx="7886700" cy="219838"/>
          </a:xfrm>
          <a:prstGeom prst="rect">
            <a:avLst/>
          </a:prstGeom>
          <a:noFill/>
          <a:ln/>
        </p:spPr>
        <p:txBody>
          <a:bodyPr wrap="none" lIns="340233" tIns="0" rIns="0" bIns="0" rtlCol="0" anchor="t">
            <a:spAutoFit/>
          </a:bodyPr>
          <a:lstStyle/>
          <a:p>
            <a:pPr algn="l" indent="0" marL="0">
              <a:lnSpc>
                <a:spcPct val="91200"/>
              </a:lnSpc>
              <a:buNone/>
            </a:pPr>
            <a:r>
              <a:rPr lang="en-US" sz="13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607219" y="3349582"/>
            <a:ext cx="7886700" cy="219838"/>
          </a:xfrm>
          <a:prstGeom prst="rect">
            <a:avLst/>
          </a:prstGeom>
          <a:noFill/>
          <a:ln/>
        </p:spPr>
        <p:txBody>
          <a:bodyPr wrap="none" lIns="340233" tIns="0" rIns="0" bIns="0" rtlCol="0" anchor="t">
            <a:spAutoFit/>
          </a:bodyPr>
          <a:lstStyle/>
          <a:p>
            <a:pPr algn="l" indent="0" marL="0">
              <a:lnSpc>
                <a:spcPct val="91200"/>
              </a:lnSpc>
              <a:buNone/>
            </a:pPr>
            <a:r>
              <a:rPr lang="en-US" sz="13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REPEAT ;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607219" y="3640857"/>
            <a:ext cx="7886700" cy="2321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(flag[1] flag[1] -- flag[1] flag[1])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378056" y="4997053"/>
            <a:ext cx="115863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7219" y="350044"/>
            <a:ext cx="7886700" cy="3750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84000"/>
              </a:lnSpc>
              <a:buNone/>
            </a:pPr>
            <a:r>
              <a:rPr lang="en-US" sz="2700" dirty="0">
                <a:solidFill>
                  <a:srgbClr val="003A7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native evaluator realizes the calculus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607219" y="1032272"/>
            <a:ext cx="7886700" cy="1928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b="1" spc="1" kern="0" dirty="0">
                <a:solidFill>
                  <a:srgbClr val="00A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PROFILES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07219" y="1268016"/>
            <a:ext cx="788670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type hierarchies and primitive stack effects as data.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607219" y="1732359"/>
            <a:ext cx="7886700" cy="1928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b="1" spc="1" kern="0" dirty="0">
                <a:solidFill>
                  <a:srgbClr val="00A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PARSER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07219" y="1968103"/>
            <a:ext cx="788670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Follows the outer interpreter, definitions, and control words.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7219" y="2432447"/>
            <a:ext cx="7886700" cy="1928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b="1" spc="1" kern="0" dirty="0">
                <a:solidFill>
                  <a:srgbClr val="00A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OPERATORS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07219" y="2700338"/>
            <a:ext cx="192055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ev-spec-multiply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2527771" y="2696766"/>
            <a:ext cx="10871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2636490" y="2700338"/>
            <a:ext cx="13204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ev-spec-glb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3956912" y="2696766"/>
            <a:ext cx="51010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4467020" y="2700338"/>
            <a:ext cx="168051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ev-spec-pistar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147532" y="2696766"/>
            <a:ext cx="5770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607219" y="3132534"/>
            <a:ext cx="7886700" cy="1928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b="1" spc="1" kern="0" dirty="0">
                <a:solidFill>
                  <a:srgbClr val="00A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07219" y="3368278"/>
            <a:ext cx="788670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parsed bodies bottom-up to infer their stack effects.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607219" y="3957638"/>
            <a:ext cx="2451646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3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implementation:</a:t>
            </a:r>
            <a:endParaRPr lang="en-US" sz="1700" dirty="0"/>
          </a:p>
        </p:txBody>
      </p:sp>
      <p:sp>
        <p:nvSpPr>
          <p:cNvPr id="18" name="Text 15"/>
          <p:cNvSpPr/>
          <p:nvPr/>
        </p:nvSpPr>
        <p:spPr>
          <a:xfrm>
            <a:off x="3058864" y="3939778"/>
            <a:ext cx="2769375" cy="275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gforth-evaluator.fs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8378056" y="4997053"/>
            <a:ext cx="115863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7219" y="364331"/>
            <a:ext cx="7886700" cy="41601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83200"/>
              </a:lnSpc>
              <a:buNone/>
            </a:pPr>
            <a:r>
              <a:rPr lang="en-US" sz="3050" spc="-1" kern="0" dirty="0">
                <a:solidFill>
                  <a:srgbClr val="003A7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Summary</a:t>
            </a:r>
            <a:endParaRPr lang="en-US" sz="3050" dirty="0"/>
          </a:p>
        </p:txBody>
      </p:sp>
      <p:sp>
        <p:nvSpPr>
          <p:cNvPr id="4" name="Text 1"/>
          <p:cNvSpPr/>
          <p:nvPr/>
        </p:nvSpPr>
        <p:spPr>
          <a:xfrm>
            <a:off x="607219" y="1208968"/>
            <a:ext cx="7886700" cy="2786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00" b="1" spc="1" kern="0" dirty="0">
                <a:solidFill>
                  <a:srgbClr val="00A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THEORY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607219" y="1544724"/>
            <a:ext cx="7886700" cy="31572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Effect Calculus, indexed wildcards, and greatest lower bound.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07219" y="2181913"/>
            <a:ext cx="7886700" cy="2786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00" b="1" spc="1" kern="0" dirty="0">
                <a:solidFill>
                  <a:srgbClr val="00A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CONFIGURABILITY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607219" y="2517670"/>
            <a:ext cx="7886700" cy="31572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profiles define types, primitive effects, and control structures.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07219" y="3154859"/>
            <a:ext cx="7886700" cy="2786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00" b="1" spc="1" kern="0" dirty="0">
                <a:solidFill>
                  <a:srgbClr val="00A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07219" y="3540621"/>
            <a:ext cx="3783620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configurable native Gforth analyzer (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4390839" y="3508474"/>
            <a:ext cx="2932286" cy="29289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gforth-evaluator.fs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7323125" y="3540621"/>
            <a:ext cx="135006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607219" y="4146389"/>
            <a:ext cx="7886700" cy="2786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00" b="1" spc="1" kern="0" dirty="0">
                <a:solidFill>
                  <a:srgbClr val="00A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607219" y="4482145"/>
            <a:ext cx="7886700" cy="31572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effects and fixed-point loop invariants.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8778106" y="4832747"/>
            <a:ext cx="115863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2026-08-27T13:35:09Z</dcterms:created>
  <dcterms:modified xsi:type="dcterms:W3CDTF">2026-08-27T13:35:09Z</dcterms:modified>
</cp:coreProperties>
</file>
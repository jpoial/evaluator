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1" r:id="rId5"/>
    <p:sldId id="259" r:id="rId6"/>
    <p:sldId id="260" r:id="rId7"/>
    <p:sldId id="262" r:id="rId8"/>
    <p:sldId id="264" r:id="rId9"/>
    <p:sldId id="265" r:id="rId10"/>
    <p:sldId id="266" r:id="rId11"/>
    <p:sldId id="267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4" d="100"/>
          <a:sy n="154" d="100"/>
        </p:scale>
        <p:origin x="168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5966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4375" y="1185863"/>
            <a:ext cx="6357938" cy="9389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84800"/>
              </a:lnSpc>
              <a:buNone/>
            </a:pPr>
            <a:r>
              <a:rPr lang="en-US" sz="3400" kern="0" spc="-1" dirty="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Configurable Static Type Checking for Forth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714375" y="2310557"/>
            <a:ext cx="8422481" cy="3108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1800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stack effect calculus to a native Gforth analyzer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714375" y="3228640"/>
            <a:ext cx="8422481" cy="699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3600"/>
              </a:lnSpc>
              <a:buNone/>
            </a:pPr>
            <a:r>
              <a:rPr lang="en-US" sz="12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Jaanus Pöial
Tallinn University of Technology
EuroForth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7219" y="350044"/>
            <a:ext cx="7886700" cy="4160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3200"/>
              </a:lnSpc>
              <a:buNone/>
            </a:pPr>
            <a:r>
              <a:rPr lang="en-US" sz="3050" dirty="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Static Type Checking?</a:t>
            </a:r>
            <a:endParaRPr lang="en-US" sz="3050" dirty="0"/>
          </a:p>
        </p:txBody>
      </p:sp>
      <p:sp>
        <p:nvSpPr>
          <p:cNvPr id="4" name="Text 1"/>
          <p:cNvSpPr/>
          <p:nvPr/>
        </p:nvSpPr>
        <p:spPr>
          <a:xfrm>
            <a:off x="607219" y="1301837"/>
            <a:ext cx="7886700" cy="3075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8400"/>
              </a:lnSpc>
              <a:buNone/>
            </a:pPr>
            <a:r>
              <a:rPr lang="en-US" sz="185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stack errors before execution.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07219" y="1823665"/>
            <a:ext cx="7886700" cy="3075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8400"/>
              </a:lnSpc>
              <a:buNone/>
            </a:pPr>
            <a:r>
              <a:rPr lang="en-US" sz="185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type mismatches early.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607219" y="2345494"/>
            <a:ext cx="7886700" cy="3075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8400"/>
              </a:lnSpc>
              <a:buNone/>
            </a:pPr>
            <a:r>
              <a:rPr lang="en-US" sz="185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Precisely document word behaviour.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607219" y="2867323"/>
            <a:ext cx="7886700" cy="3075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8400"/>
              </a:lnSpc>
              <a:buNone/>
            </a:pPr>
            <a:r>
              <a:rPr lang="en-US" sz="185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Stack-based execution and extensibility complicate analysis.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8435987" y="4997053"/>
            <a:ext cx="57931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7219" y="350044"/>
            <a:ext cx="7886700" cy="4160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3200"/>
              </a:lnSpc>
              <a:buNone/>
            </a:pPr>
            <a:r>
              <a:rPr lang="en-US" sz="3050" dirty="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Stack effects form a calculus</a:t>
            </a:r>
            <a:endParaRPr lang="en-US" sz="3050" dirty="0"/>
          </a:p>
        </p:txBody>
      </p:sp>
      <p:sp>
        <p:nvSpPr>
          <p:cNvPr id="4" name="Text 1"/>
          <p:cNvSpPr/>
          <p:nvPr/>
        </p:nvSpPr>
        <p:spPr>
          <a:xfrm>
            <a:off x="607219" y="1123243"/>
            <a:ext cx="7886700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kern="0" spc="1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EFFECT DOMAIN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07219" y="1391134"/>
            <a:ext cx="7886700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5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 T* × T* ) </a:t>
            </a:r>
            <a:r>
              <a:rPr lang="en-US" sz="2550" b="1" dirty="0">
                <a:solidFill>
                  <a:srgbClr val="2F2F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∪</a:t>
            </a:r>
            <a:r>
              <a:rPr lang="en-US" sz="25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 Ø }</a:t>
            </a:r>
            <a:endParaRPr lang="en-US" sz="2550" dirty="0"/>
          </a:p>
        </p:txBody>
      </p:sp>
      <p:sp>
        <p:nvSpPr>
          <p:cNvPr id="6" name="Text 3"/>
          <p:cNvSpPr/>
          <p:nvPr/>
        </p:nvSpPr>
        <p:spPr>
          <a:xfrm>
            <a:off x="607219" y="2151943"/>
            <a:ext cx="678656" cy="3137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7600"/>
              </a:lnSpc>
              <a:buNone/>
            </a:pPr>
            <a:r>
              <a:rPr lang="en-US" sz="1800" b="1" dirty="0">
                <a:solidFill>
                  <a:srgbClr val="00A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285875" y="2191234"/>
            <a:ext cx="1537413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76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operand types: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2823288" y="2112652"/>
            <a:ext cx="582941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76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char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3406229" y="2191234"/>
            <a:ext cx="115528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76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3521757" y="2112652"/>
            <a:ext cx="582941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76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flag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104698" y="2191234"/>
            <a:ext cx="115528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76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220226" y="2112652"/>
            <a:ext cx="582941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76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addr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4803167" y="2191234"/>
            <a:ext cx="283239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76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…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7219" y="2572810"/>
            <a:ext cx="678656" cy="3137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7600"/>
              </a:lnSpc>
              <a:buNone/>
            </a:pPr>
            <a:r>
              <a:rPr lang="en-US" sz="1800" b="1" dirty="0">
                <a:solidFill>
                  <a:srgbClr val="00A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T*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285875" y="2612101"/>
            <a:ext cx="4065408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76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lists; the last type is on the stack top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07219" y="2993678"/>
            <a:ext cx="678656" cy="3137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7600"/>
              </a:lnSpc>
              <a:buNone/>
            </a:pPr>
            <a:r>
              <a:rPr lang="en-US" sz="1800" b="1" dirty="0">
                <a:solidFill>
                  <a:srgbClr val="00A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Ø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285875" y="3032968"/>
            <a:ext cx="3028783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76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type-clash symbol (stack error)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07219" y="3432404"/>
            <a:ext cx="678656" cy="3137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7600"/>
              </a:lnSpc>
              <a:buNone/>
            </a:pPr>
            <a:r>
              <a:rPr lang="en-US" sz="1800" b="1" dirty="0">
                <a:solidFill>
                  <a:srgbClr val="00A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285875" y="3393114"/>
            <a:ext cx="874440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76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( -- )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2160315" y="3471695"/>
            <a:ext cx="2171756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76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unity stack effect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07219" y="4039009"/>
            <a:ext cx="78867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dirty="0">
                <a:solidFill>
                  <a:srgbClr val="003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composition, </a:t>
            </a:r>
            <a:r>
              <a:rPr lang="en-US" sz="1600" b="1" dirty="0">
                <a:solidFill>
                  <a:srgbClr val="003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r>
              <a:rPr lang="en-US" sz="1700" dirty="0">
                <a:solidFill>
                  <a:srgbClr val="003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polycyclic monoid.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8435987" y="4997053"/>
            <a:ext cx="57931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7219" y="328613"/>
            <a:ext cx="7886700" cy="4085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3200"/>
              </a:lnSpc>
              <a:buNone/>
            </a:pPr>
            <a:r>
              <a:rPr lang="en-US" sz="3000" dirty="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Composition unifies boundaries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07219" y="965802"/>
            <a:ext cx="7886700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all s ∈ S: s · Ø = Ø · s = Ø</a:t>
            </a:r>
            <a:endParaRPr lang="en-US" sz="1650" dirty="0"/>
          </a:p>
        </p:txBody>
      </p:sp>
      <p:sp>
        <p:nvSpPr>
          <p:cNvPr id="5" name="Text 2"/>
          <p:cNvSpPr/>
          <p:nvPr/>
        </p:nvSpPr>
        <p:spPr>
          <a:xfrm>
            <a:off x="607219" y="1508727"/>
            <a:ext cx="7886700" cy="225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kern="0" spc="1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ALL a, b, c, d, e, f ∈ T*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07219" y="1848055"/>
            <a:ext cx="7886700" cy="2536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 → b) · (eb → d) = (ea → d)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607219" y="2194527"/>
            <a:ext cx="7886700" cy="2536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 → fc) · (c → d) = (a → fd)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607219" y="2540998"/>
            <a:ext cx="78867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2F2F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Ø, otherwise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07219" y="2962480"/>
            <a:ext cx="7886700" cy="2395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4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Ø</a:t>
            </a:r>
            <a:r>
              <a:rPr lang="en-US" sz="15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zero.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07219" y="3252081"/>
            <a:ext cx="7886700" cy="2395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4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= ( → )</a:t>
            </a:r>
            <a:r>
              <a:rPr lang="en-US" sz="15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unity for composition.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07219" y="3541681"/>
            <a:ext cx="7886700" cy="2395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4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15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polycyclic monoid.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435987" y="4997053"/>
            <a:ext cx="57931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7219" y="350044"/>
            <a:ext cx="7886700" cy="4160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3200"/>
              </a:lnSpc>
              <a:buNone/>
            </a:pPr>
            <a:r>
              <a:rPr lang="en-US" sz="3050" dirty="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Profiles define the types</a:t>
            </a:r>
            <a:endParaRPr lang="en-US" sz="3050" dirty="0"/>
          </a:p>
        </p:txBody>
      </p:sp>
      <p:sp>
        <p:nvSpPr>
          <p:cNvPr id="4" name="Text 1"/>
          <p:cNvSpPr/>
          <p:nvPr/>
        </p:nvSpPr>
        <p:spPr>
          <a:xfrm>
            <a:off x="607219" y="1180393"/>
            <a:ext cx="78867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b="1" kern="0" spc="1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SYSTEM EXAMPLE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607219" y="1544724"/>
            <a:ext cx="7886700" cy="3532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1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a-addr </a:t>
            </a:r>
            <a:r>
              <a:rPr lang="en-US" sz="2150" b="1" dirty="0">
                <a:solidFill>
                  <a:srgbClr val="00A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21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c-addr </a:t>
            </a:r>
            <a:r>
              <a:rPr lang="en-US" sz="2150" b="1" dirty="0">
                <a:solidFill>
                  <a:srgbClr val="00A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21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addr </a:t>
            </a:r>
            <a:r>
              <a:rPr lang="en-US" sz="2150" b="1" dirty="0">
                <a:solidFill>
                  <a:srgbClr val="00A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21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endParaRPr lang="en-US" sz="2150" dirty="0"/>
          </a:p>
        </p:txBody>
      </p:sp>
      <p:sp>
        <p:nvSpPr>
          <p:cNvPr id="6" name="Text 3"/>
          <p:cNvSpPr/>
          <p:nvPr/>
        </p:nvSpPr>
        <p:spPr>
          <a:xfrm>
            <a:off x="607219" y="2119406"/>
            <a:ext cx="7886700" cy="3532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1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 </a:t>
            </a:r>
            <a:r>
              <a:rPr lang="en-US" sz="2150" b="1" dirty="0">
                <a:solidFill>
                  <a:srgbClr val="00A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21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endParaRPr lang="en-US" sz="2150" dirty="0"/>
          </a:p>
        </p:txBody>
      </p:sp>
      <p:sp>
        <p:nvSpPr>
          <p:cNvPr id="7" name="Text 4"/>
          <p:cNvSpPr/>
          <p:nvPr/>
        </p:nvSpPr>
        <p:spPr>
          <a:xfrm>
            <a:off x="607219" y="2694087"/>
            <a:ext cx="7886700" cy="3532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1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</a:t>
            </a:r>
            <a:r>
              <a:rPr lang="en-US" sz="2150" b="1" dirty="0">
                <a:solidFill>
                  <a:srgbClr val="00A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21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</a:t>
            </a:r>
            <a:r>
              <a:rPr lang="en-US" sz="2150" b="1" dirty="0">
                <a:solidFill>
                  <a:srgbClr val="00A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21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endParaRPr lang="en-US" sz="2150" dirty="0"/>
          </a:p>
        </p:txBody>
      </p:sp>
      <p:sp>
        <p:nvSpPr>
          <p:cNvPr id="8" name="Text 5"/>
          <p:cNvSpPr/>
          <p:nvPr/>
        </p:nvSpPr>
        <p:spPr>
          <a:xfrm>
            <a:off x="607219" y="3483080"/>
            <a:ext cx="7000875" cy="616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&lt; u</a:t>
            </a:r>
            <a:r>
              <a:rPr lang="en-US" sz="175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means </a:t>
            </a:r>
            <a:r>
              <a:rPr lang="en-US" sz="16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75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subtype of </a:t>
            </a:r>
            <a:r>
              <a:rPr lang="en-US" sz="16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en-US" sz="175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it is more exact, and the relation is transitive.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8435987" y="4997053"/>
            <a:ext cx="57931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7219" y="350044"/>
            <a:ext cx="7886700" cy="4160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3200"/>
              </a:lnSpc>
              <a:buNone/>
            </a:pPr>
            <a:r>
              <a:rPr lang="en-US" sz="3050" dirty="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Profiles define word effects</a:t>
            </a:r>
            <a:endParaRPr lang="en-US" sz="3050" dirty="0"/>
          </a:p>
        </p:txBody>
      </p:sp>
      <p:sp>
        <p:nvSpPr>
          <p:cNvPr id="4" name="Text 1"/>
          <p:cNvSpPr/>
          <p:nvPr/>
        </p:nvSpPr>
        <p:spPr>
          <a:xfrm>
            <a:off x="607219" y="1087524"/>
            <a:ext cx="7886700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kern="0" spc="1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STACK MANIPULATION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07219" y="1426852"/>
            <a:ext cx="7886700" cy="2875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7600"/>
              </a:lnSpc>
              <a:buNone/>
            </a:pPr>
            <a:r>
              <a:rPr lang="en-US" sz="16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 ( x[1] -- x[1] x[1] )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607219" y="1828744"/>
            <a:ext cx="7886700" cy="2875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7600"/>
              </a:lnSpc>
              <a:buNone/>
            </a:pPr>
            <a:r>
              <a:rPr lang="en-US" sz="16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 ( x -- )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607219" y="2230636"/>
            <a:ext cx="7886700" cy="2875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7600"/>
              </a:lnSpc>
              <a:buNone/>
            </a:pPr>
            <a:r>
              <a:rPr lang="en-US" sz="16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SWAP ( x[2] x[1] -- x[1] x[2] )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607219" y="2632528"/>
            <a:ext cx="7886700" cy="2875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7600"/>
              </a:lnSpc>
              <a:buNone/>
            </a:pPr>
            <a:r>
              <a:rPr lang="en-US" sz="16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 ( x[3] x[2] x[1] -- x[2] x[1] x[3] )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607219" y="3034419"/>
            <a:ext cx="7886700" cy="2875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7600"/>
              </a:lnSpc>
              <a:buNone/>
            </a:pPr>
            <a:r>
              <a:rPr lang="en-US" sz="16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 ( x[2] x[1] -- x[2] x[1] x[2] )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607219" y="3600617"/>
            <a:ext cx="7886700" cy="2678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declaration states the </a:t>
            </a:r>
            <a:r>
              <a:rPr lang="en-US" sz="1500" b="1" dirty="0">
                <a:solidFill>
                  <a:srgbClr val="003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suffix</a:t>
            </a:r>
            <a:r>
              <a:rPr lang="en-US" sz="16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r>
              <a:rPr lang="en-US" sz="1500" b="1" dirty="0">
                <a:solidFill>
                  <a:srgbClr val="003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resulting suffix</a:t>
            </a:r>
            <a:r>
              <a:rPr lang="en-US" sz="16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data stack.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435987" y="4997053"/>
            <a:ext cx="57931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7219" y="321469"/>
            <a:ext cx="7886700" cy="4011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3200"/>
              </a:lnSpc>
              <a:buNone/>
            </a:pPr>
            <a:r>
              <a:rPr lang="en-US" sz="2950" dirty="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Example: precise type propagation</a:t>
            </a:r>
            <a:endParaRPr lang="en-US" sz="2950" dirty="0"/>
          </a:p>
        </p:txBody>
      </p:sp>
      <p:sp>
        <p:nvSpPr>
          <p:cNvPr id="4" name="Text 1"/>
          <p:cNvSpPr/>
          <p:nvPr/>
        </p:nvSpPr>
        <p:spPr>
          <a:xfrm>
            <a:off x="607219" y="915516"/>
            <a:ext cx="7886700" cy="1678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b="1" kern="0" spc="1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AND PREDICATE OPERATIONS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607219" y="1154832"/>
            <a:ext cx="7886700" cy="2423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3600"/>
              </a:lnSpc>
              <a:buNone/>
            </a:pPr>
            <a:r>
              <a:rPr lang="en-US" sz="14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PLUS ( x[1] x[1] -- x[1] ) “same type”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607219" y="1468655"/>
            <a:ext cx="7886700" cy="2423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3600"/>
              </a:lnSpc>
              <a:buNone/>
            </a:pPr>
            <a:r>
              <a:rPr lang="en-US" sz="14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( x x -- x )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07219" y="1782477"/>
            <a:ext cx="7886700" cy="2423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3600"/>
              </a:lnSpc>
              <a:buNone/>
            </a:pPr>
            <a:r>
              <a:rPr lang="en-US" sz="14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0= ( n -- flag )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07219" y="2217744"/>
            <a:ext cx="7886700" cy="1678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b="1" kern="0" spc="1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AND MEMORY OPERATIONS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07219" y="2457059"/>
            <a:ext cx="7886700" cy="2423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3600"/>
              </a:lnSpc>
              <a:buNone/>
            </a:pPr>
            <a:r>
              <a:rPr lang="en-US" sz="14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DP ( -- a-addr )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07219" y="2770882"/>
            <a:ext cx="7886700" cy="2423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3600"/>
              </a:lnSpc>
              <a:buNone/>
            </a:pPr>
            <a:r>
              <a:rPr lang="en-US" sz="14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 ( a-addr -- x 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07219" y="3084705"/>
            <a:ext cx="7886700" cy="2423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3600"/>
              </a:lnSpc>
              <a:buNone/>
            </a:pPr>
            <a:r>
              <a:rPr lang="en-US" sz="14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( x a-addr -- 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07219" y="3398527"/>
            <a:ext cx="7886700" cy="2423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3600"/>
              </a:lnSpc>
              <a:buNone/>
            </a:pPr>
            <a:r>
              <a:rPr lang="en-US" sz="14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C@ ( c-addr -- char )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07219" y="3712350"/>
            <a:ext cx="7886700" cy="2423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3600"/>
              </a:lnSpc>
              <a:buNone/>
            </a:pPr>
            <a:r>
              <a:rPr lang="en-US" sz="14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C! ( char c-addr -- )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07219" y="4133329"/>
            <a:ext cx="7886700" cy="2614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7600"/>
              </a:lnSpc>
              <a:buNone/>
            </a:pPr>
            <a:r>
              <a:rPr lang="en-US" sz="16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composition succeeds when adjacent effects have </a:t>
            </a:r>
            <a:r>
              <a:rPr lang="en-US" sz="1500" b="1" dirty="0">
                <a:solidFill>
                  <a:srgbClr val="003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compatible touching suffixes</a:t>
            </a:r>
            <a:r>
              <a:rPr lang="en-US" sz="16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435987" y="4997053"/>
            <a:ext cx="57931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7219" y="307181"/>
            <a:ext cx="7886700" cy="3788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3200"/>
              </a:lnSpc>
              <a:buNone/>
            </a:pPr>
            <a:r>
              <a:rPr lang="en-US" sz="2750" dirty="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Branches meet at one contract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607219" y="843242"/>
            <a:ext cx="78867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kern="0" spc="1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GREATEST LOWER BOUND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07219" y="1057554"/>
            <a:ext cx="7886700" cy="21916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3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⊓ 0 = 0 r ⊓ s = s ⊓ r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07219" y="1326728"/>
            <a:ext cx="7886700" cy="21916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3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inputs choose subtype; outputs choose supertype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07219" y="1595903"/>
            <a:ext cx="7886700" cy="21916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3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identities survive only when both paths agree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07219" y="1907939"/>
            <a:ext cx="7886700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7600"/>
              </a:lnSpc>
              <a:buNone/>
            </a:pPr>
            <a:r>
              <a:rPr lang="en-US" sz="13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Implicit deep prefixes align; incomparable positions yield zero.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07219" y="2247267"/>
            <a:ext cx="7886700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b="1" kern="0" spc="1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SL2008 EXAMPLE: test1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07219" y="2436577"/>
            <a:ext cx="788670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9600"/>
              </a:lnSpc>
              <a:buNone/>
            </a:pPr>
            <a:r>
              <a:rPr lang="en-US" sz="12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test1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07219" y="2650889"/>
            <a:ext cx="7886700" cy="200025"/>
          </a:xfrm>
          <a:prstGeom prst="rect">
            <a:avLst/>
          </a:prstGeom>
          <a:noFill/>
          <a:ln/>
        </p:spPr>
        <p:txBody>
          <a:bodyPr wrap="none" lIns="340233" tIns="0" rIns="0" bIns="0" rtlCol="0" anchor="t">
            <a:spAutoFit/>
          </a:bodyPr>
          <a:lstStyle/>
          <a:p>
            <a:pPr marL="0" indent="0" algn="l">
              <a:lnSpc>
                <a:spcPct val="89600"/>
              </a:lnSpc>
              <a:buNone/>
            </a:pPr>
            <a:r>
              <a:rPr lang="en-US" sz="12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07219" y="2865202"/>
            <a:ext cx="7886700" cy="200025"/>
          </a:xfrm>
          <a:prstGeom prst="rect">
            <a:avLst/>
          </a:prstGeom>
          <a:noFill/>
          <a:ln/>
        </p:spPr>
        <p:txBody>
          <a:bodyPr wrap="none" lIns="340233" tIns="0" rIns="0" bIns="0" rtlCol="0" anchor="t">
            <a:spAutoFit/>
          </a:bodyPr>
          <a:lstStyle/>
          <a:p>
            <a:pPr marL="0" indent="0" algn="l">
              <a:lnSpc>
                <a:spcPct val="89600"/>
              </a:lnSpc>
              <a:buNone/>
            </a:pPr>
            <a:r>
              <a:rPr lang="en-US" sz="12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07219" y="3079514"/>
            <a:ext cx="7886700" cy="200025"/>
          </a:xfrm>
          <a:prstGeom prst="rect">
            <a:avLst/>
          </a:prstGeom>
          <a:noFill/>
          <a:ln/>
        </p:spPr>
        <p:txBody>
          <a:bodyPr wrap="none" lIns="340233" tIns="0" rIns="0" bIns="0" rtlCol="0" anchor="t">
            <a:spAutoFit/>
          </a:bodyPr>
          <a:lstStyle/>
          <a:p>
            <a:pPr marL="0" indent="0" algn="l">
              <a:lnSpc>
                <a:spcPct val="89600"/>
              </a:lnSpc>
              <a:buNone/>
            </a:pPr>
            <a:r>
              <a:rPr lang="en-US" sz="12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07219" y="3293827"/>
            <a:ext cx="7886700" cy="200025"/>
          </a:xfrm>
          <a:prstGeom prst="rect">
            <a:avLst/>
          </a:prstGeom>
          <a:noFill/>
          <a:ln/>
        </p:spPr>
        <p:txBody>
          <a:bodyPr wrap="none" lIns="340233" tIns="0" rIns="0" bIns="0" rtlCol="0" anchor="t">
            <a:spAutoFit/>
          </a:bodyPr>
          <a:lstStyle/>
          <a:p>
            <a:pPr marL="0" indent="0" algn="l">
              <a:lnSpc>
                <a:spcPct val="89600"/>
              </a:lnSpc>
              <a:buNone/>
            </a:pPr>
            <a:r>
              <a:rPr lang="en-US" sz="12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07219" y="3508139"/>
            <a:ext cx="7886700" cy="200025"/>
          </a:xfrm>
          <a:prstGeom prst="rect">
            <a:avLst/>
          </a:prstGeom>
          <a:noFill/>
          <a:ln/>
        </p:spPr>
        <p:txBody>
          <a:bodyPr wrap="none" lIns="340233" tIns="0" rIns="0" bIns="0" rtlCol="0" anchor="t">
            <a:spAutoFit/>
          </a:bodyPr>
          <a:lstStyle/>
          <a:p>
            <a:pPr marL="0" indent="0" algn="l">
              <a:lnSpc>
                <a:spcPct val="89600"/>
              </a:lnSpc>
              <a:buNone/>
            </a:pPr>
            <a:r>
              <a:rPr lang="en-US" sz="12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 ;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07219" y="3751027"/>
            <a:ext cx="7886700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 x a-addr flag -- x x x)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8435987" y="4997053"/>
            <a:ext cx="57931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7219" y="307181"/>
            <a:ext cx="7886700" cy="3863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3200"/>
              </a:lnSpc>
              <a:buNone/>
            </a:pPr>
            <a:r>
              <a:rPr lang="en-US" sz="2800" dirty="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Loops use a one-versus-two test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607219" y="814946"/>
            <a:ext cx="7886700" cy="24400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7600"/>
              </a:lnSpc>
              <a:buNone/>
            </a:pPr>
            <a:r>
              <a:rPr lang="en-US" sz="15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may execute many times; a checker needs a stable stack interface across iterations.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607219" y="1180393"/>
            <a:ext cx="78867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kern="0" spc="1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INVARIANT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07219" y="1387562"/>
            <a:ext cx="7886700" cy="32029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9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Π* s = s ⊓ (s · s)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607219" y="1779296"/>
            <a:ext cx="7358063" cy="2333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800"/>
              </a:lnSpc>
              <a:buNone/>
            </a:pPr>
            <a:r>
              <a:rPr lang="en-US" sz="145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an </a:t>
            </a:r>
            <a:r>
              <a:rPr lang="en-US" sz="1350" b="1" dirty="0">
                <a:solidFill>
                  <a:srgbClr val="003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element</a:t>
            </a:r>
            <a:r>
              <a:rPr lang="en-US" sz="145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most precisely describes the loop body </a:t>
            </a:r>
            <a:r>
              <a:rPr lang="en-US" sz="1350" b="1" dirty="0">
                <a:solidFill>
                  <a:srgbClr val="003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r>
              <a:rPr lang="en-US" sz="145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07219" y="2105509"/>
            <a:ext cx="7886700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kern="0" spc="1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SL2008 EXAMPLE: test2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607219" y="2280531"/>
            <a:ext cx="7886700" cy="1964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test2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07219" y="2484127"/>
            <a:ext cx="7886700" cy="196453"/>
          </a:xfrm>
          <a:prstGeom prst="rect">
            <a:avLst/>
          </a:prstGeom>
          <a:noFill/>
          <a:ln/>
        </p:spPr>
        <p:txBody>
          <a:bodyPr wrap="none" lIns="340233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07219" y="2687724"/>
            <a:ext cx="7886700" cy="196453"/>
          </a:xfrm>
          <a:prstGeom prst="rect">
            <a:avLst/>
          </a:prstGeom>
          <a:noFill/>
          <a:ln/>
        </p:spPr>
        <p:txBody>
          <a:bodyPr wrap="none" lIns="340233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SWAP OVER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07219" y="2891321"/>
            <a:ext cx="7886700" cy="196453"/>
          </a:xfrm>
          <a:prstGeom prst="rect">
            <a:avLst/>
          </a:prstGeom>
          <a:noFill/>
          <a:ln/>
        </p:spPr>
        <p:txBody>
          <a:bodyPr wrap="none" lIns="340233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07219" y="3094918"/>
            <a:ext cx="7886700" cy="196453"/>
          </a:xfrm>
          <a:prstGeom prst="rect">
            <a:avLst/>
          </a:prstGeom>
          <a:noFill/>
          <a:ln/>
        </p:spPr>
        <p:txBody>
          <a:bodyPr wrap="none" lIns="340233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INVERT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07219" y="3298515"/>
            <a:ext cx="7886700" cy="196453"/>
          </a:xfrm>
          <a:prstGeom prst="rect">
            <a:avLst/>
          </a:prstGeom>
          <a:noFill/>
          <a:ln/>
        </p:spPr>
        <p:txBody>
          <a:bodyPr wrap="none" lIns="340233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 ;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07219" y="3552118"/>
            <a:ext cx="7886700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(flag flag -- flag flag)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378056" y="4997053"/>
            <a:ext cx="115863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7219" y="350044"/>
            <a:ext cx="3972370" cy="35317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4000"/>
              </a:lnSpc>
              <a:buNone/>
            </a:pPr>
            <a:r>
              <a:rPr lang="en-US" sz="2700" dirty="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native</a:t>
            </a:r>
            <a:r>
              <a:rPr lang="et-EE" sz="2700" dirty="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(</a:t>
            </a:r>
            <a:r>
              <a:rPr lang="et-EE" sz="2700" dirty="0" err="1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gforth</a:t>
            </a:r>
            <a:r>
              <a:rPr lang="et-EE" sz="270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)</a:t>
            </a:r>
            <a:r>
              <a:rPr lang="en-US" sz="270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evaluator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07219" y="1032272"/>
            <a:ext cx="788670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kern="0" spc="1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PROFILES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07219" y="1268016"/>
            <a:ext cx="78867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type hierarchies and primitive stack effects as data.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607219" y="1732359"/>
            <a:ext cx="788670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kern="0" spc="1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PARSER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07219" y="1968103"/>
            <a:ext cx="78867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the outer interpreter, definitions, and control words.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7219" y="2432447"/>
            <a:ext cx="788670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kern="0" spc="1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OPERATORS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7219" y="2700338"/>
            <a:ext cx="192055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ev-spec-multiply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527771" y="2696766"/>
            <a:ext cx="10871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2636490" y="2700338"/>
            <a:ext cx="13204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ev-spec-glb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956912" y="2696766"/>
            <a:ext cx="51010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467020" y="2700338"/>
            <a:ext cx="168051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ev-spec-pistar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47532" y="2696766"/>
            <a:ext cx="5770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07219" y="3132534"/>
            <a:ext cx="788670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kern="0" spc="1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07219" y="3368278"/>
            <a:ext cx="78867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parsed bodies bottom-up to infer their stack effects.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07219" y="3957638"/>
            <a:ext cx="2451646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03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implementation: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3058864" y="3939778"/>
            <a:ext cx="2769375" cy="275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gforth-evaluator.fs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378056" y="4997053"/>
            <a:ext cx="115863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7219" y="364331"/>
            <a:ext cx="7886700" cy="4160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3200"/>
              </a:lnSpc>
              <a:buNone/>
            </a:pPr>
            <a:r>
              <a:rPr lang="en-US" sz="3050" kern="0" spc="-1" dirty="0">
                <a:solidFill>
                  <a:srgbClr val="003A7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Summary</a:t>
            </a:r>
            <a:endParaRPr lang="en-US" sz="3050" dirty="0"/>
          </a:p>
        </p:txBody>
      </p:sp>
      <p:sp>
        <p:nvSpPr>
          <p:cNvPr id="4" name="Text 1"/>
          <p:cNvSpPr/>
          <p:nvPr/>
        </p:nvSpPr>
        <p:spPr>
          <a:xfrm>
            <a:off x="607219" y="1208968"/>
            <a:ext cx="7886700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kern="0" spc="1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07219" y="1544724"/>
            <a:ext cx="7886700" cy="3157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Effect Calculus, indexed wildcards, and greatest lower bound.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07219" y="2181913"/>
            <a:ext cx="7886700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kern="0" spc="1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CONFIGURABILITY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07219" y="2517670"/>
            <a:ext cx="7886700" cy="3157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profiles define types, primitive effects, and control structures.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07219" y="3154859"/>
            <a:ext cx="7886700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kern="0" spc="1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07219" y="3540621"/>
            <a:ext cx="3783620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configurable native Gforth analyzer (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390839" y="3508474"/>
            <a:ext cx="2932286" cy="29289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003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gforth-evaluator.fs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323125" y="3540621"/>
            <a:ext cx="135006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07219" y="4146389"/>
            <a:ext cx="7886700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kern="0" spc="1" dirty="0">
                <a:solidFill>
                  <a:srgbClr val="00A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07219" y="4482145"/>
            <a:ext cx="7886700" cy="3157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2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effects and fixed-point loop invariants.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778106" y="4832747"/>
            <a:ext cx="115863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806</Words>
  <Application>Microsoft Office PowerPoint</Application>
  <PresentationFormat>On-screen Show (16:9)</PresentationFormat>
  <Paragraphs>137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Courier New</vt:lpstr>
      <vt:lpstr>monospace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Jaanus Pöial</cp:lastModifiedBy>
  <cp:revision>2</cp:revision>
  <dcterms:created xsi:type="dcterms:W3CDTF">2026-08-27T14:01:56Z</dcterms:created>
  <dcterms:modified xsi:type="dcterms:W3CDTF">2026-08-28T05:22:24Z</dcterms:modified>
</cp:coreProperties>
</file>
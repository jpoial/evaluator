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74" r:id="rId3"/>
    <p:sldId id="280" r:id="rId4"/>
    <p:sldId id="275" r:id="rId5"/>
    <p:sldId id="261" r:id="rId6"/>
    <p:sldId id="279" r:id="rId7"/>
    <p:sldId id="276" r:id="rId8"/>
    <p:sldId id="277" r:id="rId9"/>
    <p:sldId id="278" r:id="rId10"/>
    <p:sldId id="281" r:id="rId11"/>
    <p:sldId id="260" r:id="rId12"/>
    <p:sldId id="259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9" r:id="rId21"/>
    <p:sldId id="290" r:id="rId22"/>
    <p:sldId id="291" r:id="rId23"/>
    <p:sldId id="272" r:id="rId24"/>
    <p:sldId id="273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6" d="100"/>
          <a:sy n="116" d="100"/>
        </p:scale>
        <p:origin x="114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707E02-9F28-40AF-A920-DB7FEE660A03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F1848E9-E696-4BA0-943E-82189995C2C5}">
      <dgm:prSet/>
      <dgm:spPr/>
      <dgm:t>
        <a:bodyPr/>
        <a:lstStyle/>
        <a:p>
          <a:r>
            <a:rPr lang="et-EE"/>
            <a:t>: test1  ( -- value ) 3 4 5 - + ;</a:t>
          </a:r>
          <a:endParaRPr lang="en-US"/>
        </a:p>
      </dgm:t>
    </dgm:pt>
    <dgm:pt modelId="{81852E8F-76B7-46DC-8D1E-76458671126C}" type="parTrans" cxnId="{D50C0071-9096-4787-BB6A-5C8622D681AD}">
      <dgm:prSet/>
      <dgm:spPr/>
      <dgm:t>
        <a:bodyPr/>
        <a:lstStyle/>
        <a:p>
          <a:endParaRPr lang="en-US"/>
        </a:p>
      </dgm:t>
    </dgm:pt>
    <dgm:pt modelId="{B00B3F2A-5881-47C7-8B21-CBAB3B354CC0}" type="sibTrans" cxnId="{D50C0071-9096-4787-BB6A-5C8622D681AD}">
      <dgm:prSet/>
      <dgm:spPr/>
      <dgm:t>
        <a:bodyPr/>
        <a:lstStyle/>
        <a:p>
          <a:endParaRPr lang="en-US"/>
        </a:p>
      </dgm:t>
    </dgm:pt>
    <dgm:pt modelId="{F1556B7A-9108-4095-96EE-D154C1621FD7}" type="pres">
      <dgm:prSet presAssocID="{AC707E02-9F28-40AF-A920-DB7FEE660A03}" presName="linear" presStyleCnt="0">
        <dgm:presLayoutVars>
          <dgm:animLvl val="lvl"/>
          <dgm:resizeHandles val="exact"/>
        </dgm:presLayoutVars>
      </dgm:prSet>
      <dgm:spPr/>
    </dgm:pt>
    <dgm:pt modelId="{EC3F1361-629F-4CCE-9FCC-C3A16280FE9F}" type="pres">
      <dgm:prSet presAssocID="{1F1848E9-E696-4BA0-943E-82189995C2C5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D50C0071-9096-4787-BB6A-5C8622D681AD}" srcId="{AC707E02-9F28-40AF-A920-DB7FEE660A03}" destId="{1F1848E9-E696-4BA0-943E-82189995C2C5}" srcOrd="0" destOrd="0" parTransId="{81852E8F-76B7-46DC-8D1E-76458671126C}" sibTransId="{B00B3F2A-5881-47C7-8B21-CBAB3B354CC0}"/>
    <dgm:cxn modelId="{68B37F78-8C03-4214-ABF0-DA7F024EC5DB}" type="presOf" srcId="{AC707E02-9F28-40AF-A920-DB7FEE660A03}" destId="{F1556B7A-9108-4095-96EE-D154C1621FD7}" srcOrd="0" destOrd="0" presId="urn:microsoft.com/office/officeart/2005/8/layout/vList2"/>
    <dgm:cxn modelId="{3D658BA6-ED5E-46A8-8A91-6DDF24FE2F21}" type="presOf" srcId="{1F1848E9-E696-4BA0-943E-82189995C2C5}" destId="{EC3F1361-629F-4CCE-9FCC-C3A16280FE9F}" srcOrd="0" destOrd="0" presId="urn:microsoft.com/office/officeart/2005/8/layout/vList2"/>
    <dgm:cxn modelId="{72CB9A56-1B4A-4030-891A-33C33118E7B7}" type="presParOf" srcId="{F1556B7A-9108-4095-96EE-D154C1621FD7}" destId="{EC3F1361-629F-4CCE-9FCC-C3A16280FE9F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36E4803-2913-4563-BBE8-AFE966F1A053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24C0312-D61C-4F01-A601-1CAF8821E7C3}">
      <dgm:prSet/>
      <dgm:spPr/>
      <dgm:t>
        <a:bodyPr/>
        <a:lstStyle/>
        <a:p>
          <a:r>
            <a:rPr lang="et-EE"/>
            <a:t>: test2  ( fl1 fl2 -- FALSE flor ) </a:t>
          </a:r>
          <a:br>
            <a:rPr lang="et-EE"/>
          </a:br>
          <a:r>
            <a:rPr lang="et-EE"/>
            <a:t>    OR FALSE SWAP ;</a:t>
          </a:r>
          <a:endParaRPr lang="en-US"/>
        </a:p>
      </dgm:t>
    </dgm:pt>
    <dgm:pt modelId="{289D55E9-037D-4A87-92CA-36246E2EE598}" type="parTrans" cxnId="{1E25C982-283C-4BBC-AD10-CED20793FCC5}">
      <dgm:prSet/>
      <dgm:spPr/>
      <dgm:t>
        <a:bodyPr/>
        <a:lstStyle/>
        <a:p>
          <a:endParaRPr lang="en-US"/>
        </a:p>
      </dgm:t>
    </dgm:pt>
    <dgm:pt modelId="{27856DD2-64D1-4419-9262-F3F085BFD597}" type="sibTrans" cxnId="{1E25C982-283C-4BBC-AD10-CED20793FCC5}">
      <dgm:prSet/>
      <dgm:spPr/>
      <dgm:t>
        <a:bodyPr/>
        <a:lstStyle/>
        <a:p>
          <a:endParaRPr lang="en-US"/>
        </a:p>
      </dgm:t>
    </dgm:pt>
    <dgm:pt modelId="{026D1B5F-89CC-4C37-807B-F07591ED0719}" type="pres">
      <dgm:prSet presAssocID="{736E4803-2913-4563-BBE8-AFE966F1A053}" presName="linear" presStyleCnt="0">
        <dgm:presLayoutVars>
          <dgm:animLvl val="lvl"/>
          <dgm:resizeHandles val="exact"/>
        </dgm:presLayoutVars>
      </dgm:prSet>
      <dgm:spPr/>
    </dgm:pt>
    <dgm:pt modelId="{61DB85DD-EDC8-41A5-98E5-76BD02A5F759}" type="pres">
      <dgm:prSet presAssocID="{124C0312-D61C-4F01-A601-1CAF8821E7C3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F735074E-5D28-4380-B678-2F39F367FF0D}" type="presOf" srcId="{736E4803-2913-4563-BBE8-AFE966F1A053}" destId="{026D1B5F-89CC-4C37-807B-F07591ED0719}" srcOrd="0" destOrd="0" presId="urn:microsoft.com/office/officeart/2005/8/layout/vList2"/>
    <dgm:cxn modelId="{1E25C982-283C-4BBC-AD10-CED20793FCC5}" srcId="{736E4803-2913-4563-BBE8-AFE966F1A053}" destId="{124C0312-D61C-4F01-A601-1CAF8821E7C3}" srcOrd="0" destOrd="0" parTransId="{289D55E9-037D-4A87-92CA-36246E2EE598}" sibTransId="{27856DD2-64D1-4419-9262-F3F085BFD597}"/>
    <dgm:cxn modelId="{B8F4BFFF-6656-493E-BE0E-5BC93A7064F9}" type="presOf" srcId="{124C0312-D61C-4F01-A601-1CAF8821E7C3}" destId="{61DB85DD-EDC8-41A5-98E5-76BD02A5F759}" srcOrd="0" destOrd="0" presId="urn:microsoft.com/office/officeart/2005/8/layout/vList2"/>
    <dgm:cxn modelId="{AB5DF4B2-2AAA-4626-A508-DBCA573405BE}" type="presParOf" srcId="{026D1B5F-89CC-4C37-807B-F07591ED0719}" destId="{61DB85DD-EDC8-41A5-98E5-76BD02A5F759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66AD264-ACEF-4BBF-A4BC-9A12523BC72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E4F760A-AFB8-485D-9D8F-CDB4261A083C}">
      <dgm:prSet/>
      <dgm:spPr/>
      <dgm:t>
        <a:bodyPr/>
        <a:lstStyle/>
        <a:p>
          <a:r>
            <a:rPr lang="et-EE"/>
            <a:t>: test3  ( addr X -- X addr value ) </a:t>
          </a:r>
          <a:br>
            <a:rPr lang="et-EE"/>
          </a:br>
          <a:r>
            <a:rPr lang="et-EE"/>
            <a:t>    SWAP DUP @ ;</a:t>
          </a:r>
          <a:endParaRPr lang="en-US"/>
        </a:p>
      </dgm:t>
    </dgm:pt>
    <dgm:pt modelId="{4E27B159-7860-4675-896F-BB863C67F459}" type="parTrans" cxnId="{755543E2-8B42-41DE-81C5-9663470B32CF}">
      <dgm:prSet/>
      <dgm:spPr/>
      <dgm:t>
        <a:bodyPr/>
        <a:lstStyle/>
        <a:p>
          <a:endParaRPr lang="en-US"/>
        </a:p>
      </dgm:t>
    </dgm:pt>
    <dgm:pt modelId="{5D1F5DFB-4F99-49DB-B811-E838EB4E309B}" type="sibTrans" cxnId="{755543E2-8B42-41DE-81C5-9663470B32CF}">
      <dgm:prSet/>
      <dgm:spPr/>
      <dgm:t>
        <a:bodyPr/>
        <a:lstStyle/>
        <a:p>
          <a:endParaRPr lang="en-US"/>
        </a:p>
      </dgm:t>
    </dgm:pt>
    <dgm:pt modelId="{9F87BCA6-9212-4B03-A7AE-74D149B1F2D5}" type="pres">
      <dgm:prSet presAssocID="{366AD264-ACEF-4BBF-A4BC-9A12523BC72C}" presName="linear" presStyleCnt="0">
        <dgm:presLayoutVars>
          <dgm:animLvl val="lvl"/>
          <dgm:resizeHandles val="exact"/>
        </dgm:presLayoutVars>
      </dgm:prSet>
      <dgm:spPr/>
    </dgm:pt>
    <dgm:pt modelId="{BE26FFC3-B5E0-426B-8028-4C4338B2B420}" type="pres">
      <dgm:prSet presAssocID="{7E4F760A-AFB8-485D-9D8F-CDB4261A083C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B8A59E16-B213-4DAD-83C3-429A0EEAFBEE}" type="presOf" srcId="{7E4F760A-AFB8-485D-9D8F-CDB4261A083C}" destId="{BE26FFC3-B5E0-426B-8028-4C4338B2B420}" srcOrd="0" destOrd="0" presId="urn:microsoft.com/office/officeart/2005/8/layout/vList2"/>
    <dgm:cxn modelId="{003AFB32-A9F1-4674-BD20-5496A272662D}" type="presOf" srcId="{366AD264-ACEF-4BBF-A4BC-9A12523BC72C}" destId="{9F87BCA6-9212-4B03-A7AE-74D149B1F2D5}" srcOrd="0" destOrd="0" presId="urn:microsoft.com/office/officeart/2005/8/layout/vList2"/>
    <dgm:cxn modelId="{755543E2-8B42-41DE-81C5-9663470B32CF}" srcId="{366AD264-ACEF-4BBF-A4BC-9A12523BC72C}" destId="{7E4F760A-AFB8-485D-9D8F-CDB4261A083C}" srcOrd="0" destOrd="0" parTransId="{4E27B159-7860-4675-896F-BB863C67F459}" sibTransId="{5D1F5DFB-4F99-49DB-B811-E838EB4E309B}"/>
    <dgm:cxn modelId="{04B3732C-4F04-4CB0-8ADC-C5AB85375B9D}" type="presParOf" srcId="{9F87BCA6-9212-4B03-A7AE-74D149B1F2D5}" destId="{BE26FFC3-B5E0-426B-8028-4C4338B2B420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2AEB4AE-F8B9-4A4E-8554-0E9A5B76D8F1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5A3258E-AA8E-4363-98F1-3660602BCA81}">
      <dgm:prSet/>
      <dgm:spPr/>
      <dgm:t>
        <a:bodyPr/>
        <a:lstStyle/>
        <a:p>
          <a:r>
            <a:rPr lang="et-EE"/>
            <a:t>: test4  (  n incr -- n1  ) </a:t>
          </a:r>
          <a:br>
            <a:rPr lang="et-EE"/>
          </a:br>
          <a:r>
            <a:rPr lang="et-EE"/>
            <a:t>    IF 1 + FI ;</a:t>
          </a:r>
          <a:endParaRPr lang="en-US"/>
        </a:p>
      </dgm:t>
    </dgm:pt>
    <dgm:pt modelId="{A65373FD-70BF-41F1-8A88-58D4596A7D85}" type="parTrans" cxnId="{EE46A814-8A7A-4519-8400-7B83F3301718}">
      <dgm:prSet/>
      <dgm:spPr/>
      <dgm:t>
        <a:bodyPr/>
        <a:lstStyle/>
        <a:p>
          <a:endParaRPr lang="en-US"/>
        </a:p>
      </dgm:t>
    </dgm:pt>
    <dgm:pt modelId="{BCD9F7F1-28FD-4B38-9CF6-CE19A1F4EFBD}" type="sibTrans" cxnId="{EE46A814-8A7A-4519-8400-7B83F3301718}">
      <dgm:prSet/>
      <dgm:spPr/>
      <dgm:t>
        <a:bodyPr/>
        <a:lstStyle/>
        <a:p>
          <a:endParaRPr lang="en-US"/>
        </a:p>
      </dgm:t>
    </dgm:pt>
    <dgm:pt modelId="{FC832D8D-62D5-43B5-B52B-C56C2F9D6E56}" type="pres">
      <dgm:prSet presAssocID="{F2AEB4AE-F8B9-4A4E-8554-0E9A5B76D8F1}" presName="linear" presStyleCnt="0">
        <dgm:presLayoutVars>
          <dgm:animLvl val="lvl"/>
          <dgm:resizeHandles val="exact"/>
        </dgm:presLayoutVars>
      </dgm:prSet>
      <dgm:spPr/>
    </dgm:pt>
    <dgm:pt modelId="{EA7AB3F0-5DF4-4EC6-A79F-922033271C18}" type="pres">
      <dgm:prSet presAssocID="{45A3258E-AA8E-4363-98F1-3660602BCA81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EE46A814-8A7A-4519-8400-7B83F3301718}" srcId="{F2AEB4AE-F8B9-4A4E-8554-0E9A5B76D8F1}" destId="{45A3258E-AA8E-4363-98F1-3660602BCA81}" srcOrd="0" destOrd="0" parTransId="{A65373FD-70BF-41F1-8A88-58D4596A7D85}" sibTransId="{BCD9F7F1-28FD-4B38-9CF6-CE19A1F4EFBD}"/>
    <dgm:cxn modelId="{F6B3A75D-E07D-4F1E-8C1A-C125A9EA0730}" type="presOf" srcId="{F2AEB4AE-F8B9-4A4E-8554-0E9A5B76D8F1}" destId="{FC832D8D-62D5-43B5-B52B-C56C2F9D6E56}" srcOrd="0" destOrd="0" presId="urn:microsoft.com/office/officeart/2005/8/layout/vList2"/>
    <dgm:cxn modelId="{A26BECE0-8F6C-432B-A933-7F397A0F297E}" type="presOf" srcId="{45A3258E-AA8E-4363-98F1-3660602BCA81}" destId="{EA7AB3F0-5DF4-4EC6-A79F-922033271C18}" srcOrd="0" destOrd="0" presId="urn:microsoft.com/office/officeart/2005/8/layout/vList2"/>
    <dgm:cxn modelId="{77493633-252B-45C8-A95B-45F7DD3A231D}" type="presParOf" srcId="{FC832D8D-62D5-43B5-B52B-C56C2F9D6E56}" destId="{EA7AB3F0-5DF4-4EC6-A79F-922033271C18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DB2C149-EA8C-4408-BE5C-CE79F245F0B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8D68BC7-52BA-47B6-9C7D-A8F5524463C7}">
      <dgm:prSet/>
      <dgm:spPr/>
      <dgm:t>
        <a:bodyPr/>
        <a:lstStyle/>
        <a:p>
          <a:r>
            <a:rPr lang="et-EE"/>
            <a:t>: test5  ( X1 flag -- X1 X2 ) </a:t>
          </a:r>
          <a:br>
            <a:rPr lang="et-EE"/>
          </a:br>
          <a:r>
            <a:rPr lang="et-EE"/>
            <a:t>    IF DUP ELSE 0 FI ;</a:t>
          </a:r>
          <a:endParaRPr lang="en-US"/>
        </a:p>
      </dgm:t>
    </dgm:pt>
    <dgm:pt modelId="{9A094E08-8EEF-41A8-854F-FD6A28311CE1}" type="parTrans" cxnId="{688FDE45-5406-40AC-9100-82C5E809EF0B}">
      <dgm:prSet/>
      <dgm:spPr/>
      <dgm:t>
        <a:bodyPr/>
        <a:lstStyle/>
        <a:p>
          <a:endParaRPr lang="en-US"/>
        </a:p>
      </dgm:t>
    </dgm:pt>
    <dgm:pt modelId="{3ECBD71C-1A6C-4B71-B795-18717AA283CE}" type="sibTrans" cxnId="{688FDE45-5406-40AC-9100-82C5E809EF0B}">
      <dgm:prSet/>
      <dgm:spPr/>
      <dgm:t>
        <a:bodyPr/>
        <a:lstStyle/>
        <a:p>
          <a:endParaRPr lang="en-US"/>
        </a:p>
      </dgm:t>
    </dgm:pt>
    <dgm:pt modelId="{55556816-A805-4FA7-BF93-18FE48E26E3D}" type="pres">
      <dgm:prSet presAssocID="{8DB2C149-EA8C-4408-BE5C-CE79F245F0B4}" presName="linear" presStyleCnt="0">
        <dgm:presLayoutVars>
          <dgm:animLvl val="lvl"/>
          <dgm:resizeHandles val="exact"/>
        </dgm:presLayoutVars>
      </dgm:prSet>
      <dgm:spPr/>
    </dgm:pt>
    <dgm:pt modelId="{BED654CB-514C-4488-AD8A-4D6FA40835F4}" type="pres">
      <dgm:prSet presAssocID="{78D68BC7-52BA-47B6-9C7D-A8F5524463C7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688FDE45-5406-40AC-9100-82C5E809EF0B}" srcId="{8DB2C149-EA8C-4408-BE5C-CE79F245F0B4}" destId="{78D68BC7-52BA-47B6-9C7D-A8F5524463C7}" srcOrd="0" destOrd="0" parTransId="{9A094E08-8EEF-41A8-854F-FD6A28311CE1}" sibTransId="{3ECBD71C-1A6C-4B71-B795-18717AA283CE}"/>
    <dgm:cxn modelId="{DE452491-A006-4298-B518-9A89AB98A938}" type="presOf" srcId="{78D68BC7-52BA-47B6-9C7D-A8F5524463C7}" destId="{BED654CB-514C-4488-AD8A-4D6FA40835F4}" srcOrd="0" destOrd="0" presId="urn:microsoft.com/office/officeart/2005/8/layout/vList2"/>
    <dgm:cxn modelId="{2D0553CC-3AFB-4C45-98F4-9EF5230633CF}" type="presOf" srcId="{8DB2C149-EA8C-4408-BE5C-CE79F245F0B4}" destId="{55556816-A805-4FA7-BF93-18FE48E26E3D}" srcOrd="0" destOrd="0" presId="urn:microsoft.com/office/officeart/2005/8/layout/vList2"/>
    <dgm:cxn modelId="{8AB003BF-6435-4B70-98AC-EBF75B371397}" type="presParOf" srcId="{55556816-A805-4FA7-BF93-18FE48E26E3D}" destId="{BED654CB-514C-4488-AD8A-4D6FA40835F4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8F5FE09-F3E7-4F96-A810-6B88910759AA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C6700A2-F3BE-436F-B180-324145761D76}">
      <dgm:prSet/>
      <dgm:spPr/>
      <dgm:t>
        <a:bodyPr/>
        <a:lstStyle/>
        <a:p>
          <a:r>
            <a:rPr lang="et-EE"/>
            <a:t>: test6  ( X2 X1 ad fl -- X3 X4 X5 ) </a:t>
          </a:r>
          <a:br>
            <a:rPr lang="et-EE"/>
          </a:br>
          <a:r>
            <a:rPr lang="et-EE"/>
            <a:t>    IF ROT ELSE @ FI ;</a:t>
          </a:r>
          <a:endParaRPr lang="en-US"/>
        </a:p>
      </dgm:t>
    </dgm:pt>
    <dgm:pt modelId="{D02F1803-EB18-435B-9B3C-2A4765FE7690}" type="parTrans" cxnId="{65919440-3A61-41C3-8142-19C2ACAD73E0}">
      <dgm:prSet/>
      <dgm:spPr/>
      <dgm:t>
        <a:bodyPr/>
        <a:lstStyle/>
        <a:p>
          <a:endParaRPr lang="en-US"/>
        </a:p>
      </dgm:t>
    </dgm:pt>
    <dgm:pt modelId="{67534D50-025B-4226-BFB3-24484A889A8B}" type="sibTrans" cxnId="{65919440-3A61-41C3-8142-19C2ACAD73E0}">
      <dgm:prSet/>
      <dgm:spPr/>
      <dgm:t>
        <a:bodyPr/>
        <a:lstStyle/>
        <a:p>
          <a:endParaRPr lang="en-US"/>
        </a:p>
      </dgm:t>
    </dgm:pt>
    <dgm:pt modelId="{901BE687-472A-4B30-9A44-7510C9927FA4}" type="pres">
      <dgm:prSet presAssocID="{78F5FE09-F3E7-4F96-A810-6B88910759AA}" presName="linear" presStyleCnt="0">
        <dgm:presLayoutVars>
          <dgm:animLvl val="lvl"/>
          <dgm:resizeHandles val="exact"/>
        </dgm:presLayoutVars>
      </dgm:prSet>
      <dgm:spPr/>
    </dgm:pt>
    <dgm:pt modelId="{CBD1E561-01B0-466C-BB8B-CF6ABE1B3582}" type="pres">
      <dgm:prSet presAssocID="{9C6700A2-F3BE-436F-B180-324145761D76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65919440-3A61-41C3-8142-19C2ACAD73E0}" srcId="{78F5FE09-F3E7-4F96-A810-6B88910759AA}" destId="{9C6700A2-F3BE-436F-B180-324145761D76}" srcOrd="0" destOrd="0" parTransId="{D02F1803-EB18-435B-9B3C-2A4765FE7690}" sibTransId="{67534D50-025B-4226-BFB3-24484A889A8B}"/>
    <dgm:cxn modelId="{EF0D5773-5A76-4F12-AC85-FFF55841523B}" type="presOf" srcId="{9C6700A2-F3BE-436F-B180-324145761D76}" destId="{CBD1E561-01B0-466C-BB8B-CF6ABE1B3582}" srcOrd="0" destOrd="0" presId="urn:microsoft.com/office/officeart/2005/8/layout/vList2"/>
    <dgm:cxn modelId="{4BBB11D7-9F64-4E1B-8C41-6DCC6506438F}" type="presOf" srcId="{78F5FE09-F3E7-4F96-A810-6B88910759AA}" destId="{901BE687-472A-4B30-9A44-7510C9927FA4}" srcOrd="0" destOrd="0" presId="urn:microsoft.com/office/officeart/2005/8/layout/vList2"/>
    <dgm:cxn modelId="{B65BE433-AFDE-4973-809B-A19F7DCCB955}" type="presParOf" srcId="{901BE687-472A-4B30-9A44-7510C9927FA4}" destId="{CBD1E561-01B0-466C-BB8B-CF6ABE1B3582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0517628-7AD2-4F8D-BF6C-5FB9309BF05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1D32040-3ED2-49AD-A8FF-B5643F5EFC63}">
      <dgm:prSet/>
      <dgm:spPr/>
      <dgm:t>
        <a:bodyPr/>
        <a:lstStyle/>
        <a:p>
          <a:r>
            <a:rPr lang="et-EE"/>
            <a:t>: test9  ( ad fl -- X ) </a:t>
          </a:r>
          <a:br>
            <a:rPr lang="et-EE"/>
          </a:br>
          <a:r>
            <a:rPr lang="et-EE"/>
            <a:t>    IF @ ELSE C@ FI ;</a:t>
          </a:r>
          <a:endParaRPr lang="en-US"/>
        </a:p>
      </dgm:t>
    </dgm:pt>
    <dgm:pt modelId="{9BC09049-C1B9-4684-8524-6E1A426AA36A}" type="parTrans" cxnId="{17E9FD88-B07C-4238-B32C-EAFCDABAF382}">
      <dgm:prSet/>
      <dgm:spPr/>
      <dgm:t>
        <a:bodyPr/>
        <a:lstStyle/>
        <a:p>
          <a:endParaRPr lang="en-US"/>
        </a:p>
      </dgm:t>
    </dgm:pt>
    <dgm:pt modelId="{38798F11-1157-4DCF-B30F-6FB6F71D17F4}" type="sibTrans" cxnId="{17E9FD88-B07C-4238-B32C-EAFCDABAF382}">
      <dgm:prSet/>
      <dgm:spPr/>
      <dgm:t>
        <a:bodyPr/>
        <a:lstStyle/>
        <a:p>
          <a:endParaRPr lang="en-US"/>
        </a:p>
      </dgm:t>
    </dgm:pt>
    <dgm:pt modelId="{36AC42C3-3C4F-4D65-A44D-9E858C71AD4A}" type="pres">
      <dgm:prSet presAssocID="{80517628-7AD2-4F8D-BF6C-5FB9309BF05F}" presName="linear" presStyleCnt="0">
        <dgm:presLayoutVars>
          <dgm:animLvl val="lvl"/>
          <dgm:resizeHandles val="exact"/>
        </dgm:presLayoutVars>
      </dgm:prSet>
      <dgm:spPr/>
    </dgm:pt>
    <dgm:pt modelId="{56055F0A-F63C-46EC-81BA-857B864FF17B}" type="pres">
      <dgm:prSet presAssocID="{F1D32040-3ED2-49AD-A8FF-B5643F5EFC63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17E9FD88-B07C-4238-B32C-EAFCDABAF382}" srcId="{80517628-7AD2-4F8D-BF6C-5FB9309BF05F}" destId="{F1D32040-3ED2-49AD-A8FF-B5643F5EFC63}" srcOrd="0" destOrd="0" parTransId="{9BC09049-C1B9-4684-8524-6E1A426AA36A}" sibTransId="{38798F11-1157-4DCF-B30F-6FB6F71D17F4}"/>
    <dgm:cxn modelId="{1C30ECD0-175D-4CED-9405-34D70FC63C23}" type="presOf" srcId="{F1D32040-3ED2-49AD-A8FF-B5643F5EFC63}" destId="{56055F0A-F63C-46EC-81BA-857B864FF17B}" srcOrd="0" destOrd="0" presId="urn:microsoft.com/office/officeart/2005/8/layout/vList2"/>
    <dgm:cxn modelId="{C039BDDB-CF74-402A-A581-36291CB8DC86}" type="presOf" srcId="{80517628-7AD2-4F8D-BF6C-5FB9309BF05F}" destId="{36AC42C3-3C4F-4D65-A44D-9E858C71AD4A}" srcOrd="0" destOrd="0" presId="urn:microsoft.com/office/officeart/2005/8/layout/vList2"/>
    <dgm:cxn modelId="{AA141FA2-306B-47EC-902D-8C308FFF14DA}" type="presParOf" srcId="{36AC42C3-3C4F-4D65-A44D-9E858C71AD4A}" destId="{56055F0A-F63C-46EC-81BA-857B864FF17B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32291DC-D667-4CF2-9478-BAA1968DB8B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7FD7868-22B2-4A2B-B619-8315BD1B628F}">
      <dgm:prSet/>
      <dgm:spPr/>
      <dgm:t>
        <a:bodyPr/>
        <a:lstStyle/>
        <a:p>
          <a:r>
            <a:rPr lang="et-EE"/>
            <a:t>: test7  ( fl2  fl1 --  fl3  fl4  ) </a:t>
          </a:r>
          <a:br>
            <a:rPr lang="et-EE"/>
          </a:br>
          <a:r>
            <a:rPr lang="et-EE"/>
            <a:t>    BEGIN SWAP OVER WHILE INVERT REPEAT ;</a:t>
          </a:r>
          <a:endParaRPr lang="en-US"/>
        </a:p>
      </dgm:t>
    </dgm:pt>
    <dgm:pt modelId="{841B1596-21F0-4790-9C11-45A96915B022}" type="parTrans" cxnId="{4471EC64-C6EC-4419-8437-8759D2656E56}">
      <dgm:prSet/>
      <dgm:spPr/>
      <dgm:t>
        <a:bodyPr/>
        <a:lstStyle/>
        <a:p>
          <a:endParaRPr lang="en-US"/>
        </a:p>
      </dgm:t>
    </dgm:pt>
    <dgm:pt modelId="{BE1A23F8-35ED-4A42-85A5-1D2C6392A543}" type="sibTrans" cxnId="{4471EC64-C6EC-4419-8437-8759D2656E56}">
      <dgm:prSet/>
      <dgm:spPr/>
      <dgm:t>
        <a:bodyPr/>
        <a:lstStyle/>
        <a:p>
          <a:endParaRPr lang="en-US"/>
        </a:p>
      </dgm:t>
    </dgm:pt>
    <dgm:pt modelId="{67AE058A-DA04-4E9D-820C-498D8545B238}" type="pres">
      <dgm:prSet presAssocID="{C32291DC-D667-4CF2-9478-BAA1968DB8BF}" presName="linear" presStyleCnt="0">
        <dgm:presLayoutVars>
          <dgm:animLvl val="lvl"/>
          <dgm:resizeHandles val="exact"/>
        </dgm:presLayoutVars>
      </dgm:prSet>
      <dgm:spPr/>
    </dgm:pt>
    <dgm:pt modelId="{2E882E95-FE3A-490C-8F57-DB0FE25ABA5D}" type="pres">
      <dgm:prSet presAssocID="{E7FD7868-22B2-4A2B-B619-8315BD1B628F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4471EC64-C6EC-4419-8437-8759D2656E56}" srcId="{C32291DC-D667-4CF2-9478-BAA1968DB8BF}" destId="{E7FD7868-22B2-4A2B-B619-8315BD1B628F}" srcOrd="0" destOrd="0" parTransId="{841B1596-21F0-4790-9C11-45A96915B022}" sibTransId="{BE1A23F8-35ED-4A42-85A5-1D2C6392A543}"/>
    <dgm:cxn modelId="{C8720A47-6C63-4311-B810-5E7EC4451018}" type="presOf" srcId="{E7FD7868-22B2-4A2B-B619-8315BD1B628F}" destId="{2E882E95-FE3A-490C-8F57-DB0FE25ABA5D}" srcOrd="0" destOrd="0" presId="urn:microsoft.com/office/officeart/2005/8/layout/vList2"/>
    <dgm:cxn modelId="{D26FB2B8-7EFF-4A7F-8326-E9B4B29C5EE2}" type="presOf" srcId="{C32291DC-D667-4CF2-9478-BAA1968DB8BF}" destId="{67AE058A-DA04-4E9D-820C-498D8545B238}" srcOrd="0" destOrd="0" presId="urn:microsoft.com/office/officeart/2005/8/layout/vList2"/>
    <dgm:cxn modelId="{503F88CC-0B99-44A2-AEB3-AE25F95AD6A6}" type="presParOf" srcId="{67AE058A-DA04-4E9D-820C-498D8545B238}" destId="{2E882E95-FE3A-490C-8F57-DB0FE25ABA5D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41843A7-FC15-40A4-AE2E-E5A82AF2AB3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3F17991-13CE-45DF-9E88-E7BCC7A97F35}">
      <dgm:prSet/>
      <dgm:spPr/>
      <dgm:t>
        <a:bodyPr/>
        <a:lstStyle/>
        <a:p>
          <a:r>
            <a:rPr lang="et-EE"/>
            <a:t>: test8  (  --  ) </a:t>
          </a:r>
          <a:br>
            <a:rPr lang="et-EE"/>
          </a:br>
          <a:r>
            <a:rPr lang="et-EE"/>
            <a:t>    BEGIN KEY 0= UNTIL ;</a:t>
          </a:r>
          <a:endParaRPr lang="en-US"/>
        </a:p>
      </dgm:t>
    </dgm:pt>
    <dgm:pt modelId="{66A76797-8A5B-41FD-B03C-519891B29225}" type="parTrans" cxnId="{71020C4F-E2E3-41E1-A33F-9D000481C976}">
      <dgm:prSet/>
      <dgm:spPr/>
      <dgm:t>
        <a:bodyPr/>
        <a:lstStyle/>
        <a:p>
          <a:endParaRPr lang="en-US"/>
        </a:p>
      </dgm:t>
    </dgm:pt>
    <dgm:pt modelId="{52E83016-23D2-46DB-93C3-CB719A69470A}" type="sibTrans" cxnId="{71020C4F-E2E3-41E1-A33F-9D000481C976}">
      <dgm:prSet/>
      <dgm:spPr/>
      <dgm:t>
        <a:bodyPr/>
        <a:lstStyle/>
        <a:p>
          <a:endParaRPr lang="en-US"/>
        </a:p>
      </dgm:t>
    </dgm:pt>
    <dgm:pt modelId="{719DBA39-6704-4B1E-A560-9A1E8A46C8A3}" type="pres">
      <dgm:prSet presAssocID="{341843A7-FC15-40A4-AE2E-E5A82AF2AB34}" presName="linear" presStyleCnt="0">
        <dgm:presLayoutVars>
          <dgm:animLvl val="lvl"/>
          <dgm:resizeHandles val="exact"/>
        </dgm:presLayoutVars>
      </dgm:prSet>
      <dgm:spPr/>
    </dgm:pt>
    <dgm:pt modelId="{B20DCFB6-9E7D-4944-A303-486E9E6C075F}" type="pres">
      <dgm:prSet presAssocID="{D3F17991-13CE-45DF-9E88-E7BCC7A97F35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71020C4F-E2E3-41E1-A33F-9D000481C976}" srcId="{341843A7-FC15-40A4-AE2E-E5A82AF2AB34}" destId="{D3F17991-13CE-45DF-9E88-E7BCC7A97F35}" srcOrd="0" destOrd="0" parTransId="{66A76797-8A5B-41FD-B03C-519891B29225}" sibTransId="{52E83016-23D2-46DB-93C3-CB719A69470A}"/>
    <dgm:cxn modelId="{9E56AF9D-FD38-425B-9E3E-01254217B25C}" type="presOf" srcId="{D3F17991-13CE-45DF-9E88-E7BCC7A97F35}" destId="{B20DCFB6-9E7D-4944-A303-486E9E6C075F}" srcOrd="0" destOrd="0" presId="urn:microsoft.com/office/officeart/2005/8/layout/vList2"/>
    <dgm:cxn modelId="{67482AC4-0958-4370-86BE-A5B612672B4F}" type="presOf" srcId="{341843A7-FC15-40A4-AE2E-E5A82AF2AB34}" destId="{719DBA39-6704-4B1E-A560-9A1E8A46C8A3}" srcOrd="0" destOrd="0" presId="urn:microsoft.com/office/officeart/2005/8/layout/vList2"/>
    <dgm:cxn modelId="{9271E8B0-EFCC-472B-A9A0-244A55DFA30A}" type="presParOf" srcId="{719DBA39-6704-4B1E-A560-9A1E8A46C8A3}" destId="{B20DCFB6-9E7D-4944-A303-486E9E6C075F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3F1361-629F-4CCE-9FCC-C3A16280FE9F}">
      <dsp:nvSpPr>
        <dsp:cNvPr id="0" name=""/>
        <dsp:cNvSpPr/>
      </dsp:nvSpPr>
      <dsp:spPr>
        <a:xfrm>
          <a:off x="0" y="7852"/>
          <a:ext cx="8229600" cy="11272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4700" kern="1200"/>
            <a:t>: test1  ( -- value ) 3 4 5 - + ;</a:t>
          </a:r>
          <a:endParaRPr lang="en-US" sz="4700" kern="1200"/>
        </a:p>
      </dsp:txBody>
      <dsp:txXfrm>
        <a:off x="55030" y="62882"/>
        <a:ext cx="8119540" cy="101723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DB85DD-EDC8-41A5-98E5-76BD02A5F759}">
      <dsp:nvSpPr>
        <dsp:cNvPr id="0" name=""/>
        <dsp:cNvSpPr/>
      </dsp:nvSpPr>
      <dsp:spPr>
        <a:xfrm>
          <a:off x="0" y="14580"/>
          <a:ext cx="8229600" cy="1113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2800" kern="1200"/>
            <a:t>: test2  ( fl1 fl2 -- FALSE flor ) </a:t>
          </a:r>
          <a:br>
            <a:rPr lang="et-EE" sz="2800" kern="1200"/>
          </a:br>
          <a:r>
            <a:rPr lang="et-EE" sz="2800" kern="1200"/>
            <a:t>    OR FALSE SWAP ;</a:t>
          </a:r>
          <a:endParaRPr lang="en-US" sz="2800" kern="1200"/>
        </a:p>
      </dsp:txBody>
      <dsp:txXfrm>
        <a:off x="54373" y="68953"/>
        <a:ext cx="8120854" cy="100509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26FFC3-B5E0-426B-8028-4C4338B2B420}">
      <dsp:nvSpPr>
        <dsp:cNvPr id="0" name=""/>
        <dsp:cNvSpPr/>
      </dsp:nvSpPr>
      <dsp:spPr>
        <a:xfrm>
          <a:off x="0" y="14580"/>
          <a:ext cx="10064337" cy="1113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2800" kern="1200"/>
            <a:t>: test3  ( addr X -- X addr value ) </a:t>
          </a:r>
          <a:br>
            <a:rPr lang="et-EE" sz="2800" kern="1200"/>
          </a:br>
          <a:r>
            <a:rPr lang="et-EE" sz="2800" kern="1200"/>
            <a:t>    SWAP DUP @ ;</a:t>
          </a:r>
          <a:endParaRPr lang="en-US" sz="2800" kern="1200"/>
        </a:p>
      </dsp:txBody>
      <dsp:txXfrm>
        <a:off x="54373" y="68953"/>
        <a:ext cx="9955591" cy="100509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7AB3F0-5DF4-4EC6-A79F-922033271C18}">
      <dsp:nvSpPr>
        <dsp:cNvPr id="0" name=""/>
        <dsp:cNvSpPr/>
      </dsp:nvSpPr>
      <dsp:spPr>
        <a:xfrm>
          <a:off x="0" y="14580"/>
          <a:ext cx="10064337" cy="1113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2800" kern="1200"/>
            <a:t>: test4  (  n incr -- n1  ) </a:t>
          </a:r>
          <a:br>
            <a:rPr lang="et-EE" sz="2800" kern="1200"/>
          </a:br>
          <a:r>
            <a:rPr lang="et-EE" sz="2800" kern="1200"/>
            <a:t>    IF 1 + FI ;</a:t>
          </a:r>
          <a:endParaRPr lang="en-US" sz="2800" kern="1200"/>
        </a:p>
      </dsp:txBody>
      <dsp:txXfrm>
        <a:off x="54373" y="68953"/>
        <a:ext cx="9955591" cy="100509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D654CB-514C-4488-AD8A-4D6FA40835F4}">
      <dsp:nvSpPr>
        <dsp:cNvPr id="0" name=""/>
        <dsp:cNvSpPr/>
      </dsp:nvSpPr>
      <dsp:spPr>
        <a:xfrm>
          <a:off x="0" y="14580"/>
          <a:ext cx="8229600" cy="1113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2800" kern="1200"/>
            <a:t>: test5  ( X1 flag -- X1 X2 ) </a:t>
          </a:r>
          <a:br>
            <a:rPr lang="et-EE" sz="2800" kern="1200"/>
          </a:br>
          <a:r>
            <a:rPr lang="et-EE" sz="2800" kern="1200"/>
            <a:t>    IF DUP ELSE 0 FI ;</a:t>
          </a:r>
          <a:endParaRPr lang="en-US" sz="2800" kern="1200"/>
        </a:p>
      </dsp:txBody>
      <dsp:txXfrm>
        <a:off x="54373" y="68953"/>
        <a:ext cx="8120854" cy="100509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D1E561-01B0-466C-BB8B-CF6ABE1B3582}">
      <dsp:nvSpPr>
        <dsp:cNvPr id="0" name=""/>
        <dsp:cNvSpPr/>
      </dsp:nvSpPr>
      <dsp:spPr>
        <a:xfrm>
          <a:off x="0" y="14580"/>
          <a:ext cx="8229600" cy="1113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2800" kern="1200"/>
            <a:t>: test6  ( X2 X1 ad fl -- X3 X4 X5 ) </a:t>
          </a:r>
          <a:br>
            <a:rPr lang="et-EE" sz="2800" kern="1200"/>
          </a:br>
          <a:r>
            <a:rPr lang="et-EE" sz="2800" kern="1200"/>
            <a:t>    IF ROT ELSE @ FI ;</a:t>
          </a:r>
          <a:endParaRPr lang="en-US" sz="2800" kern="1200"/>
        </a:p>
      </dsp:txBody>
      <dsp:txXfrm>
        <a:off x="54373" y="68953"/>
        <a:ext cx="8120854" cy="100509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055F0A-F63C-46EC-81BA-857B864FF17B}">
      <dsp:nvSpPr>
        <dsp:cNvPr id="0" name=""/>
        <dsp:cNvSpPr/>
      </dsp:nvSpPr>
      <dsp:spPr>
        <a:xfrm>
          <a:off x="0" y="14580"/>
          <a:ext cx="8229600" cy="1113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2800" kern="1200"/>
            <a:t>: test9  ( ad fl -- X ) </a:t>
          </a:r>
          <a:br>
            <a:rPr lang="et-EE" sz="2800" kern="1200"/>
          </a:br>
          <a:r>
            <a:rPr lang="et-EE" sz="2800" kern="1200"/>
            <a:t>    IF @ ELSE C@ FI ;</a:t>
          </a:r>
          <a:endParaRPr lang="en-US" sz="2800" kern="1200"/>
        </a:p>
      </dsp:txBody>
      <dsp:txXfrm>
        <a:off x="54373" y="68953"/>
        <a:ext cx="8120854" cy="100509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882E95-FE3A-490C-8F57-DB0FE25ABA5D}">
      <dsp:nvSpPr>
        <dsp:cNvPr id="0" name=""/>
        <dsp:cNvSpPr/>
      </dsp:nvSpPr>
      <dsp:spPr>
        <a:xfrm>
          <a:off x="0" y="14580"/>
          <a:ext cx="8229600" cy="1113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2800" kern="1200"/>
            <a:t>: test7  ( fl2  fl1 --  fl3  fl4  ) </a:t>
          </a:r>
          <a:br>
            <a:rPr lang="et-EE" sz="2800" kern="1200"/>
          </a:br>
          <a:r>
            <a:rPr lang="et-EE" sz="2800" kern="1200"/>
            <a:t>    BEGIN SWAP OVER WHILE INVERT REPEAT ;</a:t>
          </a:r>
          <a:endParaRPr lang="en-US" sz="2800" kern="1200"/>
        </a:p>
      </dsp:txBody>
      <dsp:txXfrm>
        <a:off x="54373" y="68953"/>
        <a:ext cx="8120854" cy="1005094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0DCFB6-9E7D-4944-A303-486E9E6C075F}">
      <dsp:nvSpPr>
        <dsp:cNvPr id="0" name=""/>
        <dsp:cNvSpPr/>
      </dsp:nvSpPr>
      <dsp:spPr>
        <a:xfrm>
          <a:off x="0" y="14580"/>
          <a:ext cx="8229600" cy="1113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2800" kern="1200"/>
            <a:t>: test8  (  --  ) </a:t>
          </a:r>
          <a:br>
            <a:rPr lang="et-EE" sz="2800" kern="1200"/>
          </a:br>
          <a:r>
            <a:rPr lang="et-EE" sz="2800" kern="1200"/>
            <a:t>    BEGIN KEY 0= UNTIL ;</a:t>
          </a:r>
          <a:endParaRPr lang="en-US" sz="2800" kern="1200"/>
        </a:p>
      </dsp:txBody>
      <dsp:txXfrm>
        <a:off x="54373" y="68953"/>
        <a:ext cx="8120854" cy="10050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se kohatäid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Kuupäeva kohatäid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DAD2A-3FE8-4867-A5A9-0356C34B6CFF}" type="datetimeFigureOut">
              <a:rPr lang="et-EE" smtClean="0"/>
              <a:t>01.09.2026</a:t>
            </a:fld>
            <a:endParaRPr lang="et-EE"/>
          </a:p>
        </p:txBody>
      </p:sp>
      <p:sp>
        <p:nvSpPr>
          <p:cNvPr id="4" name="Slaidi pildi kohatä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Märkmete kohatäid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</a:p>
        </p:txBody>
      </p:sp>
      <p:sp>
        <p:nvSpPr>
          <p:cNvPr id="6" name="Jaluse kohatäid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aidinumbri kohatä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3F4EFC-DB71-461F-8620-8D442AC43D0D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043247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0616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" y="0"/>
            <a:ext cx="12191695" cy="6858000"/>
          </a:xfrm>
          <a:prstGeom prst="rect">
            <a:avLst/>
          </a:prstGeom>
          <a:solidFill>
            <a:srgbClr val="F7F4EC"/>
          </a:solidFill>
          <a:ln>
            <a:solidFill>
              <a:srgbClr val="F7F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13232" y="777240"/>
            <a:ext cx="667512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dirty="0">
                <a:solidFill>
                  <a:srgbClr val="12304A"/>
                </a:solidFill>
                <a:latin typeface="Liberation Sans"/>
              </a:rPr>
              <a:t>Configurable </a:t>
            </a:r>
            <a:endParaRPr lang="et-EE" sz="3600" b="1" i="0" dirty="0">
              <a:solidFill>
                <a:srgbClr val="12304A"/>
              </a:solidFill>
              <a:latin typeface="Liberation Sans"/>
            </a:endParaRPr>
          </a:p>
          <a:p>
            <a:pPr algn="l">
              <a:lnSpc>
                <a:spcPct val="100000"/>
              </a:lnSpc>
            </a:pPr>
            <a:r>
              <a:rPr sz="3600" b="1" i="0" dirty="0">
                <a:solidFill>
                  <a:srgbClr val="12304A"/>
                </a:solidFill>
                <a:latin typeface="Liberation Sans"/>
              </a:rPr>
              <a:t>Static Type</a:t>
            </a:r>
            <a:r>
              <a:rPr lang="et-EE" sz="3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sz="3600" b="1" i="0" dirty="0">
                <a:solidFill>
                  <a:srgbClr val="12304A"/>
                </a:solidFill>
                <a:latin typeface="Liberation Sans"/>
              </a:rPr>
              <a:t>Checking </a:t>
            </a:r>
            <a:endParaRPr lang="et-EE" sz="3600" b="1" i="0" dirty="0">
              <a:solidFill>
                <a:srgbClr val="12304A"/>
              </a:solidFill>
              <a:latin typeface="Liberation Sans"/>
            </a:endParaRPr>
          </a:p>
          <a:p>
            <a:pPr algn="l">
              <a:lnSpc>
                <a:spcPct val="100000"/>
              </a:lnSpc>
            </a:pPr>
            <a:r>
              <a:rPr sz="3600" b="1" i="0" dirty="0">
                <a:solidFill>
                  <a:srgbClr val="12304A"/>
                </a:solidFill>
                <a:latin typeface="Liberation Sans"/>
              </a:rPr>
              <a:t>for Forth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092484"/>
            <a:ext cx="676656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t-EE" sz="2100" b="1" dirty="0" err="1">
                <a:solidFill>
                  <a:srgbClr val="9A3548"/>
                </a:solidFill>
                <a:latin typeface="Liberation Sans"/>
              </a:rPr>
              <a:t>Evaluator</a:t>
            </a:r>
            <a:r>
              <a:rPr lang="et-EE" sz="2100" b="1" dirty="0">
                <a:solidFill>
                  <a:srgbClr val="9A3548"/>
                </a:solidFill>
                <a:latin typeface="Liberation Sans"/>
              </a:rPr>
              <a:t> and </a:t>
            </a:r>
            <a:r>
              <a:rPr lang="et-EE" sz="2100" b="1" dirty="0" err="1">
                <a:solidFill>
                  <a:srgbClr val="9A3548"/>
                </a:solidFill>
                <a:latin typeface="Liberation Sans"/>
              </a:rPr>
              <a:t>Examples</a:t>
            </a:r>
            <a:endParaRPr sz="2100" b="1" i="0" dirty="0">
              <a:solidFill>
                <a:srgbClr val="9A3548"/>
              </a:solidFill>
              <a:latin typeface="Liberation San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68095" y="4023361"/>
            <a:ext cx="46634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>
                <a:solidFill>
                  <a:srgbClr val="27343C"/>
                </a:solidFill>
                <a:latin typeface="Liberation Sans"/>
              </a:rPr>
              <a:t>Jaanus Pöial
Tallinn University of Technology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10222" y="4328534"/>
            <a:ext cx="269379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dirty="0" err="1">
                <a:solidFill>
                  <a:srgbClr val="27343C"/>
                </a:solidFill>
                <a:latin typeface="Liberation Sans"/>
              </a:rPr>
              <a:t>EuroForth</a:t>
            </a:r>
            <a:r>
              <a:rPr sz="2000" b="1" dirty="0">
                <a:solidFill>
                  <a:srgbClr val="27343C"/>
                </a:solidFill>
                <a:latin typeface="Liberation Sans"/>
              </a:rPr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512064" y="640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03A70"/>
                </a:solidFill>
              </a:rPr>
              <a:t>Static Type Checking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Detect stack errors before execution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Detect type mismatches early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Precisely document word behaviour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512064" y="764771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Research Evolution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1990</a:t>
            </a:r>
            <a:r>
              <a:rPr lang="et-EE" sz="2400" dirty="0">
                <a:solidFill>
                  <a:srgbClr val="2F2F2F"/>
                </a:solidFill>
              </a:rPr>
              <a:t> - 1998</a:t>
            </a:r>
            <a:r>
              <a:rPr lang="en-US" sz="2400" dirty="0">
                <a:solidFill>
                  <a:srgbClr val="2F2F2F"/>
                </a:solidFill>
              </a:rPr>
              <a:t>: Stack Effect Calculus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2002</a:t>
            </a:r>
            <a:r>
              <a:rPr lang="et-EE" sz="2400" dirty="0">
                <a:solidFill>
                  <a:srgbClr val="2F2F2F"/>
                </a:solidFill>
              </a:rPr>
              <a:t> - 2006</a:t>
            </a:r>
            <a:r>
              <a:rPr lang="en-US" sz="2400" dirty="0">
                <a:solidFill>
                  <a:srgbClr val="2F2F2F"/>
                </a:solidFill>
              </a:rPr>
              <a:t>: Typed Wildcards and Inheritance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200</a:t>
            </a:r>
            <a:r>
              <a:rPr lang="et-EE" sz="2400" dirty="0">
                <a:solidFill>
                  <a:srgbClr val="2F2F2F"/>
                </a:solidFill>
              </a:rPr>
              <a:t>8</a:t>
            </a:r>
            <a:r>
              <a:rPr lang="en-US" sz="2400" dirty="0">
                <a:solidFill>
                  <a:srgbClr val="2F2F2F"/>
                </a:solidFill>
              </a:rPr>
              <a:t>: Typing Tools for Typeless Stack Languages</a:t>
            </a:r>
            <a:r>
              <a:rPr lang="et-EE" sz="2400" dirty="0">
                <a:solidFill>
                  <a:srgbClr val="2F2F2F"/>
                </a:solidFill>
              </a:rPr>
              <a:t> (Java </a:t>
            </a:r>
            <a:r>
              <a:rPr lang="et-EE" sz="2400" dirty="0" err="1">
                <a:solidFill>
                  <a:srgbClr val="2F2F2F"/>
                </a:solidFill>
              </a:rPr>
              <a:t>prototype</a:t>
            </a:r>
            <a:r>
              <a:rPr lang="et-EE" sz="2400" dirty="0">
                <a:solidFill>
                  <a:srgbClr val="2F2F2F"/>
                </a:solidFill>
              </a:rPr>
              <a:t>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2026: Configurable Static Type Checking for Forth</a:t>
            </a:r>
            <a:r>
              <a:rPr lang="et-EE" sz="2400" dirty="0">
                <a:solidFill>
                  <a:srgbClr val="2F2F2F"/>
                </a:solidFill>
              </a:rPr>
              <a:t> – </a:t>
            </a:r>
            <a:r>
              <a:rPr lang="et-EE" sz="2400" dirty="0" err="1">
                <a:solidFill>
                  <a:srgbClr val="2F2F2F"/>
                </a:solidFill>
              </a:rPr>
              <a:t>Type</a:t>
            </a:r>
            <a:r>
              <a:rPr lang="et-EE" sz="2400" dirty="0">
                <a:solidFill>
                  <a:srgbClr val="2F2F2F"/>
                </a:solidFill>
              </a:rPr>
              <a:t> </a:t>
            </a:r>
            <a:r>
              <a:rPr lang="et-EE" sz="2400" dirty="0" err="1">
                <a:solidFill>
                  <a:srgbClr val="2F2F2F"/>
                </a:solidFill>
              </a:rPr>
              <a:t>checker</a:t>
            </a:r>
            <a:r>
              <a:rPr lang="et-EE" sz="2400" dirty="0">
                <a:solidFill>
                  <a:srgbClr val="2F2F2F"/>
                </a:solidFill>
              </a:rPr>
              <a:t> in </a:t>
            </a:r>
            <a:r>
              <a:rPr lang="et-EE" sz="2400" dirty="0" err="1">
                <a:solidFill>
                  <a:srgbClr val="2F2F2F"/>
                </a:solidFill>
              </a:rPr>
              <a:t>gforth</a:t>
            </a:r>
            <a:r>
              <a:rPr lang="et-EE" sz="2400" dirty="0">
                <a:solidFill>
                  <a:srgbClr val="2F2F2F"/>
                </a:solidFill>
              </a:rPr>
              <a:t> 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From an informal comment to a checkable contract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097280"/>
            <a:ext cx="9902952" cy="658368"/>
          </a:xfrm>
          <a:prstGeom prst="roundRect">
            <a:avLst/>
          </a:prstGeom>
          <a:solidFill>
            <a:srgbClr val="ECEAE4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16152" y="1151004"/>
            <a:ext cx="9756648" cy="550920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2304A"/>
                </a:solidFill>
                <a:latin typeface="Liberation Mono"/>
              </a:rPr>
              <a:t>: SQUARED  </a:t>
            </a:r>
            <a:r>
              <a:rPr lang="et-EE" sz="1900" b="1">
                <a:solidFill>
                  <a:srgbClr val="12304A"/>
                </a:solidFill>
                <a:latin typeface="Liberation Mono"/>
              </a:rPr>
              <a:t>( n -- n² )  </a:t>
            </a:r>
            <a:r>
              <a:rPr sz="1900" b="1" i="0">
                <a:solidFill>
                  <a:srgbClr val="12304A"/>
                </a:solidFill>
                <a:latin typeface="Liberation Mono"/>
              </a:rPr>
              <a:t>DUP * ;     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4251960" cy="3200400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31343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6A2B"/>
                </a:solidFill>
                <a:latin typeface="Liberation Sans"/>
              </a:rPr>
              <a:t>INFORMAL SEMANTIC COMMENT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61488"/>
            <a:ext cx="36758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n² says what the result means mathematically.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01568"/>
            <a:ext cx="3657600" cy="1417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400">
                <a:solidFill>
                  <a:srgbClr val="27343C"/>
                </a:solidFill>
                <a:latin typeface="Liberation Sans"/>
              </a:rPr>
              <a:t>Useful documentation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400">
                <a:solidFill>
                  <a:srgbClr val="27343C"/>
                </a:solidFill>
                <a:latin typeface="Liberation Sans"/>
              </a:rPr>
              <a:t>May be absent or stale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400">
                <a:solidFill>
                  <a:srgbClr val="27343C"/>
                </a:solidFill>
                <a:latin typeface="Liberation Sans"/>
              </a:rPr>
              <a:t>Consumed as source text; not trusted as an assertion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93792" y="3657600"/>
            <a:ext cx="1709928" cy="0"/>
          </a:xfrm>
          <a:prstGeom prst="line">
            <a:avLst/>
          </a:prstGeom>
          <a:ln w="2794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623560" y="3200400"/>
            <a:ext cx="850392" cy="329184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23560" y="3200400"/>
            <a:ext cx="8503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Liberation Sans"/>
              </a:rPr>
              <a:t>CHECK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5472" y="2057400"/>
            <a:ext cx="4315968" cy="3200400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52360" y="2313432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TYPED SYMBOLIC EFFECTS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9792" y="2743200"/>
            <a:ext cx="3767328" cy="10515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52944" y="2779776"/>
            <a:ext cx="3621024" cy="978407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Mono"/>
              </a:rPr>
              <a:t>DUP  ( X[1] -- X[1] X[1] )
*    ( n n  -- n 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3986784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E6B73"/>
                </a:solidFill>
                <a:latin typeface="Liberation Sans"/>
              </a:rPr>
              <a:t>Inferred: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79792" y="4279392"/>
            <a:ext cx="3767328" cy="566928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52944" y="4315968"/>
            <a:ext cx="3621024" cy="493776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SQUARED  ( n -- n 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5796001"/>
            <a:ext cx="10689336" cy="26776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The checker verifies stack</a:t>
            </a: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1500" b="1" i="0" dirty="0" err="1">
                <a:solidFill>
                  <a:srgbClr val="12304A"/>
                </a:solidFill>
                <a:latin typeface="Liberation Sans"/>
              </a:rPr>
              <a:t>balance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, </a:t>
            </a:r>
            <a:r>
              <a:rPr lang="et-EE" sz="1500" b="1" i="0" dirty="0" err="1">
                <a:solidFill>
                  <a:srgbClr val="12304A"/>
                </a:solidFill>
                <a:latin typeface="Liberation Sans"/>
              </a:rPr>
              <a:t>cell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 types and cell identity</a:t>
            </a: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, 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not the mathematical claim that the result equals n².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S</a:t>
            </a:r>
            <a:r>
              <a:rPr lang="et-EE" sz="2600" b="1" i="0" dirty="0" err="1">
                <a:solidFill>
                  <a:srgbClr val="12304A"/>
                </a:solidFill>
                <a:latin typeface="Liberation Sans"/>
              </a:rPr>
              <a:t>tack</a:t>
            </a:r>
            <a:r>
              <a:rPr lang="et-EE" sz="2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i="0" dirty="0" err="1">
                <a:solidFill>
                  <a:srgbClr val="12304A"/>
                </a:solidFill>
                <a:latin typeface="Liberation Sans"/>
              </a:rPr>
              <a:t>effect</a:t>
            </a:r>
            <a:endParaRPr sz="26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834640" y="1069848"/>
            <a:ext cx="6510528" cy="658368"/>
          </a:xfrm>
          <a:prstGeom prst="roundRect">
            <a:avLst/>
          </a:prstGeom>
          <a:solidFill>
            <a:srgbClr val="E8F0F5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07792" y="1106424"/>
            <a:ext cx="6364224" cy="585216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2304A"/>
                </a:solidFill>
                <a:latin typeface="Liberation Mono"/>
              </a:rPr>
              <a:t>@     ( a-addr  --  x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1" y="1261873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 dirty="0">
                <a:solidFill>
                  <a:srgbClr val="9A3548"/>
                </a:solidFill>
                <a:latin typeface="Liberation Sans"/>
              </a:rPr>
              <a:t>required input suffix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20700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7C62"/>
                </a:solidFill>
                <a:latin typeface="Liberation Sans"/>
              </a:rPr>
              <a:t>guaranteed output suffix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84831"/>
            <a:ext cx="5074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Any deeper frame F passes through unchanged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542032"/>
            <a:ext cx="685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before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3312" y="2450592"/>
            <a:ext cx="1298448" cy="749808"/>
          </a:xfrm>
          <a:prstGeom prst="rect">
            <a:avLst/>
          </a:prstGeom>
          <a:solidFill>
            <a:srgbClr val="ECEAE4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2450592"/>
            <a:ext cx="1298448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5E6B73"/>
                </a:solidFill>
                <a:latin typeface="Liberation Sans"/>
              </a:rPr>
              <a:t>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450592"/>
            <a:ext cx="1609344" cy="749808"/>
          </a:xfrm>
          <a:prstGeom prst="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51760" y="2450592"/>
            <a:ext cx="1609344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7C86"/>
                </a:solidFill>
                <a:latin typeface="Liberation Mono"/>
              </a:rPr>
              <a:t>a-addr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25696" y="2825496"/>
            <a:ext cx="1088136" cy="0"/>
          </a:xfrm>
          <a:prstGeom prst="line">
            <a:avLst/>
          </a:prstGeom>
          <a:ln w="2667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727448" y="2395728"/>
            <a:ext cx="475488" cy="310896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27448" y="2395728"/>
            <a:ext cx="475488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@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2704" y="2542032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after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08776" y="2450592"/>
            <a:ext cx="1298448" cy="749808"/>
          </a:xfrm>
          <a:prstGeom prst="rect">
            <a:avLst/>
          </a:prstGeom>
          <a:solidFill>
            <a:srgbClr val="ECEAE4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08776" y="2450592"/>
            <a:ext cx="1298448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5E6B73"/>
                </a:solidFill>
                <a:latin typeface="Liberation Sans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7224" y="2450592"/>
            <a:ext cx="1609344" cy="749808"/>
          </a:xfrm>
          <a:prstGeom prst="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07224" y="2450592"/>
            <a:ext cx="1609344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D6684"/>
                </a:solidFill>
                <a:latin typeface="Liberation Mono"/>
              </a:rPr>
              <a:t>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670048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1">
                <a:solidFill>
                  <a:srgbClr val="9A3548"/>
                </a:solidFill>
                <a:latin typeface="Liberation Sans"/>
              </a:rPr>
              <a:t>top of stack is on the right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4287241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13232" y="4412668"/>
            <a:ext cx="10689336" cy="26776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An effect is a typed symbolic pre/post contract over only the data-stack suffix</a:t>
            </a: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 (</a:t>
            </a:r>
            <a:r>
              <a:rPr lang="et-EE" sz="1500" b="1" i="0" dirty="0" err="1">
                <a:solidFill>
                  <a:srgbClr val="12304A"/>
                </a:solidFill>
                <a:latin typeface="Liberation Sans"/>
              </a:rPr>
              <a:t>top</a:t>
            </a: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1500" b="1" i="0" dirty="0" err="1">
                <a:solidFill>
                  <a:srgbClr val="12304A"/>
                </a:solidFill>
                <a:latin typeface="Liberation Sans"/>
              </a:rPr>
              <a:t>right</a:t>
            </a: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)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 a phrase inspects.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rgbClr val="12304A"/>
                </a:solidFill>
                <a:latin typeface="Liberation Sans"/>
              </a:rPr>
              <a:t>A boundary can refine</a:t>
            </a:r>
            <a:r>
              <a:rPr lang="et-EE" sz="2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sz="2600" b="1" i="0" dirty="0">
                <a:solidFill>
                  <a:srgbClr val="12304A"/>
                </a:solidFill>
                <a:latin typeface="Liberation Sans"/>
              </a:rPr>
              <a:t>or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70432"/>
            <a:ext cx="5413248" cy="4370832"/>
          </a:xfrm>
          <a:prstGeom prst="roundRect">
            <a:avLst/>
          </a:prstGeom>
          <a:solidFill>
            <a:srgbClr val="E7F0EB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1444752"/>
            <a:ext cx="1152144" cy="310896"/>
          </a:xfrm>
          <a:prstGeom prst="roundRect">
            <a:avLst/>
          </a:prstGeom>
          <a:solidFill>
            <a:srgbClr val="3D7C62"/>
          </a:solidFill>
          <a:ln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444752"/>
            <a:ext cx="1152144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COMPATIBLE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1920240"/>
            <a:ext cx="4590288" cy="530352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1956816"/>
            <a:ext cx="4443983" cy="457199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2304A"/>
                </a:solidFill>
                <a:latin typeface="Liberation Mono"/>
              </a:rPr>
              <a:t>DP   C@   0=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5303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Mono"/>
              </a:rPr>
              <a:t>DP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2761488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-- a-addr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209544"/>
            <a:ext cx="5303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Mono"/>
              </a:rPr>
              <a:t>C@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3209544"/>
            <a:ext cx="26517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</a:t>
            </a:r>
            <a:r>
              <a:rPr lang="et-EE" sz="1400" b="0" i="0">
                <a:solidFill>
                  <a:srgbClr val="12304A"/>
                </a:solidFill>
                <a:latin typeface="Liberation Mono"/>
              </a:rPr>
              <a:t>c</a:t>
            </a:r>
            <a:r>
              <a:rPr sz="1400" b="0" i="0">
                <a:solidFill>
                  <a:srgbClr val="12304A"/>
                </a:solidFill>
                <a:latin typeface="Liberation Mono"/>
              </a:rPr>
              <a:t>-addr -- char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657600"/>
            <a:ext cx="5303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Mono"/>
              </a:rPr>
              <a:t>0=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5648" y="3657600"/>
            <a:ext cx="26517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</a:t>
            </a:r>
            <a:r>
              <a:rPr lang="et-EE" sz="1400">
                <a:solidFill>
                  <a:srgbClr val="12304A"/>
                </a:solidFill>
                <a:latin typeface="Liberation Mono"/>
              </a:rPr>
              <a:t>n</a:t>
            </a:r>
            <a:r>
              <a:rPr sz="1400" b="0" i="0">
                <a:solidFill>
                  <a:srgbClr val="12304A"/>
                </a:solidFill>
                <a:latin typeface="Liberation Mono"/>
              </a:rPr>
              <a:t> -- flag 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8" y="4343400"/>
            <a:ext cx="4133087" cy="54864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80160" y="4379976"/>
            <a:ext cx="3986783" cy="47548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Mono"/>
              </a:rPr>
              <a:t>result:  ( -- flag 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5056632"/>
            <a:ext cx="4709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The trace retains a-addr because it is more specific than c-addr.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170432"/>
            <a:ext cx="5394960" cy="4370832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46520" y="1444752"/>
            <a:ext cx="749808" cy="310896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1444752"/>
            <a:ext cx="749808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CLASH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56832" y="1920240"/>
            <a:ext cx="4480560" cy="530352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29984" y="1956816"/>
            <a:ext cx="4334256" cy="457199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2304A"/>
                </a:solidFill>
                <a:latin typeface="Liberation Mono"/>
              </a:rPr>
              <a:t>C@   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2743200"/>
            <a:ext cx="4572000" cy="521207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02552" y="2779776"/>
            <a:ext cx="4425696" cy="448055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C@   ( c-addr -- char 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3456432"/>
            <a:ext cx="4572000" cy="521207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02552" y="3493008"/>
            <a:ext cx="4425696" cy="448055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!    ( X a-addr -- 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4297680"/>
            <a:ext cx="1051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9A3548"/>
                </a:solidFill>
                <a:latin typeface="Liberation Mono"/>
              </a:rPr>
              <a:t>char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4224528"/>
            <a:ext cx="41148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9A3548"/>
                </a:solidFill>
                <a:latin typeface="Liberation Sans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4297680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9A3548"/>
                </a:solidFill>
                <a:latin typeface="Liberation Mono"/>
              </a:rPr>
              <a:t>a-addr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4727448"/>
            <a:ext cx="1051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E6B73"/>
                </a:solidFill>
                <a:latin typeface="Liberation Sans"/>
              </a:rPr>
              <a:t>produced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4727448"/>
            <a:ext cx="1737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E6B73"/>
                </a:solidFill>
                <a:latin typeface="Liberation Sans"/>
              </a:rPr>
              <a:t>required on top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715000"/>
            <a:ext cx="11055096" cy="530352"/>
          </a:xfrm>
          <a:prstGeom prst="roundRect">
            <a:avLst/>
          </a:prstGeom>
          <a:solidFill>
            <a:srgbClr val="F5E7E8"/>
          </a:solidFill>
          <a:ln w="1016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9808" y="5733288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A3548"/>
                </a:solidFill>
                <a:latin typeface="Liberation Sans"/>
              </a:rPr>
              <a:t>The checker rejects the incompatible boundary before the source can attempt the bad store.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Types express the project's compatibility policy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70432"/>
            <a:ext cx="5413248" cy="4160520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444752"/>
            <a:ext cx="4901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CONVENIENT FORTH-LIKE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874519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E6B73"/>
                </a:solidFill>
                <a:latin typeface="Liberation Sans"/>
              </a:rPr>
              <a:t>more specific  →  more general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" y="2304288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2340864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a-addr  &lt;  c-addr  &lt;  addr  &lt;  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" y="3090672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" y="3127248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char  &lt;  n  &lt;  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" y="3877056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3544" y="3913632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flag  &lt;  n  &lt;  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18304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Useful when the target treats flags and characters as numeric cells.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170432"/>
            <a:ext cx="5394960" cy="416052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1444752"/>
            <a:ext cx="4882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6684"/>
                </a:solidFill>
                <a:latin typeface="Liberation Sans"/>
              </a:rPr>
              <a:t>STRICTER STANDARD-LIKE PROFILE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1874519"/>
            <a:ext cx="47183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E6B73"/>
                </a:solidFill>
                <a:latin typeface="Liberation Sans"/>
              </a:rPr>
              <a:t>the selected file makes these choices explicit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55664" y="2304288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28816" y="2340864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0" b="1" i="0">
                <a:solidFill>
                  <a:srgbClr val="12304A"/>
                </a:solidFill>
                <a:latin typeface="Liberation Mono"/>
              </a:rPr>
              <a:t>a-addr &lt; c-addr &lt; addr &lt; u &lt; n &lt; 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55664" y="3090672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28816" y="3127248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Mono"/>
              </a:rPr>
              <a:t>char &lt; +n &lt; u &lt; n &lt; 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55664" y="3877056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28816" y="3913632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Mono"/>
              </a:rPr>
              <a:t>flag &lt; x     (separate from 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718304"/>
            <a:ext cx="46817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Aliases may name one canonical type: X, x, and cell can be equivalent.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50992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5669279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Composition keeps the more specific comparable boundary type; incomparable types clash.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Indices remember which cell is which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246120" cy="3090672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72768" y="1536192"/>
            <a:ext cx="1225296" cy="347472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72768" y="1536192"/>
            <a:ext cx="1225296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DUP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" y="2148840"/>
            <a:ext cx="2788920" cy="67665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185416"/>
            <a:ext cx="2642615" cy="603504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( X[1] -- X[1] X[1]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20040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7343C"/>
                </a:solidFill>
                <a:latin typeface="Liberation Sans"/>
              </a:rPr>
              <a:t>one input, two correlated outputs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261872"/>
            <a:ext cx="3246120" cy="3090672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48072" y="1536192"/>
            <a:ext cx="1225296" cy="347472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48072" y="1536192"/>
            <a:ext cx="1225296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SWAP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148840"/>
            <a:ext cx="2788920" cy="67665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43984" y="2134764"/>
            <a:ext cx="2642615" cy="7048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 dirty="0">
                <a:solidFill>
                  <a:srgbClr val="12304A"/>
                </a:solidFill>
                <a:latin typeface="Liberation Mono"/>
              </a:rPr>
              <a:t>( X[2] X[1] </a:t>
            </a:r>
            <a:r>
              <a:rPr lang="et-EE" sz="1450" b="1" i="0" dirty="0">
                <a:solidFill>
                  <a:srgbClr val="12304A"/>
                </a:solidFill>
                <a:latin typeface="Liberation Mono"/>
              </a:rPr>
              <a:t>–</a:t>
            </a:r>
            <a:r>
              <a:rPr sz="1450" b="1" i="0" dirty="0">
                <a:solidFill>
                  <a:srgbClr val="12304A"/>
                </a:solidFill>
                <a:latin typeface="Liberation Mono"/>
              </a:rPr>
              <a:t> </a:t>
            </a:r>
            <a:endParaRPr lang="et-EE" sz="1450" b="1" i="0" dirty="0">
              <a:solidFill>
                <a:srgbClr val="12304A"/>
              </a:solidFill>
              <a:latin typeface="Liberation Mono"/>
            </a:endParaRPr>
          </a:p>
          <a:p>
            <a:pPr algn="ctr">
              <a:lnSpc>
                <a:spcPct val="100000"/>
              </a:lnSpc>
            </a:pPr>
            <a:r>
              <a:rPr sz="1450" b="1" i="0" dirty="0">
                <a:solidFill>
                  <a:srgbClr val="12304A"/>
                </a:solidFill>
                <a:latin typeface="Liberation Mono"/>
              </a:rPr>
              <a:t>X[1] X[2]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20040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7343C"/>
                </a:solidFill>
                <a:latin typeface="Liberation Sans"/>
              </a:rPr>
              <a:t>two origins exchange positions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17536" y="1261872"/>
            <a:ext cx="3246120" cy="3090672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23376" y="1536192"/>
            <a:ext cx="1225296" cy="347472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23376" y="1536192"/>
            <a:ext cx="1225296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OVER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46136" y="2148840"/>
            <a:ext cx="2788920" cy="67665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19288" y="2134764"/>
            <a:ext cx="2642615" cy="7048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 dirty="0">
                <a:solidFill>
                  <a:srgbClr val="12304A"/>
                </a:solidFill>
                <a:latin typeface="Liberation Mono"/>
              </a:rPr>
              <a:t>( X[2] X[1] </a:t>
            </a:r>
            <a:r>
              <a:rPr lang="et-EE" sz="1450" b="1" i="0" dirty="0">
                <a:solidFill>
                  <a:srgbClr val="12304A"/>
                </a:solidFill>
                <a:latin typeface="Liberation Mono"/>
              </a:rPr>
              <a:t>–</a:t>
            </a:r>
            <a:r>
              <a:rPr sz="1450" b="1" i="0" dirty="0">
                <a:solidFill>
                  <a:srgbClr val="12304A"/>
                </a:solidFill>
                <a:latin typeface="Liberation Mono"/>
              </a:rPr>
              <a:t> </a:t>
            </a:r>
            <a:endParaRPr lang="et-EE" sz="1450" b="1" i="0" dirty="0">
              <a:solidFill>
                <a:srgbClr val="12304A"/>
              </a:solidFill>
              <a:latin typeface="Liberation Mono"/>
            </a:endParaRPr>
          </a:p>
          <a:p>
            <a:pPr algn="ctr">
              <a:lnSpc>
                <a:spcPct val="100000"/>
              </a:lnSpc>
            </a:pPr>
            <a:r>
              <a:rPr sz="1450" b="1" i="0" dirty="0">
                <a:solidFill>
                  <a:srgbClr val="12304A"/>
                </a:solidFill>
                <a:latin typeface="Liberation Mono"/>
              </a:rPr>
              <a:t>X[2] X[1] X[2] 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7575" y="320040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7343C"/>
                </a:solidFill>
                <a:latin typeface="Liberation Sans"/>
              </a:rPr>
              <a:t>the deeper input reappears on top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617720"/>
            <a:ext cx="10753344" cy="8686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" y="4828032"/>
            <a:ext cx="10314432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50" b="1" i="0">
                <a:solidFill>
                  <a:srgbClr val="0E7C86"/>
                </a:solidFill>
                <a:latin typeface="Liberation Sans"/>
              </a:rPr>
              <a:t>same index</a:t>
            </a:r>
            <a:r>
              <a:rPr sz="1350" b="0" i="0">
                <a:solidFill>
                  <a:srgbClr val="27343C"/>
                </a:solidFill>
                <a:latin typeface="Liberation Sans"/>
              </a:rPr>
              <a:t> = same abstract origin   •   </a:t>
            </a:r>
            <a:r>
              <a:rPr sz="1350" b="1" i="0">
                <a:solidFill>
                  <a:srgbClr val="2D6684"/>
                </a:solidFill>
                <a:latin typeface="Liberation Sans"/>
              </a:rPr>
              <a:t>different indices</a:t>
            </a:r>
            <a:r>
              <a:rPr sz="1350" b="0" i="0">
                <a:solidFill>
                  <a:srgbClr val="27343C"/>
                </a:solidFill>
                <a:latin typeface="Liberation Sans"/>
              </a:rPr>
              <a:t> do not claim unequal concrete values   •   </a:t>
            </a:r>
            <a:r>
              <a:rPr sz="1350" b="1" i="0">
                <a:solidFill>
                  <a:srgbClr val="C46A2B"/>
                </a:solidFill>
                <a:latin typeface="Liberation Sans"/>
              </a:rPr>
              <a:t>no index</a:t>
            </a:r>
            <a:r>
              <a:rPr sz="1350" b="0" i="0">
                <a:solidFill>
                  <a:srgbClr val="27343C"/>
                </a:solidFill>
                <a:latin typeface="Liberation Sans"/>
              </a:rPr>
              <a:t> = fresh symbolic item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5680585"/>
            <a:ext cx="10689336" cy="49859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Indices are local logical variables</a:t>
            </a:r>
            <a:r>
              <a:rPr lang="et-EE" sz="1500" b="1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not addresses or runtime tags. The checker freshens them for every word occurrence.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rgbClr val="12304A"/>
                </a:solidFill>
                <a:latin typeface="Liberation Sans"/>
              </a:rPr>
              <a:t>Three operations </a:t>
            </a: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used</a:t>
            </a:r>
            <a:r>
              <a:rPr lang="et-EE" sz="2600" b="1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for</a:t>
            </a:r>
            <a:r>
              <a:rPr lang="et-EE" sz="2600" b="1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control</a:t>
            </a:r>
            <a:r>
              <a:rPr lang="et-EE" sz="2600" b="1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structures</a:t>
            </a:r>
            <a:endParaRPr sz="26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234440"/>
            <a:ext cx="3246120" cy="4133087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" y="1481328"/>
            <a:ext cx="1298448" cy="310896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1481328"/>
            <a:ext cx="1298448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SEQUENCE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965960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 dirty="0">
                <a:solidFill>
                  <a:srgbClr val="12304A"/>
                </a:solidFill>
                <a:latin typeface="Liberation Mono"/>
              </a:rPr>
              <a:t>p · 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76148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Boundary 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149" y="3356285"/>
            <a:ext cx="2734056" cy="192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 dirty="0">
                <a:solidFill>
                  <a:srgbClr val="27343C"/>
                </a:solidFill>
                <a:latin typeface="Liberation Sans"/>
              </a:rPr>
              <a:t>Can q consume what p leaves? Match from the top inward and propagate the more precise type through every correlated occurrence.</a:t>
            </a:r>
            <a:endParaRPr lang="et-EE" sz="1350" b="0" i="0" dirty="0">
              <a:solidFill>
                <a:srgbClr val="27343C"/>
              </a:solidFill>
              <a:latin typeface="Liberation Sans"/>
            </a:endParaRPr>
          </a:p>
          <a:p>
            <a:pPr algn="ctr">
              <a:lnSpc>
                <a:spcPct val="100000"/>
              </a:lnSpc>
            </a:pPr>
            <a:endParaRPr lang="et-EE" sz="1200" dirty="0">
              <a:solidFill>
                <a:srgbClr val="27343C"/>
              </a:solidFill>
              <a:latin typeface="Arial Narrow" panose="020B0606020202030204" pitchFamily="34" charset="0"/>
            </a:endParaRPr>
          </a:p>
          <a:p>
            <a:pPr algn="ctr">
              <a:lnSpc>
                <a:spcPct val="100000"/>
              </a:lnSpc>
            </a:pPr>
            <a:r>
              <a:rPr lang="et-EE" sz="1600" dirty="0">
                <a:solidFill>
                  <a:srgbClr val="27343C"/>
                </a:solidFill>
                <a:latin typeface="Arial Narrow" panose="020B0606020202030204" pitchFamily="34" charset="0"/>
              </a:rPr>
              <a:t>( a -- b ) </a:t>
            </a:r>
            <a:r>
              <a:rPr lang="en-US" sz="1600" i="0" dirty="0">
                <a:solidFill>
                  <a:srgbClr val="12304A"/>
                </a:solidFill>
                <a:latin typeface="Arial Narrow" panose="020B0606020202030204" pitchFamily="34" charset="0"/>
              </a:rPr>
              <a:t>·</a:t>
            </a:r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 ( </a:t>
            </a:r>
            <a:r>
              <a:rPr lang="et-EE" sz="1600" dirty="0" err="1">
                <a:solidFill>
                  <a:srgbClr val="12304A"/>
                </a:solidFill>
                <a:latin typeface="Arial Narrow" panose="020B0606020202030204" pitchFamily="34" charset="0"/>
              </a:rPr>
              <a:t>eb</a:t>
            </a:r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 -- d ) = ( ea -- d )</a:t>
            </a:r>
          </a:p>
          <a:p>
            <a:pPr algn="ctr"/>
            <a:r>
              <a:rPr lang="et-EE" sz="1600" dirty="0">
                <a:solidFill>
                  <a:srgbClr val="27343C"/>
                </a:solidFill>
                <a:latin typeface="Arial Narrow" panose="020B0606020202030204" pitchFamily="34" charset="0"/>
              </a:rPr>
              <a:t>( a -- </a:t>
            </a:r>
            <a:r>
              <a:rPr lang="et-EE" sz="1600" dirty="0" err="1">
                <a:solidFill>
                  <a:srgbClr val="27343C"/>
                </a:solidFill>
                <a:latin typeface="Arial Narrow" panose="020B0606020202030204" pitchFamily="34" charset="0"/>
              </a:rPr>
              <a:t>fc</a:t>
            </a:r>
            <a:r>
              <a:rPr lang="et-EE" sz="1600" dirty="0">
                <a:solidFill>
                  <a:srgbClr val="27343C"/>
                </a:solidFill>
                <a:latin typeface="Arial Narrow" panose="020B0606020202030204" pitchFamily="34" charset="0"/>
              </a:rPr>
              <a:t> ) </a:t>
            </a:r>
            <a:r>
              <a:rPr lang="en-US" sz="1600" i="0" dirty="0">
                <a:solidFill>
                  <a:srgbClr val="12304A"/>
                </a:solidFill>
                <a:latin typeface="Arial Narrow" panose="020B0606020202030204" pitchFamily="34" charset="0"/>
              </a:rPr>
              <a:t>·</a:t>
            </a:r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 ( c -- d ) = ( a -- </a:t>
            </a:r>
            <a:r>
              <a:rPr lang="et-EE" sz="1600" dirty="0" err="1">
                <a:solidFill>
                  <a:srgbClr val="12304A"/>
                </a:solidFill>
                <a:latin typeface="Arial Narrow" panose="020B0606020202030204" pitchFamily="34" charset="0"/>
              </a:rPr>
              <a:t>fd</a:t>
            </a:r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 )</a:t>
            </a:r>
          </a:p>
          <a:p>
            <a:pPr algn="ctr">
              <a:lnSpc>
                <a:spcPct val="100000"/>
              </a:lnSpc>
            </a:pPr>
            <a:endParaRPr sz="1350" b="0" i="0" dirty="0">
              <a:solidFill>
                <a:srgbClr val="27343C"/>
              </a:solidFill>
              <a:latin typeface="Liberation San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142232" y="1234440"/>
            <a:ext cx="3246120" cy="4133087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325112" y="1481328"/>
            <a:ext cx="1536192" cy="310896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5112" y="1481328"/>
            <a:ext cx="1536192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ALTERNATIVES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1965960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 dirty="0">
                <a:solidFill>
                  <a:srgbClr val="12304A"/>
                </a:solidFill>
                <a:latin typeface="Liberation Mono"/>
              </a:rPr>
              <a:t>p ⊓ 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76148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Common effect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8264" y="3163824"/>
            <a:ext cx="2734056" cy="2231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 dirty="0">
                <a:solidFill>
                  <a:srgbClr val="27343C"/>
                </a:solidFill>
                <a:latin typeface="Liberation Sans"/>
              </a:rPr>
              <a:t>Attempt to reconcile both path effects into one interface. This is a single must-style syntactic summary—not a set of every possible behavior.</a:t>
            </a:r>
            <a:endParaRPr lang="et-EE" sz="1350" b="0" i="0" dirty="0">
              <a:solidFill>
                <a:srgbClr val="27343C"/>
              </a:solidFill>
              <a:latin typeface="Liberation Sans"/>
            </a:endParaRPr>
          </a:p>
          <a:p>
            <a:pPr algn="ctr"/>
            <a:r>
              <a:rPr lang="et-EE" sz="1600" dirty="0">
                <a:solidFill>
                  <a:srgbClr val="27343C"/>
                </a:solidFill>
                <a:latin typeface="Arial Narrow" panose="020B0606020202030204" pitchFamily="34" charset="0"/>
              </a:rPr>
              <a:t>( a -- b )</a:t>
            </a:r>
            <a:r>
              <a:rPr lang="en-US" sz="1600" i="0" dirty="0">
                <a:solidFill>
                  <a:srgbClr val="12304A"/>
                </a:solidFill>
                <a:latin typeface="Arial Narrow" panose="020B0606020202030204" pitchFamily="34" charset="0"/>
              </a:rPr>
              <a:t> ⊓</a:t>
            </a:r>
            <a:r>
              <a:rPr lang="et-EE" sz="1600" dirty="0">
                <a:solidFill>
                  <a:srgbClr val="27343C"/>
                </a:solidFill>
                <a:latin typeface="Arial Narrow" panose="020B0606020202030204" pitchFamily="34" charset="0"/>
              </a:rPr>
              <a:t> </a:t>
            </a:r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( ea -- </a:t>
            </a:r>
            <a:r>
              <a:rPr lang="et-EE" sz="1600" dirty="0" err="1">
                <a:solidFill>
                  <a:srgbClr val="12304A"/>
                </a:solidFill>
                <a:latin typeface="Arial Narrow" panose="020B0606020202030204" pitchFamily="34" charset="0"/>
              </a:rPr>
              <a:t>eb</a:t>
            </a:r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 ) = ( ea -- </a:t>
            </a:r>
            <a:r>
              <a:rPr lang="et-EE" sz="1600" dirty="0" err="1">
                <a:solidFill>
                  <a:srgbClr val="12304A"/>
                </a:solidFill>
                <a:latin typeface="Arial Narrow" panose="020B0606020202030204" pitchFamily="34" charset="0"/>
              </a:rPr>
              <a:t>eb</a:t>
            </a:r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 )</a:t>
            </a:r>
          </a:p>
          <a:p>
            <a:pPr algn="ctr"/>
            <a:endParaRPr lang="et-EE" sz="1600" dirty="0">
              <a:solidFill>
                <a:srgbClr val="12304A"/>
              </a:solidFill>
              <a:latin typeface="Arial Narrow" panose="020B0606020202030204" pitchFamily="34" charset="0"/>
            </a:endParaRPr>
          </a:p>
          <a:p>
            <a:pPr algn="ctr"/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( ea -- </a:t>
            </a:r>
            <a:r>
              <a:rPr lang="et-EE" sz="1600" dirty="0" err="1">
                <a:solidFill>
                  <a:srgbClr val="12304A"/>
                </a:solidFill>
                <a:latin typeface="Arial Narrow" panose="020B0606020202030204" pitchFamily="34" charset="0"/>
              </a:rPr>
              <a:t>eb</a:t>
            </a:r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 ) </a:t>
            </a:r>
            <a:r>
              <a:rPr lang="en-US" sz="1600" i="0" dirty="0">
                <a:solidFill>
                  <a:srgbClr val="12304A"/>
                </a:solidFill>
                <a:latin typeface="Arial Narrow" panose="020B0606020202030204" pitchFamily="34" charset="0"/>
              </a:rPr>
              <a:t>⊓</a:t>
            </a:r>
            <a:r>
              <a:rPr lang="et-EE" sz="1600" i="0" dirty="0">
                <a:solidFill>
                  <a:srgbClr val="12304A"/>
                </a:solidFill>
                <a:latin typeface="Arial Narrow" panose="020B0606020202030204" pitchFamily="34" charset="0"/>
              </a:rPr>
              <a:t> ( </a:t>
            </a:r>
            <a:r>
              <a:rPr lang="et-EE" sz="1600" i="0" dirty="0" err="1">
                <a:solidFill>
                  <a:srgbClr val="12304A"/>
                </a:solidFill>
                <a:latin typeface="Arial Narrow" panose="020B0606020202030204" pitchFamily="34" charset="0"/>
              </a:rPr>
              <a:t>ec</a:t>
            </a:r>
            <a:r>
              <a:rPr lang="et-EE" sz="1600" i="0" dirty="0">
                <a:solidFill>
                  <a:srgbClr val="12304A"/>
                </a:solidFill>
                <a:latin typeface="Arial Narrow" panose="020B0606020202030204" pitchFamily="34" charset="0"/>
              </a:rPr>
              <a:t> -- </a:t>
            </a:r>
            <a:r>
              <a:rPr lang="et-EE" sz="1600" i="0" dirty="0" err="1">
                <a:solidFill>
                  <a:srgbClr val="12304A"/>
                </a:solidFill>
                <a:latin typeface="Arial Narrow" panose="020B0606020202030204" pitchFamily="34" charset="0"/>
              </a:rPr>
              <a:t>ed</a:t>
            </a:r>
            <a:r>
              <a:rPr lang="et-EE" sz="1600" i="0" dirty="0">
                <a:solidFill>
                  <a:srgbClr val="12304A"/>
                </a:solidFill>
                <a:latin typeface="Arial Narrow" panose="020B0606020202030204" pitchFamily="34" charset="0"/>
              </a:rPr>
              <a:t> ) = </a:t>
            </a:r>
          </a:p>
          <a:p>
            <a:pPr algn="ctr"/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( e min(</a:t>
            </a:r>
            <a:r>
              <a:rPr lang="et-EE" sz="1600" dirty="0" err="1">
                <a:solidFill>
                  <a:srgbClr val="12304A"/>
                </a:solidFill>
                <a:latin typeface="Arial Narrow" panose="020B0606020202030204" pitchFamily="34" charset="0"/>
              </a:rPr>
              <a:t>a,c</a:t>
            </a:r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) -- e </a:t>
            </a:r>
            <a:r>
              <a:rPr lang="et-EE" sz="1600" dirty="0" err="1">
                <a:solidFill>
                  <a:srgbClr val="12304A"/>
                </a:solidFill>
                <a:latin typeface="Arial Narrow" panose="020B0606020202030204" pitchFamily="34" charset="0"/>
              </a:rPr>
              <a:t>max</a:t>
            </a:r>
            <a:r>
              <a:rPr lang="et-EE" sz="1600" dirty="0">
                <a:solidFill>
                  <a:srgbClr val="12304A"/>
                </a:solidFill>
                <a:latin typeface="Arial Narrow" panose="020B0606020202030204" pitchFamily="34" charset="0"/>
              </a:rPr>
              <a:t>(b, d) )</a:t>
            </a:r>
          </a:p>
          <a:p>
            <a:pPr algn="ctr">
              <a:lnSpc>
                <a:spcPct val="100000"/>
              </a:lnSpc>
            </a:pPr>
            <a:endParaRPr sz="1350" b="0" i="0" dirty="0">
              <a:solidFill>
                <a:srgbClr val="27343C"/>
              </a:solidFill>
              <a:latin typeface="Liberation San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717536" y="1234440"/>
            <a:ext cx="3246120" cy="4133087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900415" y="1481328"/>
            <a:ext cx="1298448" cy="310896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0415" y="1481328"/>
            <a:ext cx="1298448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REPETITION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6136" y="1965960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2304A"/>
                </a:solidFill>
                <a:latin typeface="Liberation Mono"/>
              </a:rPr>
              <a:t>p ⊓ (p · 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46136" y="276148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One-versus-two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73567" y="3337560"/>
            <a:ext cx="273405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Compare one pass with two consecutive passes. Accept only when the implemented merge finds a locally stable summary.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Sans"/>
              </a:rPr>
              <a:t>The untyped base has a polycyclic-monoid structure; the checker adds partial, subtype-aware, identity-sensitive matching.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rgbClr val="12304A"/>
                </a:solidFill>
                <a:latin typeface="Liberation Sans"/>
              </a:rPr>
              <a:t>Loops receive a local stability check</a:t>
            </a:r>
            <a:r>
              <a:rPr lang="et-EE" sz="2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sz="2600" b="1" i="0" dirty="0">
                <a:solidFill>
                  <a:srgbClr val="12304A"/>
                </a:solidFill>
                <a:latin typeface="Liberation Sans"/>
              </a:rPr>
              <a:t>not an invariant proof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1051560"/>
            <a:ext cx="8065008" cy="585216"/>
          </a:xfrm>
          <a:prstGeom prst="roundRect">
            <a:avLst/>
          </a:prstGeom>
          <a:solidFill>
            <a:srgbClr val="ECEAE4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30552" y="1088136"/>
            <a:ext cx="7918704" cy="512064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Mono"/>
              </a:rPr>
              <a:t>: ULOOP   BEGIN DUP 0= UNTIL  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1874519"/>
            <a:ext cx="6711696" cy="3456432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2139696"/>
            <a:ext cx="6217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IMPLEMENTED ONE-VERSUS-TWO 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2651760"/>
            <a:ext cx="5980176" cy="49377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0704" y="2688336"/>
            <a:ext cx="5833872" cy="420624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p  =  DUP 0= UNTIL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3429000"/>
            <a:ext cx="1956816" cy="82296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2" y="3575304"/>
            <a:ext cx="1956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D6684"/>
                </a:solidFill>
                <a:latin typeface="Liberation Mono"/>
              </a:rPr>
              <a:t>one pass
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62656" y="3840480"/>
            <a:ext cx="694944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675887" y="3429000"/>
            <a:ext cx="1956816" cy="822960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75887" y="3575304"/>
            <a:ext cx="1956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C46A2B"/>
                </a:solidFill>
                <a:latin typeface="Liberation Mono"/>
              </a:rPr>
              <a:t>two passes
p · 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50992" y="3840480"/>
            <a:ext cx="493776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63640" y="3639312"/>
            <a:ext cx="475488" cy="365760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3639312"/>
            <a:ext cx="475488" cy="36576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Liberation Sans"/>
              </a:rPr>
              <a:t>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17320" y="4535424"/>
            <a:ext cx="5157216" cy="512064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90472" y="4572000"/>
            <a:ext cx="5010912" cy="438912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ULOOP  ( n[1] -- n[1] 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7808" y="1874519"/>
            <a:ext cx="3977639" cy="3456432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82127" y="2139696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6A2B"/>
                </a:solidFill>
                <a:latin typeface="Liberation Sans"/>
              </a:rPr>
              <a:t>WHAT THIS RESULT SAYS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7" y="2688336"/>
            <a:ext cx="3337560" cy="21488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32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320" b="1">
                <a:solidFill>
                  <a:srgbClr val="27343C"/>
                </a:solidFill>
                <a:latin typeface="Liberation Sans"/>
              </a:rPr>
              <a:t>Useful: </a:t>
            </a:r>
            <a:r>
              <a:rPr sz="1320">
                <a:solidFill>
                  <a:srgbClr val="27343C"/>
                </a:solidFill>
                <a:latin typeface="Liberation Sans"/>
              </a:rPr>
              <a:t>detects many bodies that grow, shrink, or change incompatibly on a second pass.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32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320" b="1">
                <a:solidFill>
                  <a:srgbClr val="27343C"/>
                </a:solidFill>
                <a:latin typeface="Liberation Sans"/>
              </a:rPr>
              <a:t>Local only: </a:t>
            </a:r>
            <a:r>
              <a:rPr sz="1320">
                <a:solidFill>
                  <a:srgbClr val="27343C"/>
                </a:solidFill>
                <a:latin typeface="Liberation Sans"/>
              </a:rPr>
              <a:t>the duplicated copy feeds 0= and UNTIL; the original n remains.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32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320" b="1">
                <a:solidFill>
                  <a:srgbClr val="27343C"/>
                </a:solidFill>
                <a:latin typeface="Liberation Sans"/>
              </a:rPr>
              <a:t>Not proved: </a:t>
            </a:r>
            <a:r>
              <a:rPr sz="1320">
                <a:solidFill>
                  <a:srgbClr val="27343C"/>
                </a:solidFill>
                <a:latin typeface="Liberation Sans"/>
              </a:rPr>
              <a:t>termination, every iteration count, or a general inductive loop invariant.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F7ECE1"/>
          </a:solidFill>
          <a:ln w="1016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C46A2B"/>
                </a:solidFill>
                <a:latin typeface="Liberation Sans"/>
              </a:rPr>
              <a:t>Treat the reported loop effect as a finite stack-stability approximation, not as full loop verification.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Three inputs produce one inferred dictionary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61872"/>
            <a:ext cx="3108960" cy="950976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1380743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D6684"/>
                </a:solidFill>
                <a:latin typeface="Liberation Mono"/>
              </a:rPr>
              <a:t>forth2012types.txt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719072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27343C"/>
                </a:solidFill>
                <a:latin typeface="Liberation Sans"/>
              </a:rPr>
              <a:t>Canonical names, aliases, subtype edges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30752" y="1737360"/>
            <a:ext cx="585216" cy="0"/>
          </a:xfrm>
          <a:prstGeom prst="line">
            <a:avLst/>
          </a:prstGeom>
          <a:ln w="22860">
            <a:solidFill>
              <a:srgbClr val="2D66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60" y="2514600"/>
            <a:ext cx="3108960" cy="950976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633472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7C86"/>
                </a:solidFill>
                <a:latin typeface="Liberation Mono"/>
              </a:rPr>
              <a:t>forth2012specs.txt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971800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27343C"/>
                </a:solidFill>
                <a:latin typeface="Liberation Sans"/>
              </a:rPr>
              <a:t>Word effects, literals, parser and control roles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30752" y="2990088"/>
            <a:ext cx="585216" cy="0"/>
          </a:xfrm>
          <a:prstGeom prst="line">
            <a:avLst/>
          </a:prstGeom>
          <a:ln w="2286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94360" y="3767328"/>
            <a:ext cx="3108960" cy="950976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3886200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46A2B"/>
                </a:solidFill>
                <a:latin typeface="Liberation Mono"/>
              </a:rPr>
              <a:t>examples.txt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224528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27343C"/>
                </a:solidFill>
                <a:latin typeface="Liberation Sans"/>
              </a:rPr>
              <a:t>Nine colon definitions and structured control forms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30752" y="4242816"/>
            <a:ext cx="585216" cy="0"/>
          </a:xfrm>
          <a:prstGeom prst="line">
            <a:avLst/>
          </a:prstGeom>
          <a:ln w="22860">
            <a:solidFill>
              <a:srgbClr val="C46A2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7408" y="1609344"/>
            <a:ext cx="2907792" cy="3429000"/>
          </a:xfrm>
          <a:prstGeom prst="roundRect">
            <a:avLst/>
          </a:prstGeom>
          <a:solidFill>
            <a:srgbClr val="12304A"/>
          </a:solidFill>
          <a:ln w="12700"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81728" y="1993392"/>
            <a:ext cx="2359152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Liberation Mono"/>
              </a:rPr>
              <a:t>SYMBOLIC
CHECKER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017520"/>
            <a:ext cx="2212848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D8EEF0"/>
                </a:solidFill>
                <a:latin typeface="Liberation Sans"/>
              </a:rPr>
              <a:t>parse source
↓
compose effects
↓
meet control paths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51775" y="3319272"/>
            <a:ext cx="585217" cy="0"/>
          </a:xfrm>
          <a:prstGeom prst="line">
            <a:avLst/>
          </a:prstGeom>
          <a:ln w="2794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046720" y="1298448"/>
            <a:ext cx="3538728" cy="1463040"/>
          </a:xfrm>
          <a:prstGeom prst="roundRect">
            <a:avLst/>
          </a:prstGeom>
          <a:solidFill>
            <a:srgbClr val="E7F0EB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75320" y="155448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7C62"/>
                </a:solidFill>
                <a:latin typeface="Liberation Sans"/>
              </a:rPr>
              <a:t>INFERRED CONTRACTS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1901952"/>
            <a:ext cx="299923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Required input suffix
Guaranteed output suffix
Shared value identities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3017520"/>
            <a:ext cx="3538728" cy="1719072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75320" y="3273552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A3548"/>
                </a:solidFill>
                <a:latin typeface="Liberation Sans"/>
              </a:rPr>
              <a:t>UNDEFINED OPERATION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3639312"/>
            <a:ext cx="3017520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Incomparable boundary
Inconsistent branch depth
Unstable repeated effect
Source diagnostic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650992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5669279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No concrete values are executed. At ; the inferred body effect becomes the specification of the new word.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t-EE" sz="2600" b="1" i="0" dirty="0" err="1">
                <a:solidFill>
                  <a:srgbClr val="12304A"/>
                </a:solidFill>
                <a:latin typeface="Liberation Sans"/>
              </a:rPr>
              <a:t>Concepts</a:t>
            </a:r>
            <a:r>
              <a:rPr lang="et-EE" sz="2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i="0" dirty="0" err="1">
                <a:solidFill>
                  <a:srgbClr val="12304A"/>
                </a:solidFill>
                <a:latin typeface="Liberation Sans"/>
              </a:rPr>
              <a:t>covered</a:t>
            </a:r>
            <a:endParaRPr sz="26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27343C"/>
                </a:solidFill>
                <a:latin typeface="Liberation Sans"/>
              </a:rPr>
              <a:t>The examples are deliberately small: each makes one part of the effect calculus visible.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13232" y="1892808"/>
            <a:ext cx="804672" cy="310896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892808"/>
            <a:ext cx="804672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test1–2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478024"/>
            <a:ext cx="170078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355848"/>
            <a:ext cx="1700784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Produced and required suffixes match from the top inward; fresh results carry types without identities.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87752" y="3493008"/>
            <a:ext cx="192024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16352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80944" y="1892808"/>
            <a:ext cx="804672" cy="310896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80944" y="1892808"/>
            <a:ext cx="804672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test3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478024"/>
            <a:ext cx="170078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Identity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0944" y="3355848"/>
            <a:ext cx="1700784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A late consumer refines an earlier input backward through SWAP and DUP.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493008"/>
            <a:ext cx="192024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84064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48655" y="1892808"/>
            <a:ext cx="804672" cy="310896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48655" y="1892808"/>
            <a:ext cx="804672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test4–6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5" y="2478024"/>
            <a:ext cx="170078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Branch contracts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48655" y="3355848"/>
            <a:ext cx="1700784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Implicit prefixes align unequal displays; only common type and identity guarantees survive.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23175" y="3493008"/>
            <a:ext cx="192025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51775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516367" y="1892808"/>
            <a:ext cx="804672" cy="310896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16367" y="1892808"/>
            <a:ext cx="804672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test7–8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478024"/>
            <a:ext cx="170078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Repetition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7" y="3355848"/>
            <a:ext cx="1700784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One pass meets two passes to obtain a finite local stability summary.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90888" y="3493008"/>
            <a:ext cx="192023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619488" y="1691640"/>
            <a:ext cx="2029968" cy="3611880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784080" y="1892808"/>
            <a:ext cx="1051560" cy="310896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84080" y="1892808"/>
            <a:ext cx="1051560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test9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2478024"/>
            <a:ext cx="170078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Variance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355848"/>
            <a:ext cx="1700784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Inputs retain the common subtype; outputs retain the common supertype.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45CE50C-216B-4254-982A-A35AA09C21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4593114"/>
              </p:ext>
            </p:extLst>
          </p:nvPr>
        </p:nvGraphicFramePr>
        <p:xfrm>
          <a:off x="457200" y="274638"/>
          <a:ext cx="8229600" cy="114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isu kohatäide 2">
            <a:extLst>
              <a:ext uri="{FF2B5EF4-FFF2-40B4-BE49-F238E27FC236}">
                <a16:creationId xmlns:a16="http://schemas.microsoft.com/office/drawing/2014/main" id="{293615AB-D134-2AF7-09EA-0E08894B3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093522" cy="4525963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: test1</a:t>
            </a:r>
          </a:p>
          <a:p>
            <a:pPr marL="0" indent="0">
              <a:buNone/>
            </a:pPr>
            <a:r>
              <a:rPr lang="et-EE" dirty="0"/>
              <a:t>3 ( -- n )</a:t>
            </a:r>
          </a:p>
          <a:p>
            <a:pPr marL="0" indent="0">
              <a:buNone/>
            </a:pPr>
            <a:r>
              <a:rPr lang="et-EE" dirty="0"/>
              <a:t>4 ( -- n )</a:t>
            </a:r>
          </a:p>
          <a:p>
            <a:pPr marL="0" indent="0">
              <a:buNone/>
            </a:pPr>
            <a:r>
              <a:rPr lang="et-EE" dirty="0"/>
              <a:t>5 ( -- n ) </a:t>
            </a:r>
          </a:p>
          <a:p>
            <a:pPr marL="0" indent="0">
              <a:buNone/>
            </a:pPr>
            <a:r>
              <a:rPr lang="et-EE" dirty="0"/>
              <a:t>- ( n </a:t>
            </a:r>
            <a:r>
              <a:rPr lang="et-EE" dirty="0" err="1"/>
              <a:t>n</a:t>
            </a:r>
            <a:r>
              <a:rPr lang="et-EE" dirty="0"/>
              <a:t> -- n )</a:t>
            </a:r>
          </a:p>
          <a:p>
            <a:pPr marL="0" indent="0">
              <a:buNone/>
            </a:pPr>
            <a:r>
              <a:rPr lang="et-EE" dirty="0"/>
              <a:t>+ ( n </a:t>
            </a:r>
            <a:r>
              <a:rPr lang="et-EE" dirty="0" err="1"/>
              <a:t>n</a:t>
            </a:r>
            <a:r>
              <a:rPr lang="et-EE" dirty="0"/>
              <a:t> -- n )</a:t>
            </a:r>
          </a:p>
          <a:p>
            <a:pPr marL="0" indent="0">
              <a:buNone/>
            </a:pPr>
            <a:r>
              <a:rPr lang="et-EE" dirty="0"/>
              <a:t>;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6049B66A-FCED-D7DE-3FBD-201BA150F872}"/>
              </a:ext>
            </a:extLst>
          </p:cNvPr>
          <p:cNvSpPr txBox="1">
            <a:spLocks/>
          </p:cNvSpPr>
          <p:nvPr/>
        </p:nvSpPr>
        <p:spPr>
          <a:xfrm>
            <a:off x="4136571" y="1573481"/>
            <a:ext cx="291737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dirty="0" err="1"/>
              <a:t>empty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n</a:t>
            </a:r>
          </a:p>
          <a:p>
            <a:pPr marL="0" indent="0">
              <a:buFont typeface="Arial"/>
              <a:buNone/>
            </a:pPr>
            <a:r>
              <a:rPr lang="et-EE" dirty="0"/>
              <a:t>n </a:t>
            </a:r>
            <a:r>
              <a:rPr lang="et-EE" dirty="0" err="1"/>
              <a:t>n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n </a:t>
            </a:r>
            <a:r>
              <a:rPr lang="et-EE" dirty="0" err="1"/>
              <a:t>n</a:t>
            </a:r>
            <a:r>
              <a:rPr lang="et-EE" dirty="0"/>
              <a:t> </a:t>
            </a:r>
            <a:r>
              <a:rPr lang="et-EE" dirty="0" err="1"/>
              <a:t>n</a:t>
            </a:r>
            <a:r>
              <a:rPr lang="et-EE" dirty="0"/>
              <a:t> </a:t>
            </a:r>
          </a:p>
          <a:p>
            <a:pPr marL="0" indent="0">
              <a:buFont typeface="Arial"/>
              <a:buNone/>
            </a:pPr>
            <a:r>
              <a:rPr lang="et-EE" dirty="0"/>
              <a:t>n </a:t>
            </a:r>
            <a:r>
              <a:rPr lang="et-EE" dirty="0" err="1"/>
              <a:t>n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n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Results</a:t>
            </a:r>
            <a:r>
              <a:rPr lang="et-EE" dirty="0"/>
              <a:t> in ( -- n )</a:t>
            </a:r>
          </a:p>
        </p:txBody>
      </p:sp>
      <p:sp>
        <p:nvSpPr>
          <p:cNvPr id="6" name="Sisu kohatäide 2">
            <a:extLst>
              <a:ext uri="{FF2B5EF4-FFF2-40B4-BE49-F238E27FC236}">
                <a16:creationId xmlns:a16="http://schemas.microsoft.com/office/drawing/2014/main" id="{01E0F552-E3A1-FBEF-9095-D8771C3C4069}"/>
              </a:ext>
            </a:extLst>
          </p:cNvPr>
          <p:cNvSpPr txBox="1">
            <a:spLocks/>
          </p:cNvSpPr>
          <p:nvPr/>
        </p:nvSpPr>
        <p:spPr>
          <a:xfrm>
            <a:off x="7317179" y="1573480"/>
            <a:ext cx="291737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3</a:t>
            </a:r>
          </a:p>
          <a:p>
            <a:pPr marL="0" indent="0">
              <a:buFont typeface="Arial"/>
              <a:buNone/>
            </a:pPr>
            <a:r>
              <a:rPr lang="et-EE" dirty="0"/>
              <a:t>3 4</a:t>
            </a:r>
          </a:p>
          <a:p>
            <a:pPr marL="0" indent="0">
              <a:buFont typeface="Arial"/>
              <a:buNone/>
            </a:pPr>
            <a:r>
              <a:rPr lang="et-EE" dirty="0"/>
              <a:t>3 4 5</a:t>
            </a:r>
          </a:p>
          <a:p>
            <a:pPr marL="0" indent="0">
              <a:buFont typeface="Arial"/>
              <a:buNone/>
            </a:pPr>
            <a:r>
              <a:rPr lang="et-EE" dirty="0"/>
              <a:t>3  -1</a:t>
            </a:r>
          </a:p>
          <a:p>
            <a:pPr marL="0" indent="0">
              <a:buFont typeface="Arial"/>
              <a:buNone/>
            </a:pPr>
            <a:r>
              <a:rPr lang="et-EE" dirty="0"/>
              <a:t>2</a:t>
            </a:r>
          </a:p>
        </p:txBody>
      </p:sp>
      <p:cxnSp>
        <p:nvCxnSpPr>
          <p:cNvPr id="5" name="Connector 1">
            <a:extLst>
              <a:ext uri="{FF2B5EF4-FFF2-40B4-BE49-F238E27FC236}">
                <a16:creationId xmlns:a16="http://schemas.microsoft.com/office/drawing/2014/main" id="{54892F3D-8CE0-87A5-0F01-7894701FF3D8}"/>
              </a:ext>
            </a:extLst>
          </p:cNvPr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7059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AA726-D03C-102A-7689-135F0543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9D4A43A-28B9-4328-8A6E-85B0871BF041}"/>
              </a:ext>
            </a:extLst>
          </p:cNvPr>
          <p:cNvGraphicFramePr/>
          <p:nvPr/>
        </p:nvGraphicFramePr>
        <p:xfrm>
          <a:off x="908463" y="443841"/>
          <a:ext cx="8229600" cy="114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isu kohatäide 2">
            <a:extLst>
              <a:ext uri="{FF2B5EF4-FFF2-40B4-BE49-F238E27FC236}">
                <a16:creationId xmlns:a16="http://schemas.microsoft.com/office/drawing/2014/main" id="{6251639E-794C-8FDE-6C8B-9A6317533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073" y="2645228"/>
            <a:ext cx="5721927" cy="3197431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: test2</a:t>
            </a:r>
          </a:p>
          <a:p>
            <a:pPr marL="0" indent="0">
              <a:buNone/>
            </a:pPr>
            <a:r>
              <a:rPr lang="et-EE" dirty="0"/>
              <a:t>OR ( </a:t>
            </a: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r>
              <a:rPr lang="et-EE" dirty="0"/>
              <a:t> -- </a:t>
            </a:r>
            <a:r>
              <a:rPr lang="et-EE" dirty="0" err="1"/>
              <a:t>flag</a:t>
            </a:r>
            <a:r>
              <a:rPr lang="et-EE" dirty="0"/>
              <a:t>  )</a:t>
            </a:r>
          </a:p>
          <a:p>
            <a:pPr marL="0" indent="0">
              <a:buNone/>
            </a:pPr>
            <a:r>
              <a:rPr lang="et-EE" dirty="0"/>
              <a:t>FALSE ( -- </a:t>
            </a:r>
            <a:r>
              <a:rPr lang="et-EE" dirty="0" err="1"/>
              <a:t>flag</a:t>
            </a:r>
            <a:r>
              <a:rPr lang="et-EE" dirty="0"/>
              <a:t> )</a:t>
            </a:r>
          </a:p>
          <a:p>
            <a:pPr marL="0" indent="0">
              <a:buNone/>
            </a:pPr>
            <a:r>
              <a:rPr lang="et-EE" dirty="0"/>
              <a:t>SWAP  ( X[2] X[1] – X[1] X[2] ) </a:t>
            </a:r>
          </a:p>
          <a:p>
            <a:pPr marL="0" indent="0">
              <a:buNone/>
            </a:pPr>
            <a:r>
              <a:rPr lang="et-EE" dirty="0"/>
              <a:t>;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89554897-1BE0-1A6F-E873-F474465EF0D3}"/>
              </a:ext>
            </a:extLst>
          </p:cNvPr>
          <p:cNvSpPr txBox="1">
            <a:spLocks/>
          </p:cNvSpPr>
          <p:nvPr/>
        </p:nvSpPr>
        <p:spPr>
          <a:xfrm>
            <a:off x="6096000" y="2645227"/>
            <a:ext cx="5446816" cy="31974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 err="1"/>
              <a:t>Results</a:t>
            </a:r>
            <a:r>
              <a:rPr lang="et-EE" dirty="0"/>
              <a:t> in ( </a:t>
            </a: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r>
              <a:rPr lang="et-EE" dirty="0"/>
              <a:t> -- </a:t>
            </a: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r>
              <a:rPr lang="et-EE" dirty="0"/>
              <a:t> )</a:t>
            </a:r>
          </a:p>
        </p:txBody>
      </p:sp>
      <p:cxnSp>
        <p:nvCxnSpPr>
          <p:cNvPr id="5" name="Connector 1">
            <a:extLst>
              <a:ext uri="{FF2B5EF4-FFF2-40B4-BE49-F238E27FC236}">
                <a16:creationId xmlns:a16="http://schemas.microsoft.com/office/drawing/2014/main" id="{75AA51B2-2759-C2F1-7AE0-000768123AFB}"/>
              </a:ext>
            </a:extLst>
          </p:cNvPr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5123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4F0DD-578F-8F3F-8569-A33BA1F8B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7D7472F1-F870-417D-9F57-05381E6F5A79}"/>
              </a:ext>
            </a:extLst>
          </p:cNvPr>
          <p:cNvGraphicFramePr/>
          <p:nvPr/>
        </p:nvGraphicFramePr>
        <p:xfrm>
          <a:off x="908462" y="443841"/>
          <a:ext cx="10064337" cy="114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isu kohatäide 2">
            <a:extLst>
              <a:ext uri="{FF2B5EF4-FFF2-40B4-BE49-F238E27FC236}">
                <a16:creationId xmlns:a16="http://schemas.microsoft.com/office/drawing/2014/main" id="{E5F58AF0-4748-DBFD-141A-641658703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519" y="2363190"/>
            <a:ext cx="5142016" cy="35507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dirty="0"/>
              <a:t>: test3</a:t>
            </a:r>
          </a:p>
          <a:p>
            <a:pPr marL="0" indent="0">
              <a:buNone/>
            </a:pPr>
            <a:r>
              <a:rPr lang="et-EE" dirty="0"/>
              <a:t>SWAP ( X[2] X[1] -- X[1] X[2] )</a:t>
            </a:r>
          </a:p>
          <a:p>
            <a:pPr marL="0" indent="0">
              <a:buNone/>
            </a:pPr>
            <a:r>
              <a:rPr lang="et-EE" dirty="0"/>
              <a:t>DUP ( X[1] -- X[1] X[1] )</a:t>
            </a:r>
          </a:p>
          <a:p>
            <a:pPr marL="0" indent="0">
              <a:buNone/>
            </a:pPr>
            <a:r>
              <a:rPr lang="et-EE" dirty="0"/>
              <a:t>@  ( a-</a:t>
            </a:r>
            <a:r>
              <a:rPr lang="et-EE" dirty="0" err="1"/>
              <a:t>addr</a:t>
            </a:r>
            <a:r>
              <a:rPr lang="et-EE" dirty="0"/>
              <a:t> -- X ) </a:t>
            </a:r>
          </a:p>
          <a:p>
            <a:pPr marL="0" indent="0">
              <a:buNone/>
            </a:pPr>
            <a:r>
              <a:rPr lang="et-EE" dirty="0"/>
              <a:t>;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6F90E499-CAD6-5817-AB62-3AF929587EFE}"/>
              </a:ext>
            </a:extLst>
          </p:cNvPr>
          <p:cNvSpPr txBox="1">
            <a:spLocks/>
          </p:cNvSpPr>
          <p:nvPr/>
        </p:nvSpPr>
        <p:spPr>
          <a:xfrm>
            <a:off x="5854535" y="2363190"/>
            <a:ext cx="6056416" cy="3930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dirty="0"/>
              <a:t>a-</a:t>
            </a:r>
            <a:r>
              <a:rPr lang="et-EE" dirty="0" err="1"/>
              <a:t>addr</a:t>
            </a:r>
            <a:r>
              <a:rPr lang="et-EE" dirty="0"/>
              <a:t>[2] X[1]</a:t>
            </a:r>
          </a:p>
          <a:p>
            <a:pPr marL="0" indent="0">
              <a:buFont typeface="Arial"/>
              <a:buNone/>
            </a:pPr>
            <a:r>
              <a:rPr lang="et-EE" dirty="0"/>
              <a:t>X[1] a-</a:t>
            </a:r>
            <a:r>
              <a:rPr lang="et-EE" dirty="0" err="1"/>
              <a:t>addr</a:t>
            </a:r>
            <a:r>
              <a:rPr lang="et-EE" dirty="0"/>
              <a:t>[2]</a:t>
            </a:r>
          </a:p>
          <a:p>
            <a:pPr marL="0" indent="0">
              <a:buFont typeface="Arial"/>
              <a:buNone/>
            </a:pPr>
            <a:r>
              <a:rPr lang="et-EE" dirty="0"/>
              <a:t>X[1] a-</a:t>
            </a:r>
            <a:r>
              <a:rPr lang="et-EE" dirty="0" err="1"/>
              <a:t>addr</a:t>
            </a:r>
            <a:r>
              <a:rPr lang="et-EE" dirty="0"/>
              <a:t>[2] a-</a:t>
            </a:r>
            <a:r>
              <a:rPr lang="et-EE" dirty="0" err="1"/>
              <a:t>addr</a:t>
            </a:r>
            <a:r>
              <a:rPr lang="et-EE" dirty="0"/>
              <a:t>[2]</a:t>
            </a:r>
          </a:p>
          <a:p>
            <a:pPr marL="0" indent="0">
              <a:buFont typeface="Arial"/>
              <a:buNone/>
            </a:pPr>
            <a:r>
              <a:rPr lang="et-EE" dirty="0"/>
              <a:t>X[1] a-</a:t>
            </a:r>
            <a:r>
              <a:rPr lang="et-EE" dirty="0" err="1"/>
              <a:t>addr</a:t>
            </a:r>
            <a:r>
              <a:rPr lang="et-EE" dirty="0"/>
              <a:t>[2]  X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Results</a:t>
            </a:r>
            <a:r>
              <a:rPr lang="et-EE" dirty="0"/>
              <a:t> in </a:t>
            </a:r>
          </a:p>
          <a:p>
            <a:pPr marL="0" indent="0">
              <a:buFont typeface="Arial"/>
              <a:buNone/>
            </a:pPr>
            <a:r>
              <a:rPr lang="et-EE" dirty="0"/>
              <a:t>( a-</a:t>
            </a:r>
            <a:r>
              <a:rPr lang="et-EE" dirty="0" err="1"/>
              <a:t>addr</a:t>
            </a:r>
            <a:r>
              <a:rPr lang="et-EE" dirty="0"/>
              <a:t>[2] X[1] -- X[1] a-</a:t>
            </a:r>
            <a:r>
              <a:rPr lang="et-EE" dirty="0" err="1"/>
              <a:t>addr</a:t>
            </a:r>
            <a:r>
              <a:rPr lang="et-EE" dirty="0"/>
              <a:t>[2] X )</a:t>
            </a:r>
          </a:p>
        </p:txBody>
      </p:sp>
      <p:cxnSp>
        <p:nvCxnSpPr>
          <p:cNvPr id="5" name="Connector 1">
            <a:extLst>
              <a:ext uri="{FF2B5EF4-FFF2-40B4-BE49-F238E27FC236}">
                <a16:creationId xmlns:a16="http://schemas.microsoft.com/office/drawing/2014/main" id="{B12AECA5-5EB0-9680-3410-9249F8532B79}"/>
              </a:ext>
            </a:extLst>
          </p:cNvPr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2388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35CD6-37AC-0F1F-F28D-E9F32FF44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CCD7E567-D782-41D2-90EF-EE2B7F6F93FB}"/>
              </a:ext>
            </a:extLst>
          </p:cNvPr>
          <p:cNvGraphicFramePr/>
          <p:nvPr/>
        </p:nvGraphicFramePr>
        <p:xfrm>
          <a:off x="908462" y="443841"/>
          <a:ext cx="10064337" cy="114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isu kohatäide 2">
            <a:extLst>
              <a:ext uri="{FF2B5EF4-FFF2-40B4-BE49-F238E27FC236}">
                <a16:creationId xmlns:a16="http://schemas.microsoft.com/office/drawing/2014/main" id="{E330312F-9A2E-C375-ACF8-12FF0BC01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8462" y="1959429"/>
            <a:ext cx="5142016" cy="35507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dirty="0"/>
              <a:t>: test4</a:t>
            </a:r>
          </a:p>
          <a:p>
            <a:pPr marL="0" indent="0">
              <a:buNone/>
            </a:pPr>
            <a:r>
              <a:rPr lang="et-EE" dirty="0"/>
              <a:t>IF (</a:t>
            </a:r>
            <a:r>
              <a:rPr lang="et-EE" dirty="0" err="1"/>
              <a:t>flag</a:t>
            </a:r>
            <a:r>
              <a:rPr lang="et-EE" dirty="0"/>
              <a:t> -- )</a:t>
            </a:r>
          </a:p>
          <a:p>
            <a:pPr marL="0" indent="0">
              <a:buNone/>
            </a:pPr>
            <a:r>
              <a:rPr lang="et-EE" dirty="0"/>
              <a:t>1 ( -- n )</a:t>
            </a:r>
          </a:p>
          <a:p>
            <a:pPr marL="0" indent="0">
              <a:buNone/>
            </a:pPr>
            <a:r>
              <a:rPr lang="et-EE" dirty="0"/>
              <a:t>+  ( n </a:t>
            </a:r>
            <a:r>
              <a:rPr lang="et-EE" dirty="0" err="1"/>
              <a:t>n</a:t>
            </a:r>
            <a:r>
              <a:rPr lang="et-EE" dirty="0"/>
              <a:t> -- n ) </a:t>
            </a:r>
          </a:p>
          <a:p>
            <a:pPr marL="0" indent="0">
              <a:buNone/>
            </a:pPr>
            <a:r>
              <a:rPr lang="et-EE" dirty="0"/>
              <a:t>FI</a:t>
            </a:r>
          </a:p>
          <a:p>
            <a:pPr marL="0" indent="0">
              <a:buNone/>
            </a:pPr>
            <a:r>
              <a:rPr lang="et-EE" dirty="0"/>
              <a:t>;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F526914B-9B7E-D402-72FE-653FD38F689C}"/>
              </a:ext>
            </a:extLst>
          </p:cNvPr>
          <p:cNvSpPr txBox="1">
            <a:spLocks/>
          </p:cNvSpPr>
          <p:nvPr/>
        </p:nvSpPr>
        <p:spPr>
          <a:xfrm>
            <a:off x="5771408" y="1959429"/>
            <a:ext cx="5011387" cy="3930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dirty="0"/>
              <a:t>n </a:t>
            </a: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n</a:t>
            </a:r>
          </a:p>
          <a:p>
            <a:pPr marL="0" indent="0">
              <a:buFont typeface="Arial"/>
              <a:buNone/>
            </a:pPr>
            <a:r>
              <a:rPr lang="et-EE" dirty="0"/>
              <a:t>n </a:t>
            </a:r>
            <a:r>
              <a:rPr lang="et-EE" dirty="0" err="1"/>
              <a:t>n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n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Branch</a:t>
            </a:r>
            <a:r>
              <a:rPr lang="et-EE" dirty="0"/>
              <a:t> </a:t>
            </a:r>
            <a:r>
              <a:rPr lang="et-EE" dirty="0" err="1"/>
              <a:t>effect</a:t>
            </a:r>
            <a:r>
              <a:rPr lang="et-EE" dirty="0"/>
              <a:t> ( n -- n )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Results</a:t>
            </a:r>
            <a:r>
              <a:rPr lang="et-EE" dirty="0"/>
              <a:t> in ( n </a:t>
            </a:r>
            <a:r>
              <a:rPr lang="et-EE" dirty="0" err="1"/>
              <a:t>flag</a:t>
            </a:r>
            <a:r>
              <a:rPr lang="et-EE" dirty="0"/>
              <a:t> -- n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6A393-B95C-AA51-35BE-C60656C9F1C4}"/>
              </a:ext>
            </a:extLst>
          </p:cNvPr>
          <p:cNvSpPr txBox="1"/>
          <p:nvPr/>
        </p:nvSpPr>
        <p:spPr>
          <a:xfrm>
            <a:off x="498763" y="5858987"/>
            <a:ext cx="113884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t-EE" sz="2800" dirty="0" err="1"/>
              <a:t>If-branch</a:t>
            </a:r>
            <a:r>
              <a:rPr lang="et-EE" sz="2800" dirty="0"/>
              <a:t> </a:t>
            </a:r>
            <a:r>
              <a:rPr lang="et-EE" sz="2800" dirty="0" err="1"/>
              <a:t>body</a:t>
            </a:r>
            <a:r>
              <a:rPr lang="et-EE" sz="2800" dirty="0"/>
              <a:t> </a:t>
            </a:r>
            <a:r>
              <a:rPr lang="et-EE" sz="2800" dirty="0" err="1"/>
              <a:t>effect</a:t>
            </a:r>
            <a:r>
              <a:rPr lang="et-EE" sz="2800" dirty="0"/>
              <a:t> ( n – n ) </a:t>
            </a:r>
            <a:r>
              <a:rPr lang="et-EE" sz="2800" dirty="0" err="1"/>
              <a:t>is</a:t>
            </a:r>
            <a:r>
              <a:rPr lang="et-EE" sz="2800" dirty="0"/>
              <a:t> </a:t>
            </a:r>
            <a:r>
              <a:rPr lang="et-EE" sz="2800" dirty="0" err="1"/>
              <a:t>more</a:t>
            </a:r>
            <a:r>
              <a:rPr lang="et-EE" sz="2800" dirty="0"/>
              <a:t> </a:t>
            </a:r>
            <a:r>
              <a:rPr lang="et-EE" sz="2800" dirty="0" err="1"/>
              <a:t>exact</a:t>
            </a:r>
            <a:r>
              <a:rPr lang="et-EE" sz="2800" dirty="0"/>
              <a:t> </a:t>
            </a:r>
            <a:r>
              <a:rPr lang="et-EE" sz="2800" dirty="0" err="1"/>
              <a:t>than</a:t>
            </a:r>
            <a:r>
              <a:rPr lang="et-EE" sz="2800" dirty="0"/>
              <a:t> </a:t>
            </a:r>
            <a:r>
              <a:rPr lang="et-EE" sz="2800" dirty="0" err="1"/>
              <a:t>empty</a:t>
            </a:r>
            <a:r>
              <a:rPr lang="et-EE" sz="2800" dirty="0"/>
              <a:t> </a:t>
            </a:r>
            <a:r>
              <a:rPr lang="et-EE" sz="2800" dirty="0" err="1"/>
              <a:t>branch</a:t>
            </a:r>
            <a:r>
              <a:rPr lang="et-EE" sz="2800" dirty="0"/>
              <a:t>  </a:t>
            </a:r>
            <a:r>
              <a:rPr lang="et-EE" sz="2800" dirty="0" err="1"/>
              <a:t>effect</a:t>
            </a:r>
            <a:r>
              <a:rPr lang="et-EE" sz="2800" dirty="0"/>
              <a:t> ( -- )  </a:t>
            </a:r>
          </a:p>
        </p:txBody>
      </p:sp>
      <p:cxnSp>
        <p:nvCxnSpPr>
          <p:cNvPr id="6" name="Connector 1">
            <a:extLst>
              <a:ext uri="{FF2B5EF4-FFF2-40B4-BE49-F238E27FC236}">
                <a16:creationId xmlns:a16="http://schemas.microsoft.com/office/drawing/2014/main" id="{0D906817-1CA5-AC9A-880F-11C50729C4DB}"/>
              </a:ext>
            </a:extLst>
          </p:cNvPr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6819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4448D-4669-4854-5129-84B249AD8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8C481BEC-B9C8-4A86-8281-1BDD772EE8C4}"/>
              </a:ext>
            </a:extLst>
          </p:cNvPr>
          <p:cNvGraphicFramePr/>
          <p:nvPr/>
        </p:nvGraphicFramePr>
        <p:xfrm>
          <a:off x="653143" y="355157"/>
          <a:ext cx="8229600" cy="114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isu kohatäide 2">
            <a:extLst>
              <a:ext uri="{FF2B5EF4-FFF2-40B4-BE49-F238E27FC236}">
                <a16:creationId xmlns:a16="http://schemas.microsoft.com/office/drawing/2014/main" id="{E0E46FB1-346F-D737-9AA0-152CE724E7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073" y="1380507"/>
            <a:ext cx="5721927" cy="4096986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: test5</a:t>
            </a:r>
          </a:p>
          <a:p>
            <a:pPr marL="0" indent="0">
              <a:buNone/>
            </a:pPr>
            <a:r>
              <a:rPr lang="et-EE" dirty="0"/>
              <a:t>IF ( </a:t>
            </a:r>
            <a:r>
              <a:rPr lang="et-EE" dirty="0" err="1"/>
              <a:t>flag</a:t>
            </a:r>
            <a:r>
              <a:rPr lang="et-EE" dirty="0"/>
              <a:t> -- )</a:t>
            </a:r>
          </a:p>
          <a:p>
            <a:pPr marL="0" indent="0">
              <a:buNone/>
            </a:pPr>
            <a:r>
              <a:rPr lang="et-EE" dirty="0"/>
              <a:t>DUP ( X[1] -- X[1] X[1] )</a:t>
            </a:r>
          </a:p>
          <a:p>
            <a:pPr marL="0" indent="0">
              <a:buNone/>
            </a:pPr>
            <a:r>
              <a:rPr lang="et-EE" dirty="0"/>
              <a:t>ELSE</a:t>
            </a:r>
          </a:p>
          <a:p>
            <a:pPr marL="0" indent="0">
              <a:buNone/>
            </a:pPr>
            <a:r>
              <a:rPr lang="et-EE" dirty="0"/>
              <a:t>0 ( -- n )</a:t>
            </a:r>
          </a:p>
          <a:p>
            <a:pPr marL="0" indent="0">
              <a:buNone/>
            </a:pPr>
            <a:r>
              <a:rPr lang="et-EE" dirty="0"/>
              <a:t>FI</a:t>
            </a:r>
          </a:p>
          <a:p>
            <a:pPr marL="0" indent="0">
              <a:buNone/>
            </a:pPr>
            <a:r>
              <a:rPr lang="et-EE" dirty="0"/>
              <a:t>;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0C2FEE45-1264-2FE5-53B2-50092653F9D7}"/>
              </a:ext>
            </a:extLst>
          </p:cNvPr>
          <p:cNvSpPr txBox="1">
            <a:spLocks/>
          </p:cNvSpPr>
          <p:nvPr/>
        </p:nvSpPr>
        <p:spPr>
          <a:xfrm>
            <a:off x="6096000" y="1380507"/>
            <a:ext cx="5446816" cy="42558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dirty="0"/>
              <a:t>X[1] </a:t>
            </a: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X[1]</a:t>
            </a:r>
          </a:p>
          <a:p>
            <a:pPr marL="0" indent="0">
              <a:buFont typeface="Arial"/>
              <a:buNone/>
            </a:pPr>
            <a:r>
              <a:rPr lang="et-EE" dirty="0"/>
              <a:t>X[1] X[1]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If</a:t>
            </a:r>
            <a:r>
              <a:rPr lang="et-EE" dirty="0"/>
              <a:t> </a:t>
            </a:r>
            <a:r>
              <a:rPr lang="et-EE" dirty="0" err="1"/>
              <a:t>branch</a:t>
            </a:r>
            <a:r>
              <a:rPr lang="et-EE" dirty="0"/>
              <a:t> </a:t>
            </a:r>
            <a:r>
              <a:rPr lang="et-EE" dirty="0" err="1"/>
              <a:t>effect</a:t>
            </a:r>
            <a:r>
              <a:rPr lang="et-EE" dirty="0"/>
              <a:t> ( X1 -- X1 </a:t>
            </a:r>
            <a:r>
              <a:rPr lang="et-EE" dirty="0" err="1"/>
              <a:t>X1</a:t>
            </a:r>
            <a:r>
              <a:rPr lang="et-EE" dirty="0"/>
              <a:t> )</a:t>
            </a:r>
          </a:p>
          <a:p>
            <a:pPr marL="0" indent="0">
              <a:buFont typeface="Arial"/>
              <a:buNone/>
            </a:pPr>
            <a:r>
              <a:rPr lang="et-EE" dirty="0"/>
              <a:t>X[1] n</a:t>
            </a:r>
          </a:p>
          <a:p>
            <a:pPr marL="0" indent="0">
              <a:buFont typeface="Arial"/>
              <a:buNone/>
            </a:pPr>
            <a:r>
              <a:rPr lang="et-EE" dirty="0"/>
              <a:t>Else-</a:t>
            </a:r>
            <a:r>
              <a:rPr lang="et-EE" dirty="0" err="1"/>
              <a:t>branch</a:t>
            </a:r>
            <a:r>
              <a:rPr lang="et-EE" dirty="0"/>
              <a:t> </a:t>
            </a:r>
            <a:r>
              <a:rPr lang="et-EE" dirty="0" err="1"/>
              <a:t>effect</a:t>
            </a:r>
            <a:r>
              <a:rPr lang="et-EE" dirty="0"/>
              <a:t> ( -- n )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Meet</a:t>
            </a:r>
            <a:r>
              <a:rPr lang="et-EE" dirty="0"/>
              <a:t>: ( X1 -- X1 X2 )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4E99C-FEE8-B146-C101-A52EE079BF7F}"/>
              </a:ext>
            </a:extLst>
          </p:cNvPr>
          <p:cNvSpPr txBox="1"/>
          <p:nvPr/>
        </p:nvSpPr>
        <p:spPr>
          <a:xfrm>
            <a:off x="374073" y="5605577"/>
            <a:ext cx="116735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t-EE" sz="2400"/>
              <a:t>Prefer </a:t>
            </a:r>
            <a:r>
              <a:rPr lang="et-EE" sz="2400" dirty="0" err="1"/>
              <a:t>supertype</a:t>
            </a:r>
            <a:r>
              <a:rPr lang="et-EE" sz="2400" dirty="0"/>
              <a:t> in </a:t>
            </a:r>
            <a:r>
              <a:rPr lang="et-EE" sz="2400" dirty="0" err="1"/>
              <a:t>output</a:t>
            </a:r>
            <a:r>
              <a:rPr lang="et-EE" sz="2400" dirty="0"/>
              <a:t> (</a:t>
            </a:r>
            <a:r>
              <a:rPr lang="et-EE" sz="2400" dirty="0" err="1"/>
              <a:t>we</a:t>
            </a:r>
            <a:r>
              <a:rPr lang="et-EE" sz="2400" dirty="0"/>
              <a:t> </a:t>
            </a:r>
            <a:r>
              <a:rPr lang="et-EE" sz="2400" dirty="0" err="1"/>
              <a:t>don’t</a:t>
            </a:r>
            <a:r>
              <a:rPr lang="et-EE" sz="2400" dirty="0"/>
              <a:t> </a:t>
            </a:r>
            <a:r>
              <a:rPr lang="et-EE" sz="2400" dirty="0" err="1"/>
              <a:t>know</a:t>
            </a:r>
            <a:r>
              <a:rPr lang="et-EE" sz="2400" dirty="0"/>
              <a:t> </a:t>
            </a:r>
            <a:r>
              <a:rPr lang="et-EE" sz="2400" dirty="0" err="1"/>
              <a:t>which</a:t>
            </a:r>
            <a:r>
              <a:rPr lang="et-EE" sz="2400" dirty="0"/>
              <a:t> </a:t>
            </a:r>
            <a:r>
              <a:rPr lang="et-EE" sz="2400" dirty="0" err="1"/>
              <a:t>branch</a:t>
            </a:r>
            <a:r>
              <a:rPr lang="et-EE" sz="2400" dirty="0"/>
              <a:t> </a:t>
            </a:r>
            <a:r>
              <a:rPr lang="et-EE" sz="2400" dirty="0" err="1"/>
              <a:t>was</a:t>
            </a:r>
            <a:r>
              <a:rPr lang="et-EE" sz="2400" dirty="0"/>
              <a:t> </a:t>
            </a:r>
            <a:r>
              <a:rPr lang="et-EE" sz="2400" dirty="0" err="1"/>
              <a:t>chosen</a:t>
            </a:r>
            <a:r>
              <a:rPr lang="et-EE" sz="2400" dirty="0"/>
              <a:t> and n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of X)</a:t>
            </a:r>
          </a:p>
          <a:p>
            <a:r>
              <a:rPr lang="et-EE" sz="2400" dirty="0" err="1"/>
              <a:t>Results</a:t>
            </a:r>
            <a:r>
              <a:rPr lang="et-EE" sz="2400" dirty="0"/>
              <a:t> in ( X[1] </a:t>
            </a:r>
            <a:r>
              <a:rPr lang="et-EE" sz="2400" dirty="0" err="1"/>
              <a:t>flag</a:t>
            </a:r>
            <a:r>
              <a:rPr lang="et-EE" sz="2400" dirty="0"/>
              <a:t> -- X[1] X )</a:t>
            </a:r>
          </a:p>
        </p:txBody>
      </p:sp>
      <p:cxnSp>
        <p:nvCxnSpPr>
          <p:cNvPr id="6" name="Connector 1">
            <a:extLst>
              <a:ext uri="{FF2B5EF4-FFF2-40B4-BE49-F238E27FC236}">
                <a16:creationId xmlns:a16="http://schemas.microsoft.com/office/drawing/2014/main" id="{EBF2F994-F44C-D77A-F30A-1F365E39D63D}"/>
              </a:ext>
            </a:extLst>
          </p:cNvPr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21034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4688D-42BA-0D27-B0D5-AC2AFED5A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75953B2D-C241-4B5E-8721-1F53223C7D59}"/>
              </a:ext>
            </a:extLst>
          </p:cNvPr>
          <p:cNvGraphicFramePr/>
          <p:nvPr/>
        </p:nvGraphicFramePr>
        <p:xfrm>
          <a:off x="653143" y="251276"/>
          <a:ext cx="8229600" cy="114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isu kohatäide 2">
            <a:extLst>
              <a:ext uri="{FF2B5EF4-FFF2-40B4-BE49-F238E27FC236}">
                <a16:creationId xmlns:a16="http://schemas.microsoft.com/office/drawing/2014/main" id="{73869A79-6CD1-69AF-C321-8D5E97207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57" y="1447305"/>
            <a:ext cx="5569526" cy="39633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sz="2800" dirty="0"/>
              <a:t>: test6</a:t>
            </a:r>
          </a:p>
          <a:p>
            <a:pPr marL="0" indent="0">
              <a:buNone/>
            </a:pPr>
            <a:r>
              <a:rPr lang="et-EE" sz="2800" dirty="0"/>
              <a:t>IF ( </a:t>
            </a:r>
            <a:r>
              <a:rPr lang="et-EE" sz="2800" dirty="0" err="1"/>
              <a:t>flag</a:t>
            </a:r>
            <a:r>
              <a:rPr lang="et-EE" sz="2800" dirty="0"/>
              <a:t> -- )</a:t>
            </a:r>
          </a:p>
          <a:p>
            <a:pPr marL="0" indent="0">
              <a:buNone/>
            </a:pPr>
            <a:r>
              <a:rPr lang="et-EE" sz="2800" dirty="0"/>
              <a:t>ROT ( X[3] X[2] X[1] -- X[2] X[1] X[3]  )</a:t>
            </a:r>
          </a:p>
          <a:p>
            <a:pPr marL="0" indent="0">
              <a:buNone/>
            </a:pPr>
            <a:r>
              <a:rPr lang="et-EE" sz="2800" dirty="0"/>
              <a:t>ELSE</a:t>
            </a:r>
          </a:p>
          <a:p>
            <a:pPr marL="0" indent="0">
              <a:buNone/>
            </a:pPr>
            <a:r>
              <a:rPr lang="et-EE" sz="2800" dirty="0"/>
              <a:t>@ ( a-</a:t>
            </a:r>
            <a:r>
              <a:rPr lang="et-EE" sz="2800" dirty="0" err="1"/>
              <a:t>addr</a:t>
            </a:r>
            <a:r>
              <a:rPr lang="et-EE" sz="2800" dirty="0"/>
              <a:t> -- X )</a:t>
            </a:r>
          </a:p>
          <a:p>
            <a:pPr marL="0" indent="0">
              <a:buNone/>
            </a:pPr>
            <a:r>
              <a:rPr lang="et-EE" sz="2800" dirty="0"/>
              <a:t>FI</a:t>
            </a:r>
          </a:p>
          <a:p>
            <a:pPr marL="0" indent="0">
              <a:buNone/>
            </a:pPr>
            <a:r>
              <a:rPr lang="et-EE" sz="2800" dirty="0"/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D10C7B-A653-0FB5-7342-B4023E34D2C9}"/>
              </a:ext>
            </a:extLst>
          </p:cNvPr>
          <p:cNvSpPr txBox="1"/>
          <p:nvPr/>
        </p:nvSpPr>
        <p:spPr>
          <a:xfrm>
            <a:off x="213757" y="5410694"/>
            <a:ext cx="11992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t-EE" sz="2400"/>
              <a:t>Prefer </a:t>
            </a:r>
            <a:r>
              <a:rPr lang="et-EE" sz="2400" dirty="0" err="1"/>
              <a:t>supertype</a:t>
            </a:r>
            <a:r>
              <a:rPr lang="et-EE" sz="2400" dirty="0"/>
              <a:t> in </a:t>
            </a:r>
            <a:r>
              <a:rPr lang="et-EE" sz="2400" dirty="0" err="1"/>
              <a:t>output</a:t>
            </a:r>
            <a:r>
              <a:rPr lang="et-EE" sz="2400" dirty="0"/>
              <a:t> (</a:t>
            </a:r>
            <a:r>
              <a:rPr lang="et-EE" sz="2400" dirty="0" err="1"/>
              <a:t>we</a:t>
            </a:r>
            <a:r>
              <a:rPr lang="et-EE" sz="2400" dirty="0"/>
              <a:t> </a:t>
            </a:r>
            <a:r>
              <a:rPr lang="et-EE" sz="2400" dirty="0" err="1"/>
              <a:t>don’t</a:t>
            </a:r>
            <a:r>
              <a:rPr lang="et-EE" sz="2400" dirty="0"/>
              <a:t> </a:t>
            </a:r>
            <a:r>
              <a:rPr lang="et-EE" sz="2400" dirty="0" err="1"/>
              <a:t>know</a:t>
            </a:r>
            <a:r>
              <a:rPr lang="et-EE" sz="2400" dirty="0"/>
              <a:t> </a:t>
            </a:r>
            <a:r>
              <a:rPr lang="et-EE" sz="2400" dirty="0" err="1"/>
              <a:t>which</a:t>
            </a:r>
            <a:r>
              <a:rPr lang="et-EE" sz="2400" dirty="0"/>
              <a:t> </a:t>
            </a:r>
            <a:r>
              <a:rPr lang="et-EE" sz="2400" dirty="0" err="1"/>
              <a:t>branch</a:t>
            </a:r>
            <a:r>
              <a:rPr lang="et-EE" sz="2400" dirty="0"/>
              <a:t> </a:t>
            </a:r>
            <a:r>
              <a:rPr lang="et-EE" sz="2400" dirty="0" err="1"/>
              <a:t>was</a:t>
            </a:r>
            <a:r>
              <a:rPr lang="et-EE" sz="2400" dirty="0"/>
              <a:t> </a:t>
            </a:r>
            <a:r>
              <a:rPr lang="et-EE" sz="2400" dirty="0" err="1"/>
              <a:t>chosen</a:t>
            </a:r>
            <a:r>
              <a:rPr lang="et-EE" sz="2400" dirty="0"/>
              <a:t>, a-</a:t>
            </a:r>
            <a:r>
              <a:rPr lang="et-EE" sz="2400" dirty="0" err="1"/>
              <a:t>addr</a:t>
            </a:r>
            <a:r>
              <a:rPr lang="et-EE" sz="2400" dirty="0"/>
              <a:t>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of X)</a:t>
            </a:r>
          </a:p>
          <a:p>
            <a:r>
              <a:rPr lang="et-EE" sz="2400" dirty="0" err="1"/>
              <a:t>Results</a:t>
            </a:r>
            <a:r>
              <a:rPr lang="et-EE" sz="2400" dirty="0"/>
              <a:t> in ( x </a:t>
            </a:r>
            <a:r>
              <a:rPr lang="et-EE" sz="2400" dirty="0" err="1"/>
              <a:t>x</a:t>
            </a:r>
            <a:r>
              <a:rPr lang="et-EE" sz="2400" dirty="0"/>
              <a:t> a-</a:t>
            </a:r>
            <a:r>
              <a:rPr lang="et-EE" sz="2400" dirty="0" err="1"/>
              <a:t>addr</a:t>
            </a:r>
            <a:r>
              <a:rPr lang="et-EE" sz="2400" dirty="0"/>
              <a:t> </a:t>
            </a:r>
            <a:r>
              <a:rPr lang="et-EE" sz="2400" dirty="0" err="1"/>
              <a:t>flag</a:t>
            </a:r>
            <a:r>
              <a:rPr lang="et-EE" sz="2400" dirty="0"/>
              <a:t>  --  x </a:t>
            </a:r>
            <a:r>
              <a:rPr lang="et-EE" sz="2400" dirty="0" err="1"/>
              <a:t>x</a:t>
            </a:r>
            <a:r>
              <a:rPr lang="et-EE" sz="2400" dirty="0"/>
              <a:t> </a:t>
            </a:r>
            <a:r>
              <a:rPr lang="et-EE" sz="2400" dirty="0" err="1"/>
              <a:t>x</a:t>
            </a:r>
            <a:r>
              <a:rPr lang="et-EE" sz="2400" dirty="0"/>
              <a:t> )</a:t>
            </a:r>
          </a:p>
        </p:txBody>
      </p:sp>
      <p:sp>
        <p:nvSpPr>
          <p:cNvPr id="6" name="Sisu kohatäide 2">
            <a:extLst>
              <a:ext uri="{FF2B5EF4-FFF2-40B4-BE49-F238E27FC236}">
                <a16:creationId xmlns:a16="http://schemas.microsoft.com/office/drawing/2014/main" id="{6553D07A-E182-AF0C-3DE6-CF9D2E8E818C}"/>
              </a:ext>
            </a:extLst>
          </p:cNvPr>
          <p:cNvSpPr txBox="1">
            <a:spLocks/>
          </p:cNvSpPr>
          <p:nvPr/>
        </p:nvSpPr>
        <p:spPr>
          <a:xfrm>
            <a:off x="5935683" y="1447304"/>
            <a:ext cx="5569526" cy="3963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sz="2800" dirty="0"/>
              <a:t>X2  X1  a-</a:t>
            </a:r>
            <a:r>
              <a:rPr lang="et-EE" sz="2800" dirty="0" err="1"/>
              <a:t>addr</a:t>
            </a:r>
            <a:r>
              <a:rPr lang="et-EE" sz="2800" dirty="0"/>
              <a:t>  </a:t>
            </a:r>
            <a:r>
              <a:rPr lang="et-EE" sz="2800" dirty="0" err="1"/>
              <a:t>flag</a:t>
            </a:r>
            <a:endParaRPr lang="et-EE" sz="2800" dirty="0"/>
          </a:p>
          <a:p>
            <a:pPr marL="0" indent="0">
              <a:buFont typeface="Arial"/>
              <a:buNone/>
            </a:pPr>
            <a:r>
              <a:rPr lang="et-EE" sz="2800" dirty="0"/>
              <a:t>X2  X1  a-</a:t>
            </a:r>
            <a:r>
              <a:rPr lang="et-EE" sz="2800" dirty="0" err="1"/>
              <a:t>addr</a:t>
            </a:r>
            <a:endParaRPr lang="et-EE" sz="2800" dirty="0"/>
          </a:p>
          <a:p>
            <a:pPr marL="0" indent="0">
              <a:buFont typeface="Arial"/>
              <a:buNone/>
            </a:pPr>
            <a:r>
              <a:rPr lang="et-EE" sz="2800" dirty="0"/>
              <a:t>X1  a-</a:t>
            </a:r>
            <a:r>
              <a:rPr lang="et-EE" sz="2800" dirty="0" err="1"/>
              <a:t>addr</a:t>
            </a:r>
            <a:r>
              <a:rPr lang="et-EE" sz="2800" dirty="0"/>
              <a:t>  X2</a:t>
            </a:r>
          </a:p>
          <a:p>
            <a:pPr marL="0" indent="0">
              <a:buFont typeface="Arial"/>
              <a:buNone/>
            </a:pPr>
            <a:r>
              <a:rPr lang="et-EE" sz="2800" dirty="0" err="1"/>
              <a:t>If</a:t>
            </a:r>
            <a:r>
              <a:rPr lang="et-EE" sz="2800" dirty="0"/>
              <a:t> ( X2 X1 a-</a:t>
            </a:r>
            <a:r>
              <a:rPr lang="et-EE" sz="2800" dirty="0" err="1"/>
              <a:t>addr</a:t>
            </a:r>
            <a:r>
              <a:rPr lang="et-EE" sz="2800" dirty="0"/>
              <a:t> -- X1 a-</a:t>
            </a:r>
            <a:r>
              <a:rPr lang="et-EE" sz="2800" dirty="0" err="1"/>
              <a:t>addr</a:t>
            </a:r>
            <a:r>
              <a:rPr lang="et-EE" sz="2800" dirty="0"/>
              <a:t> X2 )</a:t>
            </a:r>
          </a:p>
          <a:p>
            <a:pPr marL="0" indent="0">
              <a:buFont typeface="Arial"/>
              <a:buNone/>
            </a:pPr>
            <a:r>
              <a:rPr lang="et-EE" sz="2800" dirty="0"/>
              <a:t>X2  X1  X3</a:t>
            </a:r>
          </a:p>
          <a:p>
            <a:pPr marL="0" indent="0">
              <a:buFont typeface="Arial"/>
              <a:buNone/>
            </a:pPr>
            <a:r>
              <a:rPr lang="et-EE" sz="2800" dirty="0"/>
              <a:t>Else ( a-</a:t>
            </a:r>
            <a:r>
              <a:rPr lang="et-EE" sz="2800" dirty="0" err="1"/>
              <a:t>addr</a:t>
            </a:r>
            <a:r>
              <a:rPr lang="et-EE" sz="2800" dirty="0"/>
              <a:t> -- X )</a:t>
            </a:r>
          </a:p>
          <a:p>
            <a:pPr marL="0" indent="0">
              <a:buFont typeface="Arial"/>
              <a:buNone/>
            </a:pPr>
            <a:r>
              <a:rPr lang="et-EE" sz="2800" dirty="0" err="1"/>
              <a:t>Meet</a:t>
            </a:r>
            <a:r>
              <a:rPr lang="et-EE" sz="2800" dirty="0"/>
              <a:t>:  ( X2 X1 a-</a:t>
            </a:r>
            <a:r>
              <a:rPr lang="et-EE" sz="2800" dirty="0" err="1"/>
              <a:t>addr</a:t>
            </a:r>
            <a:r>
              <a:rPr lang="et-EE" sz="2800" dirty="0"/>
              <a:t> -- X3 X4 X5 )</a:t>
            </a:r>
          </a:p>
        </p:txBody>
      </p:sp>
      <p:cxnSp>
        <p:nvCxnSpPr>
          <p:cNvPr id="4" name="Connector 1">
            <a:extLst>
              <a:ext uri="{FF2B5EF4-FFF2-40B4-BE49-F238E27FC236}">
                <a16:creationId xmlns:a16="http://schemas.microsoft.com/office/drawing/2014/main" id="{159CC596-0FBD-714B-2E21-7889E089BB8B}"/>
              </a:ext>
            </a:extLst>
          </p:cNvPr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1592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AD048-3950-2216-AEE9-636EF6404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A92EA69B-6B1C-4332-85C2-830E8AF361B5}"/>
              </a:ext>
            </a:extLst>
          </p:cNvPr>
          <p:cNvGraphicFramePr/>
          <p:nvPr/>
        </p:nvGraphicFramePr>
        <p:xfrm>
          <a:off x="598551" y="266452"/>
          <a:ext cx="8229600" cy="114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isu kohatäide 2">
            <a:extLst>
              <a:ext uri="{FF2B5EF4-FFF2-40B4-BE49-F238E27FC236}">
                <a16:creationId xmlns:a16="http://schemas.microsoft.com/office/drawing/2014/main" id="{390EDCFA-AD43-6749-02F4-FD9B22969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57" y="1447305"/>
            <a:ext cx="5569526" cy="39633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sz="2800"/>
              <a:t>: test9</a:t>
            </a:r>
            <a:endParaRPr lang="et-EE" sz="2800" dirty="0"/>
          </a:p>
          <a:p>
            <a:pPr marL="0" indent="0">
              <a:buNone/>
            </a:pPr>
            <a:r>
              <a:rPr lang="et-EE" sz="2800" dirty="0"/>
              <a:t>IF ( </a:t>
            </a:r>
            <a:r>
              <a:rPr lang="et-EE" sz="2800" dirty="0" err="1"/>
              <a:t>flag</a:t>
            </a:r>
            <a:r>
              <a:rPr lang="et-EE" sz="2800" dirty="0"/>
              <a:t> -- )</a:t>
            </a:r>
          </a:p>
          <a:p>
            <a:pPr marL="0" indent="0">
              <a:buNone/>
            </a:pPr>
            <a:r>
              <a:rPr lang="et-EE" sz="2800" dirty="0"/>
              <a:t>@ ( a-</a:t>
            </a:r>
            <a:r>
              <a:rPr lang="et-EE" sz="2800" dirty="0" err="1"/>
              <a:t>addr</a:t>
            </a:r>
            <a:r>
              <a:rPr lang="et-EE" sz="2800" dirty="0"/>
              <a:t> -- X  )</a:t>
            </a:r>
          </a:p>
          <a:p>
            <a:pPr marL="0" indent="0">
              <a:buNone/>
            </a:pPr>
            <a:r>
              <a:rPr lang="et-EE" sz="2800" dirty="0"/>
              <a:t>ELSE</a:t>
            </a:r>
          </a:p>
          <a:p>
            <a:pPr marL="0" indent="0">
              <a:buNone/>
            </a:pPr>
            <a:r>
              <a:rPr lang="et-EE" sz="2800" dirty="0"/>
              <a:t>C@ ( c-</a:t>
            </a:r>
            <a:r>
              <a:rPr lang="et-EE" sz="2800" dirty="0" err="1"/>
              <a:t>addr</a:t>
            </a:r>
            <a:r>
              <a:rPr lang="et-EE" sz="2800" dirty="0"/>
              <a:t> -- </a:t>
            </a:r>
            <a:r>
              <a:rPr lang="et-EE" sz="2800" dirty="0" err="1"/>
              <a:t>char</a:t>
            </a:r>
            <a:r>
              <a:rPr lang="et-EE" sz="2800" dirty="0"/>
              <a:t> )</a:t>
            </a:r>
          </a:p>
          <a:p>
            <a:pPr marL="0" indent="0">
              <a:buNone/>
            </a:pPr>
            <a:r>
              <a:rPr lang="et-EE" sz="2800" dirty="0"/>
              <a:t>FI</a:t>
            </a:r>
          </a:p>
          <a:p>
            <a:pPr marL="0" indent="0">
              <a:buNone/>
            </a:pPr>
            <a:r>
              <a:rPr lang="et-EE" sz="2800" dirty="0"/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826810-7C23-3720-3713-842954E6EED5}"/>
              </a:ext>
            </a:extLst>
          </p:cNvPr>
          <p:cNvSpPr txBox="1"/>
          <p:nvPr/>
        </p:nvSpPr>
        <p:spPr>
          <a:xfrm>
            <a:off x="213757" y="5410694"/>
            <a:ext cx="100989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t-EE" sz="2400"/>
              <a:t>Prefer </a:t>
            </a:r>
            <a:r>
              <a:rPr lang="et-EE" sz="2400" dirty="0" err="1"/>
              <a:t>subtype</a:t>
            </a:r>
            <a:r>
              <a:rPr lang="et-EE" sz="2400" dirty="0"/>
              <a:t> in </a:t>
            </a:r>
            <a:r>
              <a:rPr lang="et-EE" sz="2400" dirty="0" err="1"/>
              <a:t>input</a:t>
            </a:r>
            <a:r>
              <a:rPr lang="et-EE" sz="2400" dirty="0"/>
              <a:t> (a-</a:t>
            </a:r>
            <a:r>
              <a:rPr lang="et-EE" sz="2400" dirty="0" err="1"/>
              <a:t>addr</a:t>
            </a:r>
            <a:r>
              <a:rPr lang="et-EE" sz="2400" dirty="0"/>
              <a:t>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of c-</a:t>
            </a:r>
            <a:r>
              <a:rPr lang="et-EE" sz="2400" dirty="0" err="1"/>
              <a:t>addr</a:t>
            </a:r>
            <a:r>
              <a:rPr lang="et-EE" sz="2400" dirty="0"/>
              <a:t> and X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supertype</a:t>
            </a:r>
            <a:r>
              <a:rPr lang="et-EE" sz="2400" dirty="0"/>
              <a:t> of </a:t>
            </a:r>
            <a:r>
              <a:rPr lang="et-EE" sz="2400" dirty="0" err="1"/>
              <a:t>char</a:t>
            </a:r>
            <a:r>
              <a:rPr lang="et-EE" sz="2400" dirty="0"/>
              <a:t>)</a:t>
            </a:r>
          </a:p>
          <a:p>
            <a:r>
              <a:rPr lang="et-EE" sz="2400" dirty="0" err="1"/>
              <a:t>Results</a:t>
            </a:r>
            <a:r>
              <a:rPr lang="et-EE" sz="2400" dirty="0"/>
              <a:t> in ( a-</a:t>
            </a:r>
            <a:r>
              <a:rPr lang="et-EE" sz="2400" dirty="0" err="1"/>
              <a:t>addr</a:t>
            </a:r>
            <a:r>
              <a:rPr lang="et-EE" sz="2400" dirty="0"/>
              <a:t> </a:t>
            </a:r>
            <a:r>
              <a:rPr lang="et-EE" sz="2400" dirty="0" err="1"/>
              <a:t>flag</a:t>
            </a:r>
            <a:r>
              <a:rPr lang="et-EE" sz="2400" dirty="0"/>
              <a:t>  --  X )</a:t>
            </a:r>
          </a:p>
        </p:txBody>
      </p:sp>
      <p:sp>
        <p:nvSpPr>
          <p:cNvPr id="6" name="Sisu kohatäide 2">
            <a:extLst>
              <a:ext uri="{FF2B5EF4-FFF2-40B4-BE49-F238E27FC236}">
                <a16:creationId xmlns:a16="http://schemas.microsoft.com/office/drawing/2014/main" id="{156A68A6-DE2A-B6C9-FE06-E163E33D40C6}"/>
              </a:ext>
            </a:extLst>
          </p:cNvPr>
          <p:cNvSpPr txBox="1">
            <a:spLocks/>
          </p:cNvSpPr>
          <p:nvPr/>
        </p:nvSpPr>
        <p:spPr>
          <a:xfrm>
            <a:off x="5935683" y="1447304"/>
            <a:ext cx="5569526" cy="3963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sz="2800" dirty="0"/>
              <a:t> a-</a:t>
            </a:r>
            <a:r>
              <a:rPr lang="et-EE" sz="2800" dirty="0" err="1"/>
              <a:t>addr</a:t>
            </a:r>
            <a:r>
              <a:rPr lang="et-EE" sz="2800" dirty="0"/>
              <a:t>  </a:t>
            </a:r>
            <a:r>
              <a:rPr lang="et-EE" sz="2800" dirty="0" err="1"/>
              <a:t>flag</a:t>
            </a:r>
            <a:endParaRPr lang="et-EE" sz="2800" dirty="0"/>
          </a:p>
          <a:p>
            <a:pPr marL="0" indent="0">
              <a:buFont typeface="Arial"/>
              <a:buNone/>
            </a:pPr>
            <a:r>
              <a:rPr lang="et-EE" sz="2800" dirty="0"/>
              <a:t>a-</a:t>
            </a:r>
            <a:r>
              <a:rPr lang="et-EE" sz="2800" dirty="0" err="1"/>
              <a:t>addr</a:t>
            </a:r>
            <a:endParaRPr lang="et-EE" sz="2800" dirty="0"/>
          </a:p>
          <a:p>
            <a:pPr marL="0" indent="0">
              <a:buFont typeface="Arial"/>
              <a:buNone/>
            </a:pPr>
            <a:r>
              <a:rPr lang="et-EE" sz="2800" dirty="0"/>
              <a:t>X</a:t>
            </a:r>
          </a:p>
          <a:p>
            <a:pPr marL="0" indent="0">
              <a:buFont typeface="Arial"/>
              <a:buNone/>
            </a:pPr>
            <a:r>
              <a:rPr lang="et-EE" sz="2800" dirty="0" err="1"/>
              <a:t>If</a:t>
            </a:r>
            <a:r>
              <a:rPr lang="et-EE" sz="2800" dirty="0"/>
              <a:t> ( a-</a:t>
            </a:r>
            <a:r>
              <a:rPr lang="et-EE" sz="2800" dirty="0" err="1"/>
              <a:t>addr</a:t>
            </a:r>
            <a:r>
              <a:rPr lang="et-EE" sz="2800" dirty="0"/>
              <a:t> -- X )</a:t>
            </a:r>
          </a:p>
          <a:p>
            <a:pPr marL="0" indent="0">
              <a:buFont typeface="Arial"/>
              <a:buNone/>
            </a:pPr>
            <a:r>
              <a:rPr lang="et-EE" sz="2800" dirty="0" err="1"/>
              <a:t>char</a:t>
            </a:r>
            <a:endParaRPr lang="et-EE" sz="2800" dirty="0"/>
          </a:p>
          <a:p>
            <a:pPr marL="0" indent="0">
              <a:buFont typeface="Arial"/>
              <a:buNone/>
            </a:pPr>
            <a:r>
              <a:rPr lang="et-EE" sz="2800" dirty="0"/>
              <a:t>Else ( c-</a:t>
            </a:r>
            <a:r>
              <a:rPr lang="et-EE" sz="2800" dirty="0" err="1"/>
              <a:t>addr</a:t>
            </a:r>
            <a:r>
              <a:rPr lang="et-EE" sz="2800" dirty="0"/>
              <a:t> -- </a:t>
            </a:r>
            <a:r>
              <a:rPr lang="et-EE" sz="2800" dirty="0" err="1"/>
              <a:t>char</a:t>
            </a:r>
            <a:r>
              <a:rPr lang="et-EE" sz="2800" dirty="0"/>
              <a:t> )</a:t>
            </a:r>
          </a:p>
          <a:p>
            <a:pPr marL="0" indent="0">
              <a:buFont typeface="Arial"/>
              <a:buNone/>
            </a:pPr>
            <a:r>
              <a:rPr lang="et-EE" sz="2800" dirty="0" err="1"/>
              <a:t>Meet</a:t>
            </a:r>
            <a:r>
              <a:rPr lang="et-EE" sz="2800" dirty="0"/>
              <a:t>:  ( a-</a:t>
            </a:r>
            <a:r>
              <a:rPr lang="et-EE" sz="2800" dirty="0" err="1"/>
              <a:t>addr</a:t>
            </a:r>
            <a:r>
              <a:rPr lang="et-EE" sz="2800" dirty="0"/>
              <a:t> -- X )</a:t>
            </a:r>
          </a:p>
        </p:txBody>
      </p:sp>
      <p:cxnSp>
        <p:nvCxnSpPr>
          <p:cNvPr id="4" name="Connector 1">
            <a:extLst>
              <a:ext uri="{FF2B5EF4-FFF2-40B4-BE49-F238E27FC236}">
                <a16:creationId xmlns:a16="http://schemas.microsoft.com/office/drawing/2014/main" id="{0D5371E3-E09D-EAF3-8D55-D3B6C8AD4875}"/>
              </a:ext>
            </a:extLst>
          </p:cNvPr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50972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8E45C-D772-AB5E-A008-DE3E3FA51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2B84406-DBAB-4D62-98F4-C2DC49A73910}"/>
              </a:ext>
            </a:extLst>
          </p:cNvPr>
          <p:cNvGraphicFramePr/>
          <p:nvPr/>
        </p:nvGraphicFramePr>
        <p:xfrm>
          <a:off x="653143" y="158833"/>
          <a:ext cx="8229600" cy="114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isu kohatäide 2">
            <a:extLst>
              <a:ext uri="{FF2B5EF4-FFF2-40B4-BE49-F238E27FC236}">
                <a16:creationId xmlns:a16="http://schemas.microsoft.com/office/drawing/2014/main" id="{BF790313-31F0-4185-326B-5C5CECC96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004" y="1447305"/>
            <a:ext cx="5569526" cy="39633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sz="2400" dirty="0"/>
              <a:t>: test7</a:t>
            </a:r>
          </a:p>
          <a:p>
            <a:pPr marL="0" indent="0">
              <a:buNone/>
            </a:pPr>
            <a:r>
              <a:rPr lang="et-EE" sz="2400" dirty="0"/>
              <a:t>BEGIN</a:t>
            </a:r>
          </a:p>
          <a:p>
            <a:pPr marL="0" indent="0">
              <a:buNone/>
            </a:pPr>
            <a:r>
              <a:rPr lang="et-EE" sz="2400" dirty="0"/>
              <a:t>SWAP ( X[2] X[1] -- X[1] X[2] )</a:t>
            </a:r>
          </a:p>
          <a:p>
            <a:pPr marL="0" indent="0">
              <a:buNone/>
            </a:pPr>
            <a:r>
              <a:rPr lang="et-EE" sz="2400" dirty="0"/>
              <a:t>OVER ( X[2] X[1] -- X[2] X[1] X[2] )</a:t>
            </a:r>
          </a:p>
          <a:p>
            <a:pPr marL="0" indent="0">
              <a:buNone/>
            </a:pPr>
            <a:r>
              <a:rPr lang="et-EE" sz="2400" dirty="0"/>
              <a:t>WHILE</a:t>
            </a:r>
          </a:p>
          <a:p>
            <a:pPr marL="0" indent="0">
              <a:buNone/>
            </a:pPr>
            <a:r>
              <a:rPr lang="et-EE" sz="2400" dirty="0"/>
              <a:t>INVERT  ( </a:t>
            </a:r>
            <a:r>
              <a:rPr lang="et-EE" sz="2400" dirty="0" err="1"/>
              <a:t>flag</a:t>
            </a:r>
            <a:r>
              <a:rPr lang="et-EE" sz="2400" dirty="0"/>
              <a:t> -- </a:t>
            </a:r>
            <a:r>
              <a:rPr lang="et-EE" sz="2400" dirty="0" err="1"/>
              <a:t>flag</a:t>
            </a:r>
            <a:r>
              <a:rPr lang="et-EE" sz="2400" dirty="0"/>
              <a:t> )</a:t>
            </a:r>
          </a:p>
          <a:p>
            <a:pPr marL="0" indent="0">
              <a:buNone/>
            </a:pPr>
            <a:r>
              <a:rPr lang="et-EE" sz="2400" dirty="0"/>
              <a:t>REPEAT</a:t>
            </a:r>
          </a:p>
          <a:p>
            <a:pPr marL="0" indent="0">
              <a:buNone/>
            </a:pPr>
            <a:r>
              <a:rPr lang="et-EE" sz="2400" dirty="0"/>
              <a:t>;</a:t>
            </a:r>
          </a:p>
          <a:p>
            <a:pPr marL="0" indent="0">
              <a:buNone/>
            </a:pPr>
            <a:endParaRPr lang="et-EE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BEEEFF-A28E-03F0-134B-AC23E37004FB}"/>
              </a:ext>
            </a:extLst>
          </p:cNvPr>
          <p:cNvSpPr txBox="1"/>
          <p:nvPr/>
        </p:nvSpPr>
        <p:spPr>
          <a:xfrm>
            <a:off x="213757" y="5410694"/>
            <a:ext cx="57900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t-EE" sz="2400"/>
              <a:t>Prefer </a:t>
            </a:r>
            <a:r>
              <a:rPr lang="et-EE" sz="2400" dirty="0" err="1"/>
              <a:t>subtype</a:t>
            </a:r>
            <a:r>
              <a:rPr lang="et-EE" sz="2400" dirty="0"/>
              <a:t> in </a:t>
            </a:r>
            <a:r>
              <a:rPr lang="et-EE" sz="2400" dirty="0" err="1"/>
              <a:t>input</a:t>
            </a:r>
            <a:r>
              <a:rPr lang="et-EE" sz="2400" dirty="0"/>
              <a:t> (</a:t>
            </a:r>
            <a:r>
              <a:rPr lang="et-EE" sz="2400" dirty="0" err="1"/>
              <a:t>flag</a:t>
            </a:r>
            <a:r>
              <a:rPr lang="et-EE" sz="2400" dirty="0"/>
              <a:t>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of X)</a:t>
            </a:r>
          </a:p>
          <a:p>
            <a:r>
              <a:rPr lang="et-EE" sz="2400" dirty="0" err="1"/>
              <a:t>Results</a:t>
            </a:r>
            <a:r>
              <a:rPr lang="et-EE" sz="2400" dirty="0"/>
              <a:t> in ( </a:t>
            </a:r>
            <a:r>
              <a:rPr lang="et-EE" sz="2400" dirty="0" err="1"/>
              <a:t>flag</a:t>
            </a:r>
            <a:r>
              <a:rPr lang="et-EE" sz="2400" dirty="0"/>
              <a:t> </a:t>
            </a:r>
            <a:r>
              <a:rPr lang="et-EE" sz="2400" dirty="0" err="1"/>
              <a:t>flag</a:t>
            </a:r>
            <a:r>
              <a:rPr lang="et-EE" sz="2400" dirty="0"/>
              <a:t>  --  </a:t>
            </a:r>
            <a:r>
              <a:rPr lang="et-EE" sz="2400" dirty="0" err="1"/>
              <a:t>flag</a:t>
            </a:r>
            <a:r>
              <a:rPr lang="et-EE" sz="2400" dirty="0"/>
              <a:t> </a:t>
            </a:r>
            <a:r>
              <a:rPr lang="et-EE" sz="2400" dirty="0" err="1"/>
              <a:t>flag</a:t>
            </a:r>
            <a:r>
              <a:rPr lang="et-EE" sz="2400" dirty="0"/>
              <a:t> )</a:t>
            </a:r>
          </a:p>
        </p:txBody>
      </p:sp>
      <p:sp>
        <p:nvSpPr>
          <p:cNvPr id="6" name="Sisu kohatäide 2">
            <a:extLst>
              <a:ext uri="{FF2B5EF4-FFF2-40B4-BE49-F238E27FC236}">
                <a16:creationId xmlns:a16="http://schemas.microsoft.com/office/drawing/2014/main" id="{F912D2E0-84F6-FADB-8150-2B00A3BB1FC6}"/>
              </a:ext>
            </a:extLst>
          </p:cNvPr>
          <p:cNvSpPr txBox="1">
            <a:spLocks/>
          </p:cNvSpPr>
          <p:nvPr/>
        </p:nvSpPr>
        <p:spPr>
          <a:xfrm>
            <a:off x="5935683" y="1447304"/>
            <a:ext cx="5569526" cy="3963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sz="2800" dirty="0"/>
              <a:t> </a:t>
            </a:r>
            <a:r>
              <a:rPr lang="et-EE" sz="2400" dirty="0"/>
              <a:t>fl2 fl1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Loop1 </a:t>
            </a:r>
            <a:r>
              <a:rPr lang="et-EE" sz="2400" dirty="0" err="1"/>
              <a:t>effect</a:t>
            </a:r>
            <a:r>
              <a:rPr lang="et-EE" sz="2400" dirty="0"/>
              <a:t>: ( X </a:t>
            </a:r>
            <a:r>
              <a:rPr lang="et-EE" sz="2400" dirty="0" err="1"/>
              <a:t>X</a:t>
            </a:r>
            <a:r>
              <a:rPr lang="et-EE" sz="2400" dirty="0"/>
              <a:t> -- X </a:t>
            </a:r>
            <a:r>
              <a:rPr lang="et-EE" sz="2400" dirty="0" err="1"/>
              <a:t>X</a:t>
            </a:r>
            <a:r>
              <a:rPr lang="et-EE" sz="2400" dirty="0"/>
              <a:t> )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fl1 fl2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fl1 fl2 fl1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fl1 fl2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fl1 fl3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Loop2 </a:t>
            </a:r>
            <a:r>
              <a:rPr lang="et-EE" sz="2400" dirty="0" err="1"/>
              <a:t>effect</a:t>
            </a:r>
            <a:r>
              <a:rPr lang="et-EE" sz="2400" dirty="0"/>
              <a:t>: ( </a:t>
            </a:r>
            <a:r>
              <a:rPr lang="et-EE" sz="2400" dirty="0" err="1"/>
              <a:t>flag</a:t>
            </a:r>
            <a:r>
              <a:rPr lang="et-EE" sz="2400" dirty="0"/>
              <a:t> -- </a:t>
            </a:r>
            <a:r>
              <a:rPr lang="et-EE" sz="2400" dirty="0" err="1"/>
              <a:t>flag</a:t>
            </a:r>
            <a:r>
              <a:rPr lang="et-EE" sz="2400" dirty="0"/>
              <a:t> )</a:t>
            </a:r>
          </a:p>
        </p:txBody>
      </p:sp>
      <p:cxnSp>
        <p:nvCxnSpPr>
          <p:cNvPr id="4" name="Connector 1">
            <a:extLst>
              <a:ext uri="{FF2B5EF4-FFF2-40B4-BE49-F238E27FC236}">
                <a16:creationId xmlns:a16="http://schemas.microsoft.com/office/drawing/2014/main" id="{EDEF6104-2E4F-7C99-2219-778569454B49}"/>
              </a:ext>
            </a:extLst>
          </p:cNvPr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55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58660-9A4F-A4B1-D732-F86C6362C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3284C09-47EB-4670-AB66-91CF2FE98D5D}"/>
              </a:ext>
            </a:extLst>
          </p:cNvPr>
          <p:cNvGraphicFramePr/>
          <p:nvPr/>
        </p:nvGraphicFramePr>
        <p:xfrm>
          <a:off x="1282535" y="302819"/>
          <a:ext cx="8229600" cy="114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isu kohatäide 2">
            <a:extLst>
              <a:ext uri="{FF2B5EF4-FFF2-40B4-BE49-F238E27FC236}">
                <a16:creationId xmlns:a16="http://schemas.microsoft.com/office/drawing/2014/main" id="{19FAE60C-ACEC-8527-4809-2575530FE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2440" y="1589808"/>
            <a:ext cx="3006434" cy="28159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sz="2400" dirty="0"/>
              <a:t>: test8</a:t>
            </a:r>
          </a:p>
          <a:p>
            <a:pPr marL="0" indent="0">
              <a:buNone/>
            </a:pPr>
            <a:r>
              <a:rPr lang="et-EE" sz="2400" dirty="0"/>
              <a:t>BEGIN</a:t>
            </a:r>
          </a:p>
          <a:p>
            <a:pPr marL="0" indent="0">
              <a:buNone/>
            </a:pPr>
            <a:r>
              <a:rPr lang="et-EE" sz="2400" dirty="0"/>
              <a:t>KEY (  -- </a:t>
            </a:r>
            <a:r>
              <a:rPr lang="et-EE" sz="2400" dirty="0" err="1"/>
              <a:t>char</a:t>
            </a:r>
            <a:r>
              <a:rPr lang="et-EE" sz="2400" dirty="0"/>
              <a:t> )</a:t>
            </a:r>
          </a:p>
          <a:p>
            <a:pPr marL="0" indent="0">
              <a:buNone/>
            </a:pPr>
            <a:r>
              <a:rPr lang="et-EE" sz="2400" dirty="0"/>
              <a:t>0= ( n -- </a:t>
            </a:r>
            <a:r>
              <a:rPr lang="et-EE" sz="2400" dirty="0" err="1"/>
              <a:t>flag</a:t>
            </a:r>
            <a:r>
              <a:rPr lang="et-EE" sz="2400" dirty="0"/>
              <a:t> )</a:t>
            </a:r>
          </a:p>
          <a:p>
            <a:pPr marL="0" indent="0">
              <a:buNone/>
            </a:pPr>
            <a:r>
              <a:rPr lang="et-EE" sz="2400" dirty="0"/>
              <a:t>UNTIL ( </a:t>
            </a:r>
            <a:r>
              <a:rPr lang="et-EE" sz="2400" dirty="0" err="1"/>
              <a:t>flag</a:t>
            </a:r>
            <a:r>
              <a:rPr lang="et-EE" sz="2400" dirty="0"/>
              <a:t> -- )</a:t>
            </a:r>
          </a:p>
          <a:p>
            <a:pPr marL="0" indent="0">
              <a:buNone/>
            </a:pPr>
            <a:r>
              <a:rPr lang="et-EE" sz="2400" dirty="0"/>
              <a:t>;</a:t>
            </a:r>
          </a:p>
          <a:p>
            <a:pPr marL="0" indent="0">
              <a:buNone/>
            </a:pPr>
            <a:endParaRPr lang="et-EE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51A095-86DC-EA17-18F4-059111B9F7ED}"/>
              </a:ext>
            </a:extLst>
          </p:cNvPr>
          <p:cNvSpPr txBox="1"/>
          <p:nvPr/>
        </p:nvSpPr>
        <p:spPr>
          <a:xfrm>
            <a:off x="1080656" y="4693723"/>
            <a:ext cx="58798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t-EE" sz="2400"/>
              <a:t>Prefer </a:t>
            </a:r>
            <a:r>
              <a:rPr lang="et-EE" sz="2400" dirty="0" err="1"/>
              <a:t>subtype</a:t>
            </a:r>
            <a:r>
              <a:rPr lang="et-EE" sz="2400" dirty="0"/>
              <a:t> in </a:t>
            </a:r>
            <a:r>
              <a:rPr lang="et-EE" sz="2400" dirty="0" err="1"/>
              <a:t>input</a:t>
            </a:r>
            <a:r>
              <a:rPr lang="et-EE" sz="2400" dirty="0"/>
              <a:t> (</a:t>
            </a:r>
            <a:r>
              <a:rPr lang="et-EE" sz="2400" dirty="0" err="1"/>
              <a:t>char</a:t>
            </a:r>
            <a:r>
              <a:rPr lang="et-EE" sz="2400" dirty="0"/>
              <a:t>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of n)</a:t>
            </a:r>
          </a:p>
          <a:p>
            <a:r>
              <a:rPr lang="et-EE" sz="2400" dirty="0" err="1"/>
              <a:t>Results</a:t>
            </a:r>
            <a:r>
              <a:rPr lang="et-EE" sz="2400" dirty="0"/>
              <a:t> in (  --   )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F7018DC3-AD8D-F04A-0AF4-10BBC141AB13}"/>
              </a:ext>
            </a:extLst>
          </p:cNvPr>
          <p:cNvSpPr txBox="1">
            <a:spLocks/>
          </p:cNvSpPr>
          <p:nvPr/>
        </p:nvSpPr>
        <p:spPr>
          <a:xfrm>
            <a:off x="4878779" y="1650671"/>
            <a:ext cx="3645723" cy="31009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t-EE" sz="2400" dirty="0"/>
          </a:p>
          <a:p>
            <a:pPr marL="0" indent="0">
              <a:buFont typeface="Arial"/>
              <a:buNone/>
            </a:pPr>
            <a:endParaRPr lang="et-EE" sz="2400" dirty="0"/>
          </a:p>
          <a:p>
            <a:pPr marL="0" indent="0">
              <a:buFont typeface="Arial"/>
              <a:buNone/>
            </a:pPr>
            <a:r>
              <a:rPr lang="et-EE" sz="2400" dirty="0" err="1"/>
              <a:t>char</a:t>
            </a:r>
            <a:endParaRPr lang="et-EE" sz="2400" dirty="0"/>
          </a:p>
          <a:p>
            <a:pPr marL="0" indent="0">
              <a:buFont typeface="Arial"/>
              <a:buNone/>
            </a:pPr>
            <a:r>
              <a:rPr lang="et-EE" sz="2400" dirty="0" err="1"/>
              <a:t>flag</a:t>
            </a:r>
            <a:endParaRPr lang="et-EE" sz="2400" dirty="0"/>
          </a:p>
          <a:p>
            <a:pPr marL="0" indent="0">
              <a:buFont typeface="Arial"/>
              <a:buNone/>
            </a:pPr>
            <a:r>
              <a:rPr lang="et-EE" sz="2400" dirty="0"/>
              <a:t>Loop </a:t>
            </a:r>
            <a:r>
              <a:rPr lang="et-EE" sz="2400" dirty="0" err="1"/>
              <a:t>body</a:t>
            </a:r>
            <a:r>
              <a:rPr lang="et-EE" sz="2400" dirty="0"/>
              <a:t> ( -- )</a:t>
            </a:r>
          </a:p>
          <a:p>
            <a:pPr marL="0" indent="0">
              <a:buFont typeface="Arial"/>
              <a:buNone/>
            </a:pPr>
            <a:endParaRPr lang="et-EE" sz="2400" dirty="0"/>
          </a:p>
          <a:p>
            <a:pPr marL="0" indent="0">
              <a:buFont typeface="Arial"/>
              <a:buNone/>
            </a:pPr>
            <a:endParaRPr lang="et-EE" sz="2400" dirty="0"/>
          </a:p>
        </p:txBody>
      </p:sp>
      <p:cxnSp>
        <p:nvCxnSpPr>
          <p:cNvPr id="6" name="Connector 1">
            <a:extLst>
              <a:ext uri="{FF2B5EF4-FFF2-40B4-BE49-F238E27FC236}">
                <a16:creationId xmlns:a16="http://schemas.microsoft.com/office/drawing/2014/main" id="{BCC57E9C-9E53-F144-5CE8-075D9BD53E74}"/>
              </a:ext>
            </a:extLst>
          </p:cNvPr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14938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58660-9A4F-A4B1-D732-F86C6362C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F89D0258-B567-7843-C654-C41E06D24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535" y="302819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t-EE" sz="2600" b="1" dirty="0" err="1">
                <a:solidFill>
                  <a:srgbClr val="12304A"/>
                </a:solidFill>
                <a:latin typeface="Liberation Sans"/>
                <a:ea typeface="+mn-ea"/>
                <a:cs typeface="+mn-cs"/>
              </a:rPr>
              <a:t>Branches</a:t>
            </a:r>
            <a:r>
              <a:rPr lang="et-EE" sz="2600" b="1" dirty="0">
                <a:solidFill>
                  <a:srgbClr val="12304A"/>
                </a:solidFill>
                <a:latin typeface="Liberation Sans"/>
                <a:ea typeface="+mn-ea"/>
                <a:cs typeface="+mn-cs"/>
              </a:rPr>
              <a:t> and </a:t>
            </a:r>
            <a:r>
              <a:rPr lang="et-EE" sz="2600" b="1" dirty="0" err="1">
                <a:solidFill>
                  <a:srgbClr val="12304A"/>
                </a:solidFill>
                <a:latin typeface="Liberation Sans"/>
                <a:ea typeface="+mn-ea"/>
                <a:cs typeface="+mn-cs"/>
              </a:rPr>
              <a:t>loops</a:t>
            </a:r>
            <a:endParaRPr lang="et-EE" sz="2600" b="1" dirty="0">
              <a:solidFill>
                <a:srgbClr val="12304A"/>
              </a:solidFill>
              <a:latin typeface="Liberation Sans"/>
              <a:ea typeface="+mn-ea"/>
              <a:cs typeface="+mn-cs"/>
            </a:endParaRPr>
          </a:p>
        </p:txBody>
      </p:sp>
      <p:sp>
        <p:nvSpPr>
          <p:cNvPr id="3" name="Sisu kohatäide 2">
            <a:extLst>
              <a:ext uri="{FF2B5EF4-FFF2-40B4-BE49-F238E27FC236}">
                <a16:creationId xmlns:a16="http://schemas.microsoft.com/office/drawing/2014/main" id="{19FAE60C-ACEC-8527-4809-2575530FE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2440" y="1589807"/>
            <a:ext cx="4613560" cy="4965373"/>
          </a:xfrm>
        </p:spPr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US" sz="5500" dirty="0"/>
              <a:t>: P INVERT HERE ! DP ! DP @ DP C@ SWAP ;</a:t>
            </a:r>
          </a:p>
          <a:p>
            <a:pPr marL="0" indent="0">
              <a:buNone/>
            </a:pPr>
            <a:endParaRPr lang="en-US" sz="5500" dirty="0"/>
          </a:p>
          <a:p>
            <a:pPr marL="0" indent="0">
              <a:buNone/>
            </a:pPr>
            <a:r>
              <a:rPr lang="en-US" sz="5500" dirty="0"/>
              <a:t>: Q SWAP ! DP @ DP ;</a:t>
            </a:r>
          </a:p>
          <a:p>
            <a:pPr marL="0" indent="0">
              <a:buNone/>
            </a:pPr>
            <a:endParaRPr lang="en-US" sz="5500" dirty="0"/>
          </a:p>
          <a:p>
            <a:pPr marL="0" indent="0">
              <a:buNone/>
            </a:pPr>
            <a:r>
              <a:rPr lang="en-US" sz="5500" dirty="0"/>
              <a:t>: test10 IF P ELSE Q FI ;</a:t>
            </a:r>
            <a:endParaRPr lang="et-EE" sz="5500" dirty="0"/>
          </a:p>
          <a:p>
            <a:pPr marL="0" indent="0">
              <a:buNone/>
            </a:pPr>
            <a:endParaRPr lang="en-US" sz="5500" dirty="0"/>
          </a:p>
          <a:p>
            <a:pPr marL="0" indent="0">
              <a:buNone/>
            </a:pPr>
            <a:endParaRPr lang="en-US" sz="5500" dirty="0"/>
          </a:p>
          <a:p>
            <a:pPr marL="0" indent="0">
              <a:buNone/>
            </a:pPr>
            <a:r>
              <a:rPr lang="en-US" sz="5500" dirty="0"/>
              <a:t>: BODY SWAP DUP @ 0= ;</a:t>
            </a:r>
          </a:p>
          <a:p>
            <a:pPr marL="0" indent="0">
              <a:buNone/>
            </a:pPr>
            <a:endParaRPr lang="en-US" sz="5500" dirty="0"/>
          </a:p>
          <a:p>
            <a:pPr marL="0" indent="0">
              <a:buNone/>
            </a:pPr>
            <a:r>
              <a:rPr lang="en-US" sz="5500" dirty="0"/>
              <a:t>: test11 BEGIN BODY UNTIL ;</a:t>
            </a:r>
            <a:endParaRPr lang="et-EE" sz="5500" dirty="0"/>
          </a:p>
          <a:p>
            <a:pPr marL="0" indent="0">
              <a:buNone/>
            </a:pPr>
            <a:endParaRPr lang="en-US" sz="5500" dirty="0"/>
          </a:p>
          <a:p>
            <a:pPr marL="0" indent="0">
              <a:buNone/>
            </a:pPr>
            <a:endParaRPr lang="en-US" sz="5500" dirty="0"/>
          </a:p>
          <a:p>
            <a:pPr marL="0" indent="0">
              <a:buNone/>
            </a:pPr>
            <a:r>
              <a:rPr lang="en-US" sz="5500" dirty="0"/>
              <a:t>: BODY23  ROT INVERT DROP 0 ;</a:t>
            </a:r>
          </a:p>
          <a:p>
            <a:pPr marL="0" indent="0">
              <a:buNone/>
            </a:pPr>
            <a:endParaRPr lang="en-US" sz="5500" dirty="0"/>
          </a:p>
          <a:p>
            <a:pPr marL="0" indent="0">
              <a:buNone/>
            </a:pPr>
            <a:r>
              <a:rPr lang="en-US" sz="5500" dirty="0"/>
              <a:t>: test12 BEGIN BODY23 KEY? UNTIL ;</a:t>
            </a:r>
          </a:p>
          <a:p>
            <a:pPr marL="0" indent="0">
              <a:buNone/>
            </a:pPr>
            <a:endParaRPr lang="en-US" sz="5500" dirty="0"/>
          </a:p>
          <a:p>
            <a:pPr marL="0" indent="0">
              <a:buNone/>
            </a:pPr>
            <a:r>
              <a:rPr lang="en-US" sz="5500" dirty="0"/>
              <a:t>BODY23 </a:t>
            </a:r>
            <a:r>
              <a:rPr lang="en-US" sz="5500" dirty="0" err="1"/>
              <a:t>BODY23</a:t>
            </a:r>
            <a:r>
              <a:rPr lang="en-US" sz="5500" dirty="0"/>
              <a:t> </a:t>
            </a:r>
            <a:r>
              <a:rPr lang="en-US" sz="5500" dirty="0" err="1"/>
              <a:t>BODY23</a:t>
            </a:r>
            <a:endParaRPr lang="en-US" sz="5500" dirty="0"/>
          </a:p>
          <a:p>
            <a:pPr marL="0" indent="0">
              <a:buNone/>
            </a:pPr>
            <a:endParaRPr lang="et-EE" sz="2400" dirty="0"/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F7018DC3-AD8D-F04A-0AF4-10BBC141AB13}"/>
              </a:ext>
            </a:extLst>
          </p:cNvPr>
          <p:cNvSpPr txBox="1">
            <a:spLocks/>
          </p:cNvSpPr>
          <p:nvPr/>
        </p:nvSpPr>
        <p:spPr>
          <a:xfrm>
            <a:off x="4878779" y="1650671"/>
            <a:ext cx="3645723" cy="31009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t-EE" sz="2400" dirty="0"/>
          </a:p>
        </p:txBody>
      </p:sp>
      <p:cxnSp>
        <p:nvCxnSpPr>
          <p:cNvPr id="6" name="Connector 1">
            <a:extLst>
              <a:ext uri="{FF2B5EF4-FFF2-40B4-BE49-F238E27FC236}">
                <a16:creationId xmlns:a16="http://schemas.microsoft.com/office/drawing/2014/main" id="{BCC57E9C-9E53-F144-5CE8-075D9BD53E74}"/>
              </a:ext>
            </a:extLst>
          </p:cNvPr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A6725EE-6E9B-40A9-8F05-BD95C9B8E459}"/>
              </a:ext>
            </a:extLst>
          </p:cNvPr>
          <p:cNvSpPr txBox="1"/>
          <p:nvPr/>
        </p:nvSpPr>
        <p:spPr>
          <a:xfrm>
            <a:off x="6153665" y="1502690"/>
            <a:ext cx="429191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 ( x flag  --  char x )</a:t>
            </a:r>
          </a:p>
          <a:p>
            <a:r>
              <a:rPr lang="en-US" dirty="0"/>
              <a:t>Q ( a-</a:t>
            </a:r>
            <a:r>
              <a:rPr lang="en-US" dirty="0" err="1"/>
              <a:t>addr</a:t>
            </a:r>
            <a:r>
              <a:rPr lang="en-US" dirty="0"/>
              <a:t> x  --  x a-</a:t>
            </a:r>
            <a:r>
              <a:rPr lang="en-US" dirty="0" err="1"/>
              <a:t>addr</a:t>
            </a:r>
            <a:r>
              <a:rPr lang="en-US" dirty="0"/>
              <a:t> )</a:t>
            </a:r>
          </a:p>
          <a:p>
            <a:r>
              <a:rPr lang="en-US" dirty="0"/>
              <a:t>test10 ( a-</a:t>
            </a:r>
            <a:r>
              <a:rPr lang="en-US" dirty="0" err="1"/>
              <a:t>addr</a:t>
            </a:r>
            <a:r>
              <a:rPr lang="en-US" dirty="0"/>
              <a:t> flag </a:t>
            </a:r>
            <a:r>
              <a:rPr lang="en-US" dirty="0" err="1"/>
              <a:t>flag</a:t>
            </a:r>
            <a:r>
              <a:rPr lang="en-US" dirty="0"/>
              <a:t>  --  x </a:t>
            </a:r>
            <a:r>
              <a:rPr lang="en-US" dirty="0" err="1"/>
              <a:t>x</a:t>
            </a:r>
            <a:r>
              <a:rPr lang="en-US" dirty="0"/>
              <a:t> )</a:t>
            </a:r>
            <a:endParaRPr lang="et-EE" dirty="0"/>
          </a:p>
          <a:p>
            <a:endParaRPr lang="en-US" dirty="0"/>
          </a:p>
          <a:p>
            <a:r>
              <a:rPr lang="en-US" dirty="0"/>
              <a:t>BODY ( a-</a:t>
            </a:r>
            <a:r>
              <a:rPr lang="en-US" dirty="0" err="1"/>
              <a:t>addr</a:t>
            </a:r>
            <a:r>
              <a:rPr lang="en-US" dirty="0"/>
              <a:t>[2] x[1]  --  x[1] a-</a:t>
            </a:r>
            <a:r>
              <a:rPr lang="en-US" dirty="0" err="1"/>
              <a:t>addr</a:t>
            </a:r>
            <a:r>
              <a:rPr lang="en-US" dirty="0"/>
              <a:t>[2] flag )</a:t>
            </a:r>
          </a:p>
          <a:p>
            <a:r>
              <a:rPr lang="en-US" dirty="0"/>
              <a:t>test11 ( a-</a:t>
            </a:r>
            <a:r>
              <a:rPr lang="en-US" dirty="0" err="1"/>
              <a:t>addr</a:t>
            </a:r>
            <a:r>
              <a:rPr lang="en-US" dirty="0"/>
              <a:t> a-</a:t>
            </a:r>
            <a:r>
              <a:rPr lang="en-US" dirty="0" err="1"/>
              <a:t>addr</a:t>
            </a:r>
            <a:r>
              <a:rPr lang="en-US" dirty="0"/>
              <a:t>  --  a-</a:t>
            </a:r>
            <a:r>
              <a:rPr lang="en-US" dirty="0" err="1"/>
              <a:t>addr</a:t>
            </a:r>
            <a:r>
              <a:rPr lang="en-US" dirty="0"/>
              <a:t> a-</a:t>
            </a:r>
            <a:r>
              <a:rPr lang="en-US" dirty="0" err="1"/>
              <a:t>addr</a:t>
            </a:r>
            <a:r>
              <a:rPr lang="en-US" dirty="0"/>
              <a:t> )</a:t>
            </a:r>
            <a:endParaRPr lang="et-EE" dirty="0"/>
          </a:p>
          <a:p>
            <a:endParaRPr lang="en-US" dirty="0"/>
          </a:p>
          <a:p>
            <a:r>
              <a:rPr lang="en-US" dirty="0"/>
              <a:t>BODY23 ( flag x[2] x[1]  --  x[2] x[1] n )</a:t>
            </a:r>
          </a:p>
          <a:p>
            <a:r>
              <a:rPr lang="en-US" dirty="0"/>
              <a:t>test12 ( flag </a:t>
            </a:r>
            <a:r>
              <a:rPr lang="en-US" dirty="0" err="1"/>
              <a:t>flag</a:t>
            </a:r>
            <a:r>
              <a:rPr lang="en-US" dirty="0"/>
              <a:t> x  --  x </a:t>
            </a:r>
            <a:r>
              <a:rPr lang="en-US" dirty="0" err="1"/>
              <a:t>x</a:t>
            </a:r>
            <a:r>
              <a:rPr lang="en-US" dirty="0"/>
              <a:t> n )</a:t>
            </a:r>
            <a:endParaRPr lang="et-EE" dirty="0"/>
          </a:p>
          <a:p>
            <a:endParaRPr lang="et-EE" dirty="0"/>
          </a:p>
          <a:p>
            <a:r>
              <a:rPr lang="en-US" dirty="0"/>
              <a:t>Program: BODY23 </a:t>
            </a:r>
            <a:r>
              <a:rPr lang="en-US" dirty="0" err="1"/>
              <a:t>BODY23</a:t>
            </a:r>
            <a:r>
              <a:rPr lang="en-US" dirty="0"/>
              <a:t> </a:t>
            </a:r>
            <a:r>
              <a:rPr lang="en-US" dirty="0" err="1"/>
              <a:t>BODY23</a:t>
            </a:r>
            <a:endParaRPr lang="en-US" dirty="0"/>
          </a:p>
          <a:p>
            <a:r>
              <a:rPr lang="en-US" dirty="0"/>
              <a:t>&gt; flag </a:t>
            </a:r>
            <a:r>
              <a:rPr lang="en-US" dirty="0" err="1"/>
              <a:t>flag</a:t>
            </a:r>
            <a:r>
              <a:rPr lang="en-US" dirty="0"/>
              <a:t> </a:t>
            </a:r>
            <a:r>
              <a:rPr lang="en-US" dirty="0" err="1"/>
              <a:t>flag</a:t>
            </a:r>
            <a:endParaRPr lang="en-US" dirty="0"/>
          </a:p>
          <a:p>
            <a:r>
              <a:rPr lang="en-US" dirty="0"/>
              <a:t>    BODY23      ( flag </a:t>
            </a:r>
            <a:r>
              <a:rPr lang="en-US" dirty="0" err="1"/>
              <a:t>flag</a:t>
            </a:r>
            <a:r>
              <a:rPr lang="en-US" dirty="0"/>
              <a:t> </a:t>
            </a:r>
            <a:r>
              <a:rPr lang="en-US" dirty="0" err="1"/>
              <a:t>flag</a:t>
            </a:r>
            <a:r>
              <a:rPr lang="en-US" dirty="0"/>
              <a:t>  --  flag </a:t>
            </a:r>
            <a:r>
              <a:rPr lang="en-US" dirty="0" err="1"/>
              <a:t>flag</a:t>
            </a:r>
            <a:r>
              <a:rPr lang="en-US" dirty="0"/>
              <a:t> n )</a:t>
            </a:r>
          </a:p>
          <a:p>
            <a:r>
              <a:rPr lang="en-US" dirty="0"/>
              <a:t>    BODY23      ( flag </a:t>
            </a:r>
            <a:r>
              <a:rPr lang="en-US" dirty="0" err="1"/>
              <a:t>flag</a:t>
            </a:r>
            <a:r>
              <a:rPr lang="en-US" dirty="0"/>
              <a:t> n  --  flag n </a:t>
            </a:r>
            <a:r>
              <a:rPr lang="en-US" dirty="0" err="1"/>
              <a:t>n</a:t>
            </a:r>
            <a:r>
              <a:rPr lang="en-US" dirty="0"/>
              <a:t> )</a:t>
            </a:r>
          </a:p>
          <a:p>
            <a:r>
              <a:rPr lang="en-US" dirty="0"/>
              <a:t>    BODY23      ( flag n </a:t>
            </a:r>
            <a:r>
              <a:rPr lang="en-US" dirty="0" err="1"/>
              <a:t>n</a:t>
            </a:r>
            <a:r>
              <a:rPr lang="en-US" dirty="0"/>
              <a:t>  --  n </a:t>
            </a:r>
            <a:r>
              <a:rPr lang="en-US" dirty="0" err="1"/>
              <a:t>n</a:t>
            </a:r>
            <a:r>
              <a:rPr lang="en-US" dirty="0"/>
              <a:t> </a:t>
            </a:r>
            <a:r>
              <a:rPr lang="en-US" dirty="0" err="1"/>
              <a:t>n</a:t>
            </a:r>
            <a:r>
              <a:rPr lang="en-US" dirty="0"/>
              <a:t> )</a:t>
            </a:r>
          </a:p>
          <a:p>
            <a:r>
              <a:rPr lang="en-US" dirty="0"/>
              <a:t>&lt; n </a:t>
            </a:r>
            <a:r>
              <a:rPr lang="en-US" dirty="0" err="1"/>
              <a:t>n</a:t>
            </a:r>
            <a:r>
              <a:rPr lang="en-US" dirty="0"/>
              <a:t> </a:t>
            </a:r>
            <a:r>
              <a:rPr lang="en-US" dirty="0" err="1"/>
              <a:t>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430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rgbClr val="12304A"/>
                </a:solidFill>
                <a:latin typeface="Liberation Sans"/>
              </a:rPr>
              <a:t>What acceptance means</a:t>
            </a:r>
            <a:r>
              <a:rPr lang="et-EE" sz="2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sz="2600" b="1" i="0" dirty="0">
                <a:solidFill>
                  <a:srgbClr val="12304A"/>
                </a:solidFill>
                <a:latin typeface="Liberation Sans"/>
              </a:rPr>
              <a:t>and what it does not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170432"/>
            <a:ext cx="5349240" cy="4297680"/>
          </a:xfrm>
          <a:prstGeom prst="roundRect">
            <a:avLst/>
          </a:prstGeom>
          <a:solidFill>
            <a:srgbClr val="E7F0EB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481328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7C62"/>
                </a:solidFill>
                <a:latin typeface="Liberation Sans"/>
              </a:rPr>
              <a:t>ACCEPTANCE SUPPORTS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993392"/>
            <a:ext cx="4718304" cy="25146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Declared word effects compose without a modeled clash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Every checked branch receives one implemented common effect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Every checked loop passes the local one-versus-two test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Source structure, parser roles, and compilation state fit the active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18888"/>
            <a:ext cx="468172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3D7C62"/>
                </a:solidFill>
                <a:latin typeface="Liberation Sans"/>
              </a:rPr>
              <a:t>Useful as executable stack-effect documentation.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170432"/>
            <a:ext cx="5349240" cy="4297680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481328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A3548"/>
                </a:solidFill>
                <a:latin typeface="Liberation Sans"/>
              </a:rPr>
              <a:t>ACCEPTANCE DOES NOT 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1993392"/>
            <a:ext cx="4718304" cy="25146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That trusted primitive and parser declarations match runtime behavior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A path-sensitive set of every branch behavior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Termination or an inductive invariant for arbitrary loop counts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Unrestricted EXECUTE, return-stack tricks, non-local THROW, or metaprogramming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4818888"/>
            <a:ext cx="46634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Sans"/>
              </a:rPr>
              <a:t>Use alongside tests, review, and target-system knowledge.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724144"/>
            <a:ext cx="11055096" cy="530352"/>
          </a:xfrm>
          <a:prstGeom prst="roundRect">
            <a:avLst/>
          </a:prstGeom>
          <a:solidFill>
            <a:srgbClr val="F7ECE1"/>
          </a:solidFill>
          <a:ln w="1016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5742431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0" b="1" i="0">
                <a:solidFill>
                  <a:srgbClr val="C46A2B"/>
                </a:solidFill>
                <a:latin typeface="Liberation Sans"/>
              </a:rPr>
              <a:t>Known limits include lossy identity compaction, one effect per primitive, and the one-versus-two loop approximation.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Summary</a:t>
            </a:r>
            <a:endParaRPr sz="26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60120" y="1115568"/>
            <a:ext cx="10268712" cy="658368"/>
          </a:xfrm>
          <a:prstGeom prst="roundRect">
            <a:avLst/>
          </a:prstGeom>
          <a:solidFill>
            <a:srgbClr val="E8F0F5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33272" y="1176986"/>
            <a:ext cx="10122408" cy="535531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 dirty="0">
                <a:solidFill>
                  <a:srgbClr val="12304A"/>
                </a:solidFill>
                <a:latin typeface="Liberation Mono"/>
              </a:rPr>
              <a:t>types + specifications  +  source   →   inferred </a:t>
            </a:r>
            <a:r>
              <a:rPr lang="et-EE" b="1" dirty="0" err="1">
                <a:solidFill>
                  <a:srgbClr val="12304A"/>
                </a:solidFill>
                <a:latin typeface="Liberation Mono"/>
              </a:rPr>
              <a:t>specifications</a:t>
            </a:r>
            <a:r>
              <a:rPr lang="et-EE" b="1" dirty="0">
                <a:solidFill>
                  <a:srgbClr val="12304A"/>
                </a:solidFill>
                <a:latin typeface="Liberation Mono"/>
              </a:rPr>
              <a:t> / </a:t>
            </a:r>
            <a:r>
              <a:rPr lang="et-EE" b="1" dirty="0" err="1">
                <a:solidFill>
                  <a:srgbClr val="12304A"/>
                </a:solidFill>
                <a:latin typeface="Liberation Mono"/>
              </a:rPr>
              <a:t>alarms</a:t>
            </a:r>
            <a:endParaRPr sz="1800" b="1" i="0" dirty="0">
              <a:solidFill>
                <a:srgbClr val="12304A"/>
              </a:solidFill>
              <a:latin typeface="Liberation Mono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60120" y="2011680"/>
            <a:ext cx="10268712" cy="694944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43000" y="2185416"/>
            <a:ext cx="384048" cy="329184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2185416"/>
            <a:ext cx="384048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2176272"/>
            <a:ext cx="2450592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Composition is </a:t>
            </a:r>
            <a:r>
              <a:rPr lang="et-EE" sz="1500" b="1" dirty="0" err="1">
                <a:solidFill>
                  <a:srgbClr val="12304A"/>
                </a:solidFill>
                <a:latin typeface="Liberation Sans"/>
              </a:rPr>
              <a:t>sequential</a:t>
            </a:r>
            <a:endParaRPr sz="15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15968" y="2130552"/>
            <a:ext cx="6583680" cy="4031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10" b="0" i="0" dirty="0">
                <a:solidFill>
                  <a:srgbClr val="27343C"/>
                </a:solidFill>
                <a:latin typeface="Liberation Sans"/>
              </a:rPr>
              <a:t>A late boundary refinement propagates through every occurrence of the same symbolic value.</a:t>
            </a:r>
            <a:r>
              <a:rPr lang="et-EE" sz="1310" b="0" i="0" dirty="0">
                <a:solidFill>
                  <a:srgbClr val="27343C"/>
                </a:solidFill>
                <a:latin typeface="Liberation Sans"/>
              </a:rPr>
              <a:t> </a:t>
            </a:r>
            <a:r>
              <a:rPr lang="et-EE" sz="1310" b="0" i="0" dirty="0" err="1">
                <a:solidFill>
                  <a:srgbClr val="27343C"/>
                </a:solidFill>
                <a:latin typeface="Liberation Sans"/>
              </a:rPr>
              <a:t>Type</a:t>
            </a:r>
            <a:r>
              <a:rPr lang="et-EE" sz="1310" b="0" i="0" dirty="0">
                <a:solidFill>
                  <a:srgbClr val="27343C"/>
                </a:solidFill>
                <a:latin typeface="Liberation Sans"/>
              </a:rPr>
              <a:t> </a:t>
            </a:r>
            <a:r>
              <a:rPr lang="et-EE" sz="1310" b="0" i="0" dirty="0" err="1">
                <a:solidFill>
                  <a:srgbClr val="27343C"/>
                </a:solidFill>
                <a:latin typeface="Liberation Sans"/>
              </a:rPr>
              <a:t>information</a:t>
            </a:r>
            <a:r>
              <a:rPr lang="et-EE" sz="1310" b="0" i="0" dirty="0">
                <a:solidFill>
                  <a:srgbClr val="27343C"/>
                </a:solidFill>
                <a:latin typeface="Liberation Sans"/>
              </a:rPr>
              <a:t> </a:t>
            </a:r>
            <a:r>
              <a:rPr lang="et-EE" sz="1310" b="0" i="0" dirty="0" err="1">
                <a:solidFill>
                  <a:srgbClr val="27343C"/>
                </a:solidFill>
                <a:latin typeface="Liberation Sans"/>
              </a:rPr>
              <a:t>flows</a:t>
            </a:r>
            <a:r>
              <a:rPr lang="et-EE" sz="1310" b="0" i="0" dirty="0">
                <a:solidFill>
                  <a:srgbClr val="27343C"/>
                </a:solidFill>
                <a:latin typeface="Liberation Sans"/>
              </a:rPr>
              <a:t> </a:t>
            </a:r>
            <a:r>
              <a:rPr lang="et-EE" sz="1310" b="0" i="0" dirty="0" err="1">
                <a:solidFill>
                  <a:srgbClr val="27343C"/>
                </a:solidFill>
                <a:latin typeface="Liberation Sans"/>
              </a:rPr>
              <a:t>back</a:t>
            </a:r>
            <a:r>
              <a:rPr lang="et-EE" sz="1310" b="0" i="0" dirty="0">
                <a:solidFill>
                  <a:srgbClr val="27343C"/>
                </a:solidFill>
                <a:latin typeface="Liberation Sans"/>
              </a:rPr>
              <a:t> and </a:t>
            </a:r>
            <a:r>
              <a:rPr lang="et-EE" sz="1310" b="0" i="0" dirty="0" err="1">
                <a:solidFill>
                  <a:srgbClr val="27343C"/>
                </a:solidFill>
                <a:latin typeface="Liberation Sans"/>
              </a:rPr>
              <a:t>forth</a:t>
            </a:r>
            <a:r>
              <a:rPr lang="et-EE" sz="1310" dirty="0">
                <a:solidFill>
                  <a:srgbClr val="27343C"/>
                </a:solidFill>
                <a:latin typeface="Liberation Sans"/>
              </a:rPr>
              <a:t> in a </a:t>
            </a:r>
            <a:r>
              <a:rPr lang="et-EE" sz="1310" dirty="0" err="1">
                <a:solidFill>
                  <a:srgbClr val="27343C"/>
                </a:solidFill>
                <a:latin typeface="Liberation Sans"/>
              </a:rPr>
              <a:t>linear</a:t>
            </a:r>
            <a:r>
              <a:rPr lang="et-EE" sz="1310" dirty="0">
                <a:solidFill>
                  <a:srgbClr val="27343C"/>
                </a:solidFill>
                <a:latin typeface="Liberation Sans"/>
              </a:rPr>
              <a:t> </a:t>
            </a:r>
            <a:r>
              <a:rPr lang="et-EE" sz="1310" dirty="0" err="1">
                <a:solidFill>
                  <a:srgbClr val="27343C"/>
                </a:solidFill>
                <a:latin typeface="Liberation Sans"/>
              </a:rPr>
              <a:t>sequence</a:t>
            </a:r>
            <a:r>
              <a:rPr lang="et-EE" sz="1310" dirty="0">
                <a:solidFill>
                  <a:srgbClr val="27343C"/>
                </a:solidFill>
                <a:latin typeface="Liberation Sans"/>
              </a:rPr>
              <a:t> of </a:t>
            </a:r>
            <a:r>
              <a:rPr lang="et-EE" sz="1310" dirty="0" err="1">
                <a:solidFill>
                  <a:srgbClr val="27343C"/>
                </a:solidFill>
                <a:latin typeface="Liberation Sans"/>
              </a:rPr>
              <a:t>words</a:t>
            </a:r>
            <a:r>
              <a:rPr lang="et-EE" sz="1310" dirty="0">
                <a:solidFill>
                  <a:srgbClr val="27343C"/>
                </a:solidFill>
                <a:latin typeface="Liberation Sans"/>
              </a:rPr>
              <a:t>.</a:t>
            </a:r>
            <a:endParaRPr sz="1310" b="0" i="0" dirty="0">
              <a:solidFill>
                <a:srgbClr val="27343C"/>
              </a:solidFill>
              <a:latin typeface="Liberation San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60120" y="2907792"/>
            <a:ext cx="10268712" cy="694944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43000" y="3081528"/>
            <a:ext cx="384048" cy="329184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3081528"/>
            <a:ext cx="384048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072384"/>
            <a:ext cx="245059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Branch meet is </a:t>
            </a:r>
            <a:r>
              <a:rPr lang="et-EE" sz="1500" b="1" i="0" dirty="0" err="1">
                <a:solidFill>
                  <a:srgbClr val="12304A"/>
                </a:solidFill>
                <a:latin typeface="Liberation Sans"/>
              </a:rPr>
              <a:t>conservative</a:t>
            </a:r>
            <a:endParaRPr sz="15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15968" y="3026664"/>
            <a:ext cx="6583680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10" b="0" i="0" dirty="0">
                <a:solidFill>
                  <a:srgbClr val="27343C"/>
                </a:solidFill>
                <a:latin typeface="Liberation Sans"/>
              </a:rPr>
              <a:t>Inputs retain the common subtype; outputs retain the common supertype; identities must hold on every path.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" y="3803963"/>
            <a:ext cx="10268712" cy="694944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43000" y="3964425"/>
            <a:ext cx="384048" cy="329184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t-EE" dirty="0"/>
              <a:t>3</a:t>
            </a:r>
            <a:endParaRPr dirty="0"/>
          </a:p>
        </p:txBody>
      </p:sp>
      <p:sp>
        <p:nvSpPr>
          <p:cNvPr id="27" name="TextBox 26"/>
          <p:cNvSpPr txBox="1"/>
          <p:nvPr/>
        </p:nvSpPr>
        <p:spPr>
          <a:xfrm>
            <a:off x="1143000" y="4260121"/>
            <a:ext cx="384048" cy="203133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t-EE" sz="1200" b="1" dirty="0">
                <a:solidFill>
                  <a:srgbClr val="FFFFFF"/>
                </a:solidFill>
                <a:latin typeface="Liberation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3959352"/>
            <a:ext cx="24505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Repetition is deliberately finite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3936551"/>
            <a:ext cx="6583680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10" b="0" i="0" dirty="0">
                <a:solidFill>
                  <a:srgbClr val="27343C"/>
                </a:solidFill>
                <a:latin typeface="Liberation Sans"/>
              </a:rPr>
              <a:t>One-versus-two gives a useful local summary—not termination or a general loop invariant.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'i kujundu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2375</Words>
  <Application>Microsoft Office PowerPoint</Application>
  <PresentationFormat>Widescreen</PresentationFormat>
  <Paragraphs>361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Arial</vt:lpstr>
      <vt:lpstr>Arial Narrow</vt:lpstr>
      <vt:lpstr>Calibri</vt:lpstr>
      <vt:lpstr>Liberation Mono</vt:lpstr>
      <vt:lpstr>Liberation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Branches and loops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Configurable Static Type Checking for Forth — EuroForth 2026</dc:title>
  <dc:subject>Conference presentation based on STATIC_TYPE_CHECKING.tex and examples.txt</dc:subject>
  <dc:creator>Jaanus Pöial</dc:creator>
  <cp:keywords>Forth, static type checking, stack effects, symbolic analysis</cp:keywords>
  <dc:description>Improved self-explanatory presentation generated from the project materials.</dc:description>
  <cp:lastModifiedBy>Jaanus Pöial</cp:lastModifiedBy>
  <cp:revision>25</cp:revision>
  <dcterms:created xsi:type="dcterms:W3CDTF">2026-08-28T09:20:00Z</dcterms:created>
  <dcterms:modified xsi:type="dcterms:W3CDTF">2026-09-01T09:53:08Z</dcterms:modified>
  <cp:category/>
</cp:coreProperties>
</file>
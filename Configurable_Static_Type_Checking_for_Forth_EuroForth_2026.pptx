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4" r:id="rId3"/>
    <p:sldId id="280" r:id="rId4"/>
    <p:sldId id="275" r:id="rId5"/>
    <p:sldId id="261" r:id="rId6"/>
    <p:sldId id="279" r:id="rId7"/>
    <p:sldId id="276" r:id="rId8"/>
    <p:sldId id="277" r:id="rId9"/>
    <p:sldId id="278" r:id="rId10"/>
    <p:sldId id="281" r:id="rId11"/>
    <p:sldId id="270" r:id="rId12"/>
    <p:sldId id="260" r:id="rId13"/>
    <p:sldId id="258" r:id="rId14"/>
    <p:sldId id="259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72" r:id="rId25"/>
    <p:sldId id="27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se kohatäid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Kuupäeva kohatäid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DAD2A-3FE8-4867-A5A9-0356C34B6CFF}" type="datetimeFigureOut">
              <a:rPr lang="et-EE" smtClean="0"/>
              <a:t>28.08.2026</a:t>
            </a:fld>
            <a:endParaRPr lang="et-EE"/>
          </a:p>
        </p:txBody>
      </p:sp>
      <p:sp>
        <p:nvSpPr>
          <p:cNvPr id="4" name="Slaidi pildi kohatä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Märkmete kohatäid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</a:p>
        </p:txBody>
      </p:sp>
      <p:sp>
        <p:nvSpPr>
          <p:cNvPr id="6" name="Jaluse kohatäid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aidinumbri kohatä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F4EFC-DB71-461F-8620-8D442AC43D0D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043247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61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" y="0"/>
            <a:ext cx="12191695" cy="6858000"/>
          </a:xfrm>
          <a:prstGeom prst="rect">
            <a:avLst/>
          </a:prstGeom>
          <a:solidFill>
            <a:srgbClr val="F7F4EC"/>
          </a:solidFill>
          <a:ln>
            <a:solidFill>
              <a:srgbClr val="F7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13232" y="777240"/>
            <a:ext cx="66751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dirty="0">
                <a:solidFill>
                  <a:srgbClr val="12304A"/>
                </a:solidFill>
                <a:latin typeface="Liberation Sans"/>
              </a:rPr>
              <a:t>Configurable Static Type
Checking for Forth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23160"/>
            <a:ext cx="67665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t-EE" sz="2100" b="1" dirty="0" err="1">
                <a:solidFill>
                  <a:srgbClr val="9A3548"/>
                </a:solidFill>
                <a:latin typeface="Liberation Sans"/>
              </a:rPr>
              <a:t>Evaluator</a:t>
            </a:r>
            <a:r>
              <a:rPr lang="et-EE" sz="2100" b="1" dirty="0">
                <a:solidFill>
                  <a:srgbClr val="9A3548"/>
                </a:solidFill>
                <a:latin typeface="Liberation Sans"/>
              </a:rPr>
              <a:t> and </a:t>
            </a:r>
            <a:r>
              <a:rPr lang="et-EE" sz="2100" b="1" dirty="0" err="1">
                <a:solidFill>
                  <a:srgbClr val="9A3548"/>
                </a:solidFill>
                <a:latin typeface="Liberation Sans"/>
              </a:rPr>
              <a:t>Examples</a:t>
            </a:r>
            <a:endParaRPr sz="2100" b="1" i="0" dirty="0">
              <a:solidFill>
                <a:srgbClr val="9A3548"/>
              </a:solidFill>
              <a:latin typeface="Liberation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5" y="4023361"/>
            <a:ext cx="46634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27343C"/>
                </a:solidFill>
                <a:latin typeface="Liberation Sans"/>
              </a:rPr>
              <a:t>Jaanus Pöial
Tallinn University of Technology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0222" y="4328534"/>
            <a:ext cx="269379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0" i="0" dirty="0" err="1">
                <a:solidFill>
                  <a:srgbClr val="5E6B73"/>
                </a:solidFill>
                <a:latin typeface="Liberation Mono"/>
              </a:rPr>
              <a:t>EuroForth</a:t>
            </a:r>
            <a:r>
              <a:rPr sz="2400" b="0" i="0" dirty="0">
                <a:solidFill>
                  <a:srgbClr val="5E6B73"/>
                </a:solidFill>
                <a:latin typeface="Liberation Mono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512064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Why Static Type Checking?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Detect stack errors before execution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Detect type mismatches early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Precisely document word behaviour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512064" y="764771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Research Evolution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1990</a:t>
            </a:r>
            <a:r>
              <a:rPr lang="et-EE" sz="2400" dirty="0">
                <a:solidFill>
                  <a:srgbClr val="2F2F2F"/>
                </a:solidFill>
              </a:rPr>
              <a:t> - 1998</a:t>
            </a:r>
            <a:r>
              <a:rPr lang="en-US" sz="2400" dirty="0">
                <a:solidFill>
                  <a:srgbClr val="2F2F2F"/>
                </a:solidFill>
              </a:rPr>
              <a:t>: Stack Effect Calculus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2002</a:t>
            </a:r>
            <a:r>
              <a:rPr lang="et-EE" sz="2400" dirty="0">
                <a:solidFill>
                  <a:srgbClr val="2F2F2F"/>
                </a:solidFill>
              </a:rPr>
              <a:t> - 2006</a:t>
            </a:r>
            <a:r>
              <a:rPr lang="en-US" sz="2400" dirty="0">
                <a:solidFill>
                  <a:srgbClr val="2F2F2F"/>
                </a:solidFill>
              </a:rPr>
              <a:t>: Typed Wildcards and Inheritance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200</a:t>
            </a:r>
            <a:r>
              <a:rPr lang="et-EE" sz="2400" dirty="0">
                <a:solidFill>
                  <a:srgbClr val="2F2F2F"/>
                </a:solidFill>
              </a:rPr>
              <a:t>8</a:t>
            </a:r>
            <a:r>
              <a:rPr lang="en-US" sz="2400" dirty="0">
                <a:solidFill>
                  <a:srgbClr val="2F2F2F"/>
                </a:solidFill>
              </a:rPr>
              <a:t>: Typing Tools for Typeless Stack Languages</a:t>
            </a:r>
            <a:r>
              <a:rPr lang="et-EE" sz="2400" dirty="0">
                <a:solidFill>
                  <a:srgbClr val="2F2F2F"/>
                </a:solidFill>
              </a:rPr>
              <a:t> (Java </a:t>
            </a:r>
            <a:r>
              <a:rPr lang="et-EE" sz="2400" dirty="0" err="1">
                <a:solidFill>
                  <a:srgbClr val="2F2F2F"/>
                </a:solidFill>
              </a:rPr>
              <a:t>prototype</a:t>
            </a:r>
            <a:r>
              <a:rPr lang="et-EE" sz="2400" dirty="0">
                <a:solidFill>
                  <a:srgbClr val="2F2F2F"/>
                </a:solidFill>
              </a:rPr>
              <a:t>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2026: Configurable Static Type Checking for Forth</a:t>
            </a:r>
            <a:r>
              <a:rPr lang="et-EE" sz="2400" dirty="0">
                <a:solidFill>
                  <a:srgbClr val="2F2F2F"/>
                </a:solidFill>
              </a:rPr>
              <a:t> – </a:t>
            </a:r>
            <a:r>
              <a:rPr lang="et-EE" sz="2400" dirty="0" err="1">
                <a:solidFill>
                  <a:srgbClr val="2F2F2F"/>
                </a:solidFill>
              </a:rPr>
              <a:t>Type</a:t>
            </a:r>
            <a:r>
              <a:rPr lang="et-EE" sz="2400" dirty="0">
                <a:solidFill>
                  <a:srgbClr val="2F2F2F"/>
                </a:solidFill>
              </a:rPr>
              <a:t> </a:t>
            </a:r>
            <a:r>
              <a:rPr lang="et-EE" sz="2400" dirty="0" err="1">
                <a:solidFill>
                  <a:srgbClr val="2F2F2F"/>
                </a:solidFill>
              </a:rPr>
              <a:t>checker</a:t>
            </a:r>
            <a:r>
              <a:rPr lang="et-EE" sz="2400" dirty="0">
                <a:solidFill>
                  <a:srgbClr val="2F2F2F"/>
                </a:solidFill>
              </a:rPr>
              <a:t> in </a:t>
            </a:r>
            <a:r>
              <a:rPr lang="et-EE" sz="2400" dirty="0" err="1">
                <a:solidFill>
                  <a:srgbClr val="2F2F2F"/>
                </a:solidFill>
              </a:rPr>
              <a:t>gforth</a:t>
            </a:r>
            <a:r>
              <a:rPr lang="et-EE" sz="2400" dirty="0">
                <a:solidFill>
                  <a:srgbClr val="2F2F2F"/>
                </a:solidFill>
              </a:rPr>
              <a:t> 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From an informal comment to a checkable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097280"/>
            <a:ext cx="9902952" cy="658368"/>
          </a:xfrm>
          <a:prstGeom prst="roundRect">
            <a:avLst/>
          </a:prstGeom>
          <a:solidFill>
            <a:srgbClr val="ECEAE4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2" y="1133856"/>
            <a:ext cx="9756648" cy="585216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2304A"/>
                </a:solidFill>
                <a:latin typeface="Liberation Mono"/>
              </a:rPr>
              <a:t>: SQUARED  DUP * ;      ( n -- n² 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4251960" cy="3200400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1343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6A2B"/>
                </a:solidFill>
                <a:latin typeface="Liberation Sans"/>
              </a:rPr>
              <a:t>INFORMAL SEMANTIC COMMENT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61488"/>
            <a:ext cx="36758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n² says what the result means mathematically.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01568"/>
            <a:ext cx="3657600" cy="1417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400">
                <a:solidFill>
                  <a:srgbClr val="27343C"/>
                </a:solidFill>
                <a:latin typeface="Liberation Sans"/>
              </a:rPr>
              <a:t>Useful documentation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400">
                <a:solidFill>
                  <a:srgbClr val="27343C"/>
                </a:solidFill>
                <a:latin typeface="Liberation Sans"/>
              </a:rPr>
              <a:t>May be absent or stale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400">
                <a:solidFill>
                  <a:srgbClr val="27343C"/>
                </a:solidFill>
                <a:latin typeface="Liberation Sans"/>
              </a:rPr>
              <a:t>Consumed as source text; not trusted as an assertion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93792" y="3657600"/>
            <a:ext cx="1709928" cy="0"/>
          </a:xfrm>
          <a:prstGeom prst="line">
            <a:avLst/>
          </a:prstGeom>
          <a:ln w="2794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23560" y="3200400"/>
            <a:ext cx="850392" cy="329184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60" y="3200400"/>
            <a:ext cx="850392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5472" y="2057400"/>
            <a:ext cx="4315968" cy="3200400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231343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TYPED SYMBOLIC EFFECTS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2743200"/>
            <a:ext cx="3767328" cy="10515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2944" y="2779776"/>
            <a:ext cx="3621024" cy="978407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Mono"/>
              </a:rPr>
              <a:t>DUP  ( X[1] -- X[1] X[1] )
*    ( n n  -- n 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398678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6B73"/>
                </a:solidFill>
                <a:latin typeface="Liberation Sans"/>
              </a:rPr>
              <a:t>Inferred: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4279392"/>
            <a:ext cx="3767328" cy="566928"/>
          </a:xfrm>
          <a:prstGeom prst="roundRect">
            <a:avLst/>
          </a:prstGeom>
          <a:solidFill>
            <a:srgbClr val="E7F0EB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52944" y="4315968"/>
            <a:ext cx="3621024" cy="493776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SQUARED  ( n -- n 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5796001"/>
            <a:ext cx="10689336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The checker verifies stack</a:t>
            </a: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1500" b="1" i="0" dirty="0" err="1">
                <a:solidFill>
                  <a:srgbClr val="12304A"/>
                </a:solidFill>
                <a:latin typeface="Liberation Sans"/>
              </a:rPr>
              <a:t>balance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, </a:t>
            </a:r>
            <a:r>
              <a:rPr lang="et-EE" sz="1500" b="1" i="0" dirty="0" err="1">
                <a:solidFill>
                  <a:srgbClr val="12304A"/>
                </a:solidFill>
                <a:latin typeface="Liberation Sans"/>
              </a:rPr>
              <a:t>cell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 types and cell identity</a:t>
            </a: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, 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not the mathematical claim that the result equals n².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EFFECT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S</a:t>
            </a:r>
            <a:r>
              <a:rPr lang="et-EE" sz="2600" b="1" i="0" dirty="0" err="1">
                <a:solidFill>
                  <a:srgbClr val="12304A"/>
                </a:solidFill>
                <a:latin typeface="Liberation Sans"/>
              </a:rPr>
              <a:t>tack</a:t>
            </a:r>
            <a:r>
              <a:rPr lang="et-EE" sz="26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i="0" dirty="0" err="1">
                <a:solidFill>
                  <a:srgbClr val="12304A"/>
                </a:solidFill>
                <a:latin typeface="Liberation Sans"/>
              </a:rPr>
              <a:t>effect</a:t>
            </a:r>
            <a:endParaRPr sz="26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CONFIGURABLE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069848"/>
            <a:ext cx="6510528" cy="658368"/>
          </a:xfrm>
          <a:prstGeom prst="roundRect">
            <a:avLst/>
          </a:prstGeom>
          <a:solidFill>
            <a:srgbClr val="E8F0F5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7792" y="1106424"/>
            <a:ext cx="6364224" cy="585216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2304A"/>
                </a:solidFill>
                <a:latin typeface="Liberation Mono"/>
              </a:rPr>
              <a:t>@     ( a-addr  --  x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1" y="1261873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 dirty="0">
                <a:solidFill>
                  <a:srgbClr val="9A3548"/>
                </a:solidFill>
                <a:latin typeface="Liberation Sans"/>
              </a:rPr>
              <a:t>required input suffix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20700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7C62"/>
                </a:solidFill>
                <a:latin typeface="Liberation Sans"/>
              </a:rPr>
              <a:t>guaranteed output suffix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84831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Any deeper frame F passes through unchanged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4203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6B73"/>
                </a:solidFill>
                <a:latin typeface="Liberation Sans"/>
              </a:rPr>
              <a:t>before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3312" y="2450592"/>
            <a:ext cx="1298448" cy="749808"/>
          </a:xfrm>
          <a:prstGeom prst="rect">
            <a:avLst/>
          </a:prstGeom>
          <a:solidFill>
            <a:srgbClr val="ECEAE4"/>
          </a:solidFill>
          <a:ln w="1270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2450592"/>
            <a:ext cx="1298448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E6B73"/>
                </a:solidFill>
                <a:latin typeface="Liberation Sans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450592"/>
            <a:ext cx="1609344" cy="749808"/>
          </a:xfrm>
          <a:prstGeom prst="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51760" y="2450592"/>
            <a:ext cx="1609344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Liberation Mono"/>
              </a:rPr>
              <a:t>a-addr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25696" y="2825496"/>
            <a:ext cx="1088136" cy="0"/>
          </a:xfrm>
          <a:prstGeom prst="line">
            <a:avLst/>
          </a:prstGeom>
          <a:ln w="2667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27448" y="2395728"/>
            <a:ext cx="475488" cy="310896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2395728"/>
            <a:ext cx="47548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@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254203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6B73"/>
                </a:solidFill>
                <a:latin typeface="Liberation Sans"/>
              </a:rPr>
              <a:t>after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450592"/>
            <a:ext cx="1298448" cy="749808"/>
          </a:xfrm>
          <a:prstGeom prst="rect">
            <a:avLst/>
          </a:prstGeom>
          <a:solidFill>
            <a:srgbClr val="ECEAE4"/>
          </a:solidFill>
          <a:ln w="1270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08776" y="2450592"/>
            <a:ext cx="1298448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E6B73"/>
                </a:solidFill>
                <a:latin typeface="Liberation Sans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7224" y="2450592"/>
            <a:ext cx="1609344" cy="749808"/>
          </a:xfrm>
          <a:prstGeom prst="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07224" y="2450592"/>
            <a:ext cx="1609344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D6684"/>
                </a:solidFill>
                <a:latin typeface="Liberation Mono"/>
              </a:rP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67004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1">
                <a:solidFill>
                  <a:srgbClr val="9A3548"/>
                </a:solidFill>
                <a:latin typeface="Liberation Sans"/>
              </a:rPr>
              <a:t>top of stack is on the right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685032"/>
            <a:ext cx="3401568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3931920"/>
            <a:ext cx="2944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IMPLICIT FRAME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297680"/>
            <a:ext cx="28895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For every F, an effect ( L -- R ) means F L → F 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685032"/>
            <a:ext cx="3401568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08576" y="3931920"/>
            <a:ext cx="2944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D7C62"/>
                </a:solidFill>
                <a:latin typeface="Liberation Sans"/>
              </a:rPr>
              <a:t>IDENTITY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4288536"/>
            <a:ext cx="2487168" cy="420624"/>
          </a:xfrm>
          <a:prstGeom prst="roundRect">
            <a:avLst/>
          </a:prstGeom>
          <a:solidFill>
            <a:srgbClr val="E7F0EB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19472" y="4325112"/>
            <a:ext cx="2340864" cy="347472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same [i] = same origin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5008" y="3685032"/>
            <a:ext cx="3401568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84464" y="3931920"/>
            <a:ext cx="2944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3548"/>
                </a:solidFill>
                <a:latin typeface="Liberation Sans"/>
              </a:rPr>
              <a:t>UNDEFINED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02752" y="4288536"/>
            <a:ext cx="2907792" cy="420624"/>
          </a:xfrm>
          <a:prstGeom prst="roundRect">
            <a:avLst/>
          </a:prstGeom>
          <a:solidFill>
            <a:srgbClr val="F5E7E8"/>
          </a:solidFill>
          <a:ln w="1016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75904" y="4325112"/>
            <a:ext cx="2761488" cy="347472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2304A"/>
                </a:solidFill>
                <a:latin typeface="Liberation Mono"/>
              </a:rPr>
              <a:t>incomparable touching types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5796001"/>
            <a:ext cx="10689336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An effect is a typed symbolic pre/post contract over only the data-stack suffix</a:t>
            </a: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 (</a:t>
            </a:r>
            <a:r>
              <a:rPr lang="et-EE" sz="1500" b="1" i="0" dirty="0" err="1">
                <a:solidFill>
                  <a:srgbClr val="12304A"/>
                </a:solidFill>
                <a:latin typeface="Liberation Sans"/>
              </a:rPr>
              <a:t>top</a:t>
            </a: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1500" b="1" i="0" dirty="0" err="1">
                <a:solidFill>
                  <a:srgbClr val="12304A"/>
                </a:solidFill>
                <a:latin typeface="Liberation Sans"/>
              </a:rPr>
              <a:t>right</a:t>
            </a: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)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 a phrase inspects.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TYPE-AWARE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12304A"/>
                </a:solidFill>
                <a:latin typeface="Liberation Sans"/>
              </a:rPr>
              <a:t>A boundary can refine</a:t>
            </a:r>
            <a:r>
              <a:rPr lang="et-EE" sz="26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sz="2600" b="1" i="0" dirty="0">
                <a:solidFill>
                  <a:srgbClr val="12304A"/>
                </a:solidFill>
                <a:latin typeface="Liberation Sans"/>
              </a:rPr>
              <a:t>or 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70432"/>
            <a:ext cx="5413248" cy="4370832"/>
          </a:xfrm>
          <a:prstGeom prst="roundRect">
            <a:avLst/>
          </a:prstGeom>
          <a:solidFill>
            <a:srgbClr val="E7F0EB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444752"/>
            <a:ext cx="1152144" cy="310896"/>
          </a:xfrm>
          <a:prstGeom prst="roundRect">
            <a:avLst/>
          </a:prstGeom>
          <a:solidFill>
            <a:srgbClr val="3D7C62"/>
          </a:solidFill>
          <a:ln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444752"/>
            <a:ext cx="1152144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COMPATIBLE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920240"/>
            <a:ext cx="4590288" cy="530352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1956816"/>
            <a:ext cx="4443983" cy="457199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2304A"/>
                </a:solidFill>
                <a:latin typeface="Liberation Mono"/>
              </a:rPr>
              <a:t>DP   C@   0=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Mono"/>
              </a:rPr>
              <a:t>DP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76148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( -- a-addr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209544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Mono"/>
              </a:rPr>
              <a:t>C@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3209544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( a-addr -- char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1912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3D7C62"/>
                </a:solidFill>
                <a:latin typeface="Liberation Sans"/>
              </a:rPr>
              <a:t>declared input: c-addr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57600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Mono"/>
              </a:rPr>
              <a:t>0=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65760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( char -- flag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63931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3D7C62"/>
                </a:solidFill>
                <a:latin typeface="Liberation Sans"/>
              </a:rPr>
              <a:t>declared input: 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8" y="4343400"/>
            <a:ext cx="4133087" cy="54864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4379976"/>
            <a:ext cx="3986783" cy="47548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Mono"/>
              </a:rPr>
              <a:t>result:  ( -- flag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056632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The trace retains a-addr because it is more specific than c-addr.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170432"/>
            <a:ext cx="5394960" cy="4370832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46520" y="1444752"/>
            <a:ext cx="749808" cy="310896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1444752"/>
            <a:ext cx="74980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CLASH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56832" y="1920240"/>
            <a:ext cx="4480560" cy="530352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9984" y="1956816"/>
            <a:ext cx="4334256" cy="457199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2304A"/>
                </a:solidFill>
                <a:latin typeface="Liberation Mono"/>
              </a:rPr>
              <a:t>C@   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2743200"/>
            <a:ext cx="4572000" cy="521207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02552" y="2779776"/>
            <a:ext cx="4425696" cy="448055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C@   ( c-addr -- char 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3456432"/>
            <a:ext cx="4572000" cy="521207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02552" y="3493008"/>
            <a:ext cx="4425696" cy="448055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!    ( X a-addr -- 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297680"/>
            <a:ext cx="10515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A3548"/>
                </a:solidFill>
                <a:latin typeface="Liberation Mono"/>
              </a:rPr>
              <a:t>char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224528"/>
            <a:ext cx="411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9A3548"/>
                </a:solidFill>
                <a:latin typeface="Liberation Sans"/>
              </a:rPr>
              <a:t>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4297680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A3548"/>
                </a:solidFill>
                <a:latin typeface="Liberation Mono"/>
              </a:rPr>
              <a:t>a-addr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727448"/>
            <a:ext cx="1051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E6B73"/>
                </a:solidFill>
                <a:latin typeface="Liberation Sans"/>
              </a:rPr>
              <a:t>produced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72744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E6B73"/>
                </a:solidFill>
                <a:latin typeface="Liberation Sans"/>
              </a:rPr>
              <a:t>required on top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715000"/>
            <a:ext cx="11055096" cy="530352"/>
          </a:xfrm>
          <a:prstGeom prst="roundRect">
            <a:avLst/>
          </a:prstGeom>
          <a:solidFill>
            <a:srgbClr val="F5E7E8"/>
          </a:solidFill>
          <a:ln w="1016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5733288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A3548"/>
                </a:solidFill>
                <a:latin typeface="Liberation Sans"/>
              </a:rPr>
              <a:t>The checker rejects the incompatible boundary before the source can attempt the bad store.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PROFILE-DEFINED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Types express the project's compatibility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70432"/>
            <a:ext cx="5413248" cy="4160520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44752"/>
            <a:ext cx="4901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CONVENIENT FORTH-LIKE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74519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E6B73"/>
                </a:solidFill>
                <a:latin typeface="Liberation Sans"/>
              </a:rPr>
              <a:t>more specific  →  more general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2304288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2340864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a-addr  &lt;  c-addr  &lt;  addr  &lt; 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3090672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" y="3127248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char  &lt;  n  &lt;  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3877056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" y="3913632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flag  &lt;  n  &lt; 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718304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Useful when the target treats flags and characters as numeric cells.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170432"/>
            <a:ext cx="5394960" cy="4160520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1444752"/>
            <a:ext cx="4882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6684"/>
                </a:solidFill>
                <a:latin typeface="Liberation Sans"/>
              </a:rPr>
              <a:t>STRICTER STANDARD-LIKE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874519"/>
            <a:ext cx="47183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E6B73"/>
                </a:solidFill>
                <a:latin typeface="Liberation Sans"/>
              </a:rPr>
              <a:t>the selected file makes these choices explicit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5664" y="2304288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28816" y="2340864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12304A"/>
                </a:solidFill>
                <a:latin typeface="Liberation Mono"/>
              </a:rPr>
              <a:t>a-addr &lt; c-addr &lt; addr &lt; u &lt; n &lt; 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55664" y="3090672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28816" y="3127248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Mono"/>
              </a:rPr>
              <a:t>char &lt; +n &lt; u &lt; n &lt; 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3877056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28816" y="3913632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Mono"/>
              </a:rPr>
              <a:t>flag &lt; x     (separate from 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18304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Aliases may name one canonical type: X, x, and cell can be equivalent.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50992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5669279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Composition keeps the more specific comparable boundary type; incomparable types clash.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SYMBOLIC VALUE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Indices remember which cell is which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246120" cy="3090672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572768" y="1536192"/>
            <a:ext cx="1225296" cy="347472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72768" y="1536192"/>
            <a:ext cx="1225296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DUP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2148840"/>
            <a:ext cx="2788920" cy="67665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185416"/>
            <a:ext cx="2642615" cy="603504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( X[1] -- X[1] X[1]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0040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7343C"/>
                </a:solidFill>
                <a:latin typeface="Liberation Sans"/>
              </a:rPr>
              <a:t>one input, two correlated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2232" y="1261872"/>
            <a:ext cx="3246120" cy="3090672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48072" y="1536192"/>
            <a:ext cx="1225296" cy="347472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48072" y="1536192"/>
            <a:ext cx="1225296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SWAP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148840"/>
            <a:ext cx="2788920" cy="67665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43984" y="2134764"/>
            <a:ext cx="2642615" cy="7048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 dirty="0">
                <a:solidFill>
                  <a:srgbClr val="12304A"/>
                </a:solidFill>
                <a:latin typeface="Liberation Mono"/>
              </a:rPr>
              <a:t>( X[2] X[1] </a:t>
            </a:r>
            <a:r>
              <a:rPr lang="et-EE" sz="1450" b="1" i="0" dirty="0">
                <a:solidFill>
                  <a:srgbClr val="12304A"/>
                </a:solidFill>
                <a:latin typeface="Liberation Mono"/>
              </a:rPr>
              <a:t>–</a:t>
            </a:r>
            <a:r>
              <a:rPr sz="1450" b="1" i="0" dirty="0">
                <a:solidFill>
                  <a:srgbClr val="12304A"/>
                </a:solidFill>
                <a:latin typeface="Liberation Mono"/>
              </a:rPr>
              <a:t> </a:t>
            </a:r>
            <a:endParaRPr lang="et-EE" sz="1450" b="1" i="0" dirty="0">
              <a:solidFill>
                <a:srgbClr val="12304A"/>
              </a:solidFill>
              <a:latin typeface="Liberation Mono"/>
            </a:endParaRPr>
          </a:p>
          <a:p>
            <a:pPr algn="ctr">
              <a:lnSpc>
                <a:spcPct val="100000"/>
              </a:lnSpc>
            </a:pPr>
            <a:r>
              <a:rPr sz="1450" b="1" i="0" dirty="0">
                <a:solidFill>
                  <a:srgbClr val="12304A"/>
                </a:solidFill>
                <a:latin typeface="Liberation Mono"/>
              </a:rPr>
              <a:t>X[1] X[2]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20040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7343C"/>
                </a:solidFill>
                <a:latin typeface="Liberation Sans"/>
              </a:rPr>
              <a:t>two origins exchange positions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1261872"/>
            <a:ext cx="3246120" cy="3090672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23376" y="1536192"/>
            <a:ext cx="1225296" cy="347472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23376" y="1536192"/>
            <a:ext cx="1225296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46136" y="2148840"/>
            <a:ext cx="2788920" cy="67665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19288" y="2134764"/>
            <a:ext cx="2642615" cy="7048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 dirty="0">
                <a:solidFill>
                  <a:srgbClr val="12304A"/>
                </a:solidFill>
                <a:latin typeface="Liberation Mono"/>
              </a:rPr>
              <a:t>( X[2] X[1] </a:t>
            </a:r>
            <a:r>
              <a:rPr lang="et-EE" sz="1450" b="1" i="0" dirty="0">
                <a:solidFill>
                  <a:srgbClr val="12304A"/>
                </a:solidFill>
                <a:latin typeface="Liberation Mono"/>
              </a:rPr>
              <a:t>–</a:t>
            </a:r>
            <a:r>
              <a:rPr sz="1450" b="1" i="0" dirty="0">
                <a:solidFill>
                  <a:srgbClr val="12304A"/>
                </a:solidFill>
                <a:latin typeface="Liberation Mono"/>
              </a:rPr>
              <a:t> </a:t>
            </a:r>
            <a:endParaRPr lang="et-EE" sz="1450" b="1" i="0" dirty="0">
              <a:solidFill>
                <a:srgbClr val="12304A"/>
              </a:solidFill>
              <a:latin typeface="Liberation Mono"/>
            </a:endParaRPr>
          </a:p>
          <a:p>
            <a:pPr algn="ctr">
              <a:lnSpc>
                <a:spcPct val="100000"/>
              </a:lnSpc>
            </a:pPr>
            <a:r>
              <a:rPr sz="1450" b="1" i="0" dirty="0">
                <a:solidFill>
                  <a:srgbClr val="12304A"/>
                </a:solidFill>
                <a:latin typeface="Liberation Mono"/>
              </a:rPr>
              <a:t>X[2] X[1] X[2]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5" y="320040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7343C"/>
                </a:solidFill>
                <a:latin typeface="Liberation Sans"/>
              </a:rPr>
              <a:t>the deeper input reappears on top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617720"/>
            <a:ext cx="10753344" cy="868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828032"/>
            <a:ext cx="10314432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50" b="1" i="0">
                <a:solidFill>
                  <a:srgbClr val="0E7C86"/>
                </a:solidFill>
                <a:latin typeface="Liberation Sans"/>
              </a:rPr>
              <a:t>same index</a:t>
            </a:r>
            <a:r>
              <a:rPr sz="1350" b="0" i="0">
                <a:solidFill>
                  <a:srgbClr val="27343C"/>
                </a:solidFill>
                <a:latin typeface="Liberation Sans"/>
              </a:rPr>
              <a:t> = same abstract origin   •   </a:t>
            </a:r>
            <a:r>
              <a:rPr sz="1350" b="1" i="0">
                <a:solidFill>
                  <a:srgbClr val="2D6684"/>
                </a:solidFill>
                <a:latin typeface="Liberation Sans"/>
              </a:rPr>
              <a:t>different indices</a:t>
            </a:r>
            <a:r>
              <a:rPr sz="1350" b="0" i="0">
                <a:solidFill>
                  <a:srgbClr val="27343C"/>
                </a:solidFill>
                <a:latin typeface="Liberation Sans"/>
              </a:rPr>
              <a:t> do not claim unequal concrete values   •   </a:t>
            </a:r>
            <a:r>
              <a:rPr sz="1350" b="1" i="0">
                <a:solidFill>
                  <a:srgbClr val="C46A2B"/>
                </a:solidFill>
                <a:latin typeface="Liberation Sans"/>
              </a:rPr>
              <a:t>no index</a:t>
            </a:r>
            <a:r>
              <a:rPr sz="1350" b="0" i="0">
                <a:solidFill>
                  <a:srgbClr val="27343C"/>
                </a:solidFill>
                <a:latin typeface="Liberation Sans"/>
              </a:rPr>
              <a:t> = fresh symbolic item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5680585"/>
            <a:ext cx="10689336" cy="49859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Indices are local logical variables</a:t>
            </a:r>
            <a:r>
              <a:rPr lang="et-EE" sz="1500" b="1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not addresses or runtime tags. The checker freshens them for every word occurrence.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EFFECT 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12304A"/>
                </a:solidFill>
                <a:latin typeface="Liberation Sans"/>
              </a:rPr>
              <a:t>Three operations </a:t>
            </a: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used</a:t>
            </a:r>
            <a:r>
              <a:rPr lang="et-EE" sz="2600" b="1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for</a:t>
            </a:r>
            <a:r>
              <a:rPr lang="et-EE" sz="2600" b="1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control</a:t>
            </a:r>
            <a:r>
              <a:rPr lang="et-EE" sz="2600" b="1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structures</a:t>
            </a:r>
            <a:endParaRPr sz="26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234440"/>
            <a:ext cx="3246120" cy="4133087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1298448" cy="310896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129844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65960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2304A"/>
                </a:solidFill>
                <a:latin typeface="Liberation Mono"/>
              </a:rPr>
              <a:t>p · 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6148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Boundary 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27340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Can q consume what p leaves? Match from the top inward and propagate the more precise type through every correlated occurrence.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2232" y="1234440"/>
            <a:ext cx="3246120" cy="4133087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25112" y="1481328"/>
            <a:ext cx="1536192" cy="310896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2" y="1481328"/>
            <a:ext cx="1536192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ALTERNATIVES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1965960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2304A"/>
                </a:solidFill>
                <a:latin typeface="Liberation Mono"/>
              </a:rPr>
              <a:t>p ⊓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276148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Common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3337560"/>
            <a:ext cx="27340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Attempt to reconcile both path effects into one interface. This is a single must-style syntactic summary—not a set of every possible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1234440"/>
            <a:ext cx="3246120" cy="4133087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900415" y="1481328"/>
            <a:ext cx="1298448" cy="310896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0415" y="1481328"/>
            <a:ext cx="129844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REPETITION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6136" y="1965960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2304A"/>
                </a:solidFill>
                <a:latin typeface="Liberation Mono"/>
              </a:rPr>
              <a:t>p ⊓ (p · 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136" y="276148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One-versus-two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7" y="3337560"/>
            <a:ext cx="27340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Compare one pass with two consecutive passes. Accept only when the implemented merge finds a locally stable summary.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Sans"/>
              </a:rPr>
              <a:t>The untyped base has a polycyclic-monoid structure; the checker adds partial, subtype-aware, identity-sensitive matching.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12304A"/>
                </a:solidFill>
                <a:latin typeface="Liberation Sans"/>
              </a:rPr>
              <a:t>Loops receive a local stability check</a:t>
            </a:r>
            <a:r>
              <a:rPr lang="et-EE" sz="26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sz="2600" b="1" i="0" dirty="0">
                <a:solidFill>
                  <a:srgbClr val="12304A"/>
                </a:solidFill>
                <a:latin typeface="Liberation Sans"/>
              </a:rPr>
              <a:t>not an invariant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051560"/>
            <a:ext cx="8065008" cy="585216"/>
          </a:xfrm>
          <a:prstGeom prst="roundRect">
            <a:avLst/>
          </a:prstGeom>
          <a:solidFill>
            <a:srgbClr val="ECEAE4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30552" y="1088136"/>
            <a:ext cx="7918704" cy="512064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304A"/>
                </a:solidFill>
                <a:latin typeface="Liberation Mono"/>
              </a:rPr>
              <a:t>: ULOOP   BEGIN DUP 0= UNTIL   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645920"/>
            <a:ext cx="6327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E6B73"/>
                </a:solidFill>
                <a:latin typeface="Liberation Mono"/>
              </a:rPr>
              <a:t>illustrative profile:  0= ( n -- flag )   ·   UNTIL ( flag --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74519"/>
            <a:ext cx="6711696" cy="3456432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213969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IMPLEMENTED ONE-VERSUS-TWO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2651760"/>
            <a:ext cx="5980176" cy="49377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688336"/>
            <a:ext cx="5833872" cy="420624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p  =  DUP 0= UNTIL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3429000"/>
            <a:ext cx="1956816" cy="822960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575304"/>
            <a:ext cx="1956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D6684"/>
                </a:solidFill>
                <a:latin typeface="Liberation Mono"/>
              </a:rPr>
              <a:t>one pass
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62656" y="3840480"/>
            <a:ext cx="694944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75887" y="3429000"/>
            <a:ext cx="1956816" cy="822960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75887" y="3575304"/>
            <a:ext cx="1956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46A2B"/>
                </a:solidFill>
                <a:latin typeface="Liberation Mono"/>
              </a:rPr>
              <a:t>two passes
p · 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50992" y="3840480"/>
            <a:ext cx="493776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63640" y="3639312"/>
            <a:ext cx="475488" cy="36576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3639312"/>
            <a:ext cx="475488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Liberation Sans"/>
              </a:rPr>
              <a:t>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4535424"/>
            <a:ext cx="5157216" cy="512064"/>
          </a:xfrm>
          <a:prstGeom prst="roundRect">
            <a:avLst/>
          </a:prstGeom>
          <a:solidFill>
            <a:srgbClr val="E7F0EB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90472" y="4572000"/>
            <a:ext cx="5010912" cy="438912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ULOOP  ( n[1] -- n[1] 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1874519"/>
            <a:ext cx="3977639" cy="3456432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82127" y="2139696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6A2B"/>
                </a:solidFill>
                <a:latin typeface="Liberation Sans"/>
              </a:rPr>
              <a:t>WHAT THIS RESULT SAYS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2688336"/>
            <a:ext cx="3337560" cy="2148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32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320" b="1">
                <a:solidFill>
                  <a:srgbClr val="27343C"/>
                </a:solidFill>
                <a:latin typeface="Liberation Sans"/>
              </a:rPr>
              <a:t>Useful: </a:t>
            </a:r>
            <a:r>
              <a:rPr sz="1320">
                <a:solidFill>
                  <a:srgbClr val="27343C"/>
                </a:solidFill>
                <a:latin typeface="Liberation Sans"/>
              </a:rPr>
              <a:t>detects many bodies that grow, shrink, or change incompatibly on a second pass.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32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320" b="1">
                <a:solidFill>
                  <a:srgbClr val="27343C"/>
                </a:solidFill>
                <a:latin typeface="Liberation Sans"/>
              </a:rPr>
              <a:t>Local only: </a:t>
            </a:r>
            <a:r>
              <a:rPr sz="1320">
                <a:solidFill>
                  <a:srgbClr val="27343C"/>
                </a:solidFill>
                <a:latin typeface="Liberation Sans"/>
              </a:rPr>
              <a:t>the duplicated copy feeds 0= and UNTIL; the original n remains.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32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320" b="1">
                <a:solidFill>
                  <a:srgbClr val="27343C"/>
                </a:solidFill>
                <a:latin typeface="Liberation Sans"/>
              </a:rPr>
              <a:t>Not proved: </a:t>
            </a:r>
            <a:r>
              <a:rPr sz="1320">
                <a:solidFill>
                  <a:srgbClr val="27343C"/>
                </a:solidFill>
                <a:latin typeface="Liberation Sans"/>
              </a:rPr>
              <a:t>termination, every iteration count, or a general inductive loop invariant.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F7ECE1"/>
          </a:solidFill>
          <a:ln w="1016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46A2B"/>
                </a:solidFill>
                <a:latin typeface="Liberation Sans"/>
              </a:rPr>
              <a:t>Treat the reported loop effect as a finite stack-stability approximation, not as full loop verification.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PROFILE-DRIVEN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Parsing and control are part of the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CONFIGURABLE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52144"/>
            <a:ext cx="5431536" cy="4443984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4173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6684"/>
                </a:solidFill>
                <a:latin typeface="Liberation Sans"/>
              </a:rPr>
              <a:t>WORD ENTRIES: SOURCE ROLE + STACK EFFECT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1920240"/>
            <a:ext cx="4892040" cy="1847088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956816"/>
            <a:ext cx="4745736" cy="1773936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12304A"/>
                </a:solidFill>
                <a:latin typeface="Liberation Mono"/>
              </a:rPr>
              <a:t>"("  parse until ")"         ( -- )
:    parse word define colon   ( -- )
;    control end               ( -- )
literal integer                ( -- n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87368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6684"/>
                </a:solidFill>
                <a:latin typeface="Liberation Sans"/>
              </a:rPr>
              <a:t>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4059936"/>
            <a:ext cx="367588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says how the reader consumes delimiters, names, definitions, and control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13533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3548"/>
                </a:solidFill>
                <a:latin typeface="Liberation Sans"/>
              </a:rPr>
              <a:t>The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4736592"/>
            <a:ext cx="3346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models runtime data-stack behavior separately from compile-time source handling.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52144"/>
            <a:ext cx="5376672" cy="4443984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3096" y="14173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CONTROL SYNTAX + EFFECT RECIPE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3096" y="1920240"/>
            <a:ext cx="4846320" cy="232257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8" y="1956816"/>
            <a:ext cx="4700016" cy="2249424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304A"/>
                </a:solidFill>
                <a:latin typeface="Liberation Mono"/>
              </a:rPr>
              <a:t>syntax:
  IF &lt;then branch&gt;
  [ELSE &lt;else branch&gt;] FI
effect:
  IF
  either &lt;then branch&gt; &lt;else branch&gt;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553712"/>
            <a:ext cx="4709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The syntax block captures regions; the effect block combines them by sequence, either, or repeat.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742432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760720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Sans"/>
              </a:rPr>
              <a:t>The profile can rename FI to THEN or change the type hierarchy without changing the effect algorithms.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Three inputs produce one inferred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CONFIGURABLE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61872"/>
            <a:ext cx="3108960" cy="950976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380743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684"/>
                </a:solidFill>
                <a:latin typeface="Liberation Mono"/>
              </a:rPr>
              <a:t>forth2012types.txt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719072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27343C"/>
                </a:solidFill>
                <a:latin typeface="Liberation Sans"/>
              </a:rPr>
              <a:t>Canonical names, aliases, subtype edges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30752" y="1737360"/>
            <a:ext cx="585216" cy="0"/>
          </a:xfrm>
          <a:prstGeom prst="line">
            <a:avLst/>
          </a:prstGeom>
          <a:ln w="22860">
            <a:solidFill>
              <a:srgbClr val="2D66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60" y="2514600"/>
            <a:ext cx="3108960" cy="950976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6334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7C86"/>
                </a:solidFill>
                <a:latin typeface="Liberation Mono"/>
              </a:rPr>
              <a:t>forth2012specs.txt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7180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27343C"/>
                </a:solidFill>
                <a:latin typeface="Liberation Sans"/>
              </a:rPr>
              <a:t>Word effects, literals, parser and control roles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30752" y="2990088"/>
            <a:ext cx="585216" cy="0"/>
          </a:xfrm>
          <a:prstGeom prst="line">
            <a:avLst/>
          </a:prstGeom>
          <a:ln w="2286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3767328"/>
            <a:ext cx="3108960" cy="950976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88620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46A2B"/>
                </a:solidFill>
                <a:latin typeface="Liberation Mono"/>
              </a:rPr>
              <a:t>examples.txt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2452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27343C"/>
                </a:solidFill>
                <a:latin typeface="Liberation Sans"/>
              </a:rPr>
              <a:t>Nine colon definitions and structured control forms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4242816"/>
            <a:ext cx="585216" cy="0"/>
          </a:xfrm>
          <a:prstGeom prst="line">
            <a:avLst/>
          </a:prstGeom>
          <a:ln w="22860">
            <a:solidFill>
              <a:srgbClr val="C46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7408" y="1609344"/>
            <a:ext cx="2907792" cy="342900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81728" y="1993392"/>
            <a:ext cx="2359152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Liberation Mono"/>
              </a:rPr>
              <a:t>SYMBOLIC
CHECKER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17520"/>
            <a:ext cx="221284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D8EEF0"/>
                </a:solidFill>
                <a:latin typeface="Liberation Sans"/>
              </a:rPr>
              <a:t>parse source
↓
compose effects
↓
meet control paths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51775" y="3319272"/>
            <a:ext cx="585217" cy="0"/>
          </a:xfrm>
          <a:prstGeom prst="line">
            <a:avLst/>
          </a:prstGeom>
          <a:ln w="2794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46720" y="1298448"/>
            <a:ext cx="3538728" cy="1463040"/>
          </a:xfrm>
          <a:prstGeom prst="roundRect">
            <a:avLst/>
          </a:prstGeom>
          <a:solidFill>
            <a:srgbClr val="E7F0EB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15544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D7C62"/>
                </a:solidFill>
                <a:latin typeface="Liberation Sans"/>
              </a:rPr>
              <a:t>INFERRED CONTRACTS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901952"/>
            <a:ext cx="29992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Required input suffix
Guaranteed output suffix
Shared value identities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017520"/>
            <a:ext cx="3538728" cy="1719072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327355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3548"/>
                </a:solidFill>
                <a:latin typeface="Liberation Sans"/>
              </a:rPr>
              <a:t>UNDEFINED OPERATION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639312"/>
            <a:ext cx="301752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Incomparable boundary
Inconsistent branch depth
Unstable repeated effect
Source diagnostic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650992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5669279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No concrete values are executed. At ; the inferred body effect becomes the specification of the new word.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Example</a:t>
            </a:r>
            <a:r>
              <a:rPr lang="et-EE" sz="2600" b="1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runs</a:t>
            </a:r>
            <a:endParaRPr sz="26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CONFIGURABLE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097280"/>
            <a:ext cx="9902952" cy="658368"/>
          </a:xfrm>
          <a:prstGeom prst="roundRect">
            <a:avLst/>
          </a:prstGeom>
          <a:solidFill>
            <a:srgbClr val="ECEAE4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2" y="1151004"/>
            <a:ext cx="9756648" cy="5509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 dirty="0">
                <a:solidFill>
                  <a:srgbClr val="12304A"/>
                </a:solidFill>
                <a:latin typeface="Liberation Mono"/>
              </a:rPr>
              <a:t>forth2012types.txt  +  forth2012specs.txt</a:t>
            </a:r>
            <a:r>
              <a:rPr lang="et-EE" sz="1900" b="1" i="0" dirty="0">
                <a:solidFill>
                  <a:srgbClr val="12304A"/>
                </a:solidFill>
                <a:latin typeface="Liberation Mono"/>
              </a:rPr>
              <a:t> + examples.txt</a:t>
            </a:r>
            <a:endParaRPr sz="1900" b="1" i="0" dirty="0">
              <a:solidFill>
                <a:srgbClr val="12304A"/>
              </a:solidFill>
              <a:latin typeface="Liberation Mon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4251960" cy="3200400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13432"/>
            <a:ext cx="374903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C46A2B"/>
                </a:solidFill>
                <a:latin typeface="Liberation Sans"/>
              </a:rPr>
              <a:t>NINE </a:t>
            </a:r>
            <a:r>
              <a:rPr lang="et-EE" sz="1200" b="1" i="0" dirty="0">
                <a:solidFill>
                  <a:srgbClr val="C46A2B"/>
                </a:solidFill>
                <a:latin typeface="Liberation Sans"/>
              </a:rPr>
              <a:t>COLON </a:t>
            </a:r>
            <a:r>
              <a:rPr sz="1200" b="1" i="0" dirty="0">
                <a:solidFill>
                  <a:srgbClr val="C46A2B"/>
                </a:solidFill>
                <a:latin typeface="Liberation Sans"/>
              </a:rPr>
              <a:t>DEFINITIONS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61488"/>
            <a:ext cx="36758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Each group isolates one operation.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01568"/>
            <a:ext cx="3657600" cy="1417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test1–3   straight-line composition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test4–6   conditional branch meet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test7–9   repetition and type variance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93792" y="3657600"/>
            <a:ext cx="1709928" cy="0"/>
          </a:xfrm>
          <a:prstGeom prst="line">
            <a:avLst/>
          </a:prstGeom>
          <a:ln w="2794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23560" y="3200400"/>
            <a:ext cx="850392" cy="329184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60" y="3200400"/>
            <a:ext cx="850392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INFER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5472" y="2057400"/>
            <a:ext cx="4315968" cy="3200400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231343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THE QUESTIONS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2743200"/>
            <a:ext cx="3767328" cy="10515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2944" y="2779776"/>
            <a:ext cx="3621024" cy="978407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Mono"/>
              </a:rPr>
              <a:t>sequence + subtyping
identity propagation
branch contract meet
finite repetition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Every inferred effect shown here is the exact examples.txt.log result; comments are not used as declarations.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t-EE" sz="2600" b="1" i="0" dirty="0" err="1">
                <a:solidFill>
                  <a:srgbClr val="12304A"/>
                </a:solidFill>
                <a:latin typeface="Liberation Sans"/>
              </a:rPr>
              <a:t>Concepts</a:t>
            </a:r>
            <a:r>
              <a:rPr lang="et-EE" sz="26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i="0" dirty="0" err="1">
                <a:solidFill>
                  <a:srgbClr val="12304A"/>
                </a:solidFill>
                <a:latin typeface="Liberation Sans"/>
              </a:rPr>
              <a:t>covered</a:t>
            </a:r>
            <a:endParaRPr sz="26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CONFIGURABLE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7343C"/>
                </a:solidFill>
                <a:latin typeface="Liberation Sans"/>
              </a:rPr>
              <a:t>The examples are deliberately small: each makes one part of the effect calculus visible.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1892808"/>
            <a:ext cx="804672" cy="310896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892808"/>
            <a:ext cx="804672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test1–2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78024"/>
            <a:ext cx="170078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55848"/>
            <a:ext cx="170078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Produced and required suffixes match from the top inward; fresh results carry types without identities.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87752" y="3493008"/>
            <a:ext cx="192024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16352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80944" y="1892808"/>
            <a:ext cx="804672" cy="310896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80944" y="1892808"/>
            <a:ext cx="804672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test3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2478024"/>
            <a:ext cx="170078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Identity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3355848"/>
            <a:ext cx="170078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A late consumer refines an earlier input backward through SWAP and DUP.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493008"/>
            <a:ext cx="192024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84064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48655" y="1892808"/>
            <a:ext cx="804672" cy="310896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48655" y="1892808"/>
            <a:ext cx="804672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test4–6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5" y="2478024"/>
            <a:ext cx="170078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Branch contracts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3355848"/>
            <a:ext cx="170078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Implicit prefixes align unequal displays; only common type and identity guarantees survive.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23175" y="3493008"/>
            <a:ext cx="192025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51775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516367" y="1892808"/>
            <a:ext cx="804672" cy="310896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16367" y="1892808"/>
            <a:ext cx="804672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test7–8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2478024"/>
            <a:ext cx="170078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Repetition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3355848"/>
            <a:ext cx="170078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One pass meets two passes to obtain a finite local stability summary.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493008"/>
            <a:ext cx="192023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9488" y="1691640"/>
            <a:ext cx="2029968" cy="3611880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784080" y="1892808"/>
            <a:ext cx="1051560" cy="310896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84080" y="1892808"/>
            <a:ext cx="1051560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test9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478024"/>
            <a:ext cx="170078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Variance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355848"/>
            <a:ext cx="170078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Inputs retain the common subtype; outputs retain the common supertype.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1A8F64D6-2CCD-C41D-A625-B418A620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t-EE" dirty="0"/>
              <a:t>: test1  ( -- </a:t>
            </a:r>
            <a:r>
              <a:rPr lang="et-EE" dirty="0" err="1"/>
              <a:t>value</a:t>
            </a:r>
            <a:r>
              <a:rPr lang="et-EE" dirty="0"/>
              <a:t> ) 3 4 5 - +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293615AB-D134-2AF7-09EA-0E08894B3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093522" cy="4525963"/>
          </a:xfrm>
        </p:spPr>
        <p:txBody>
          <a:bodyPr/>
          <a:lstStyle/>
          <a:p>
            <a:pPr marL="0" indent="0">
              <a:buNone/>
            </a:pPr>
            <a:r>
              <a:rPr lang="et-EE" dirty="0"/>
              <a:t>: test1</a:t>
            </a:r>
          </a:p>
          <a:p>
            <a:pPr marL="0" indent="0">
              <a:buNone/>
            </a:pPr>
            <a:r>
              <a:rPr lang="et-EE" dirty="0"/>
              <a:t>3 ( -- n )</a:t>
            </a:r>
          </a:p>
          <a:p>
            <a:pPr marL="0" indent="0">
              <a:buNone/>
            </a:pPr>
            <a:r>
              <a:rPr lang="et-EE" dirty="0"/>
              <a:t>4 ( -- n )</a:t>
            </a:r>
          </a:p>
          <a:p>
            <a:pPr marL="0" indent="0">
              <a:buNone/>
            </a:pPr>
            <a:r>
              <a:rPr lang="et-EE" dirty="0"/>
              <a:t>5 ( -- n ) </a:t>
            </a:r>
          </a:p>
          <a:p>
            <a:pPr marL="0" indent="0">
              <a:buNone/>
            </a:pPr>
            <a:r>
              <a:rPr lang="et-EE" dirty="0"/>
              <a:t>- ( n </a:t>
            </a:r>
            <a:r>
              <a:rPr lang="et-EE" dirty="0" err="1"/>
              <a:t>n</a:t>
            </a:r>
            <a:r>
              <a:rPr lang="et-EE" dirty="0"/>
              <a:t> -- n )</a:t>
            </a:r>
          </a:p>
          <a:p>
            <a:pPr marL="0" indent="0">
              <a:buNone/>
            </a:pPr>
            <a:r>
              <a:rPr lang="et-EE" dirty="0"/>
              <a:t>+ ( n </a:t>
            </a:r>
            <a:r>
              <a:rPr lang="et-EE" dirty="0" err="1"/>
              <a:t>n</a:t>
            </a:r>
            <a:r>
              <a:rPr lang="et-EE" dirty="0"/>
              <a:t> -- n )</a:t>
            </a:r>
          </a:p>
          <a:p>
            <a:pPr marL="0" indent="0">
              <a:buNone/>
            </a:pPr>
            <a:r>
              <a:rPr lang="et-EE" dirty="0"/>
              <a:t>;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6049B66A-FCED-D7DE-3FBD-201BA150F872}"/>
              </a:ext>
            </a:extLst>
          </p:cNvPr>
          <p:cNvSpPr txBox="1">
            <a:spLocks/>
          </p:cNvSpPr>
          <p:nvPr/>
        </p:nvSpPr>
        <p:spPr>
          <a:xfrm>
            <a:off x="4136571" y="1573481"/>
            <a:ext cx="2917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dirty="0" err="1"/>
              <a:t>empty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n</a:t>
            </a:r>
          </a:p>
          <a:p>
            <a:pPr marL="0" indent="0">
              <a:buFont typeface="Arial"/>
              <a:buNone/>
            </a:pPr>
            <a:r>
              <a:rPr lang="et-EE" dirty="0"/>
              <a:t>n </a:t>
            </a:r>
            <a:r>
              <a:rPr lang="et-EE" dirty="0" err="1"/>
              <a:t>n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n </a:t>
            </a:r>
            <a:r>
              <a:rPr lang="et-EE" dirty="0" err="1"/>
              <a:t>n</a:t>
            </a:r>
            <a:r>
              <a:rPr lang="et-EE" dirty="0"/>
              <a:t> </a:t>
            </a:r>
            <a:r>
              <a:rPr lang="et-EE" dirty="0" err="1"/>
              <a:t>n</a:t>
            </a:r>
            <a:r>
              <a:rPr lang="et-EE" dirty="0"/>
              <a:t> </a:t>
            </a:r>
          </a:p>
          <a:p>
            <a:pPr marL="0" indent="0">
              <a:buFont typeface="Arial"/>
              <a:buNone/>
            </a:pPr>
            <a:r>
              <a:rPr lang="et-EE" dirty="0"/>
              <a:t>n </a:t>
            </a:r>
            <a:r>
              <a:rPr lang="et-EE" dirty="0" err="1"/>
              <a:t>n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n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Results</a:t>
            </a:r>
            <a:r>
              <a:rPr lang="et-EE" dirty="0"/>
              <a:t> in ( -- n )</a:t>
            </a:r>
          </a:p>
        </p:txBody>
      </p:sp>
      <p:sp>
        <p:nvSpPr>
          <p:cNvPr id="6" name="Sisu kohatäide 2">
            <a:extLst>
              <a:ext uri="{FF2B5EF4-FFF2-40B4-BE49-F238E27FC236}">
                <a16:creationId xmlns:a16="http://schemas.microsoft.com/office/drawing/2014/main" id="{01E0F552-E3A1-FBEF-9095-D8771C3C4069}"/>
              </a:ext>
            </a:extLst>
          </p:cNvPr>
          <p:cNvSpPr txBox="1">
            <a:spLocks/>
          </p:cNvSpPr>
          <p:nvPr/>
        </p:nvSpPr>
        <p:spPr>
          <a:xfrm>
            <a:off x="7317179" y="1573480"/>
            <a:ext cx="2917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3</a:t>
            </a:r>
          </a:p>
          <a:p>
            <a:pPr marL="0" indent="0">
              <a:buFont typeface="Arial"/>
              <a:buNone/>
            </a:pPr>
            <a:r>
              <a:rPr lang="et-EE" dirty="0"/>
              <a:t>3 4</a:t>
            </a:r>
          </a:p>
          <a:p>
            <a:pPr marL="0" indent="0">
              <a:buFont typeface="Arial"/>
              <a:buNone/>
            </a:pPr>
            <a:r>
              <a:rPr lang="et-EE" dirty="0"/>
              <a:t>3 4 5</a:t>
            </a:r>
          </a:p>
          <a:p>
            <a:pPr marL="0" indent="0">
              <a:buFont typeface="Arial"/>
              <a:buNone/>
            </a:pPr>
            <a:r>
              <a:rPr lang="et-EE" dirty="0"/>
              <a:t>3  -1</a:t>
            </a:r>
          </a:p>
          <a:p>
            <a:pPr marL="0" indent="0">
              <a:buFont typeface="Arial"/>
              <a:buNone/>
            </a:pPr>
            <a:r>
              <a:rPr lang="et-E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17059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A726-D03C-102A-7689-135F05430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C2659AE4-97D4-A070-A4D9-35F4C2F08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463" y="443841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test2  ( fl1 fl2 -- FALSE </a:t>
            </a:r>
            <a:r>
              <a:rPr lang="et-EE" dirty="0" err="1"/>
              <a:t>flor</a:t>
            </a:r>
            <a:r>
              <a:rPr lang="et-EE" dirty="0"/>
              <a:t> ) </a:t>
            </a:r>
            <a:br>
              <a:rPr lang="et-EE" dirty="0"/>
            </a:br>
            <a:r>
              <a:rPr lang="et-EE" dirty="0"/>
              <a:t>    OR FALSE SWAP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6251639E-794C-8FDE-6C8B-9A6317533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2645228"/>
            <a:ext cx="5721927" cy="3197431"/>
          </a:xfrm>
        </p:spPr>
        <p:txBody>
          <a:bodyPr/>
          <a:lstStyle/>
          <a:p>
            <a:pPr marL="0" indent="0">
              <a:buNone/>
            </a:pPr>
            <a:r>
              <a:rPr lang="et-EE" dirty="0"/>
              <a:t>: test2</a:t>
            </a:r>
          </a:p>
          <a:p>
            <a:pPr marL="0" indent="0">
              <a:buNone/>
            </a:pPr>
            <a:r>
              <a:rPr lang="et-EE" dirty="0"/>
              <a:t>OR ( </a:t>
            </a: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r>
              <a:rPr lang="et-EE" dirty="0"/>
              <a:t> -- </a:t>
            </a:r>
            <a:r>
              <a:rPr lang="et-EE" dirty="0" err="1"/>
              <a:t>flag</a:t>
            </a:r>
            <a:r>
              <a:rPr lang="et-EE" dirty="0"/>
              <a:t>  )</a:t>
            </a:r>
          </a:p>
          <a:p>
            <a:pPr marL="0" indent="0">
              <a:buNone/>
            </a:pPr>
            <a:r>
              <a:rPr lang="et-EE" dirty="0"/>
              <a:t>FALSE ( -- </a:t>
            </a:r>
            <a:r>
              <a:rPr lang="et-EE" dirty="0" err="1"/>
              <a:t>flag</a:t>
            </a:r>
            <a:r>
              <a:rPr lang="et-EE" dirty="0"/>
              <a:t> )</a:t>
            </a:r>
          </a:p>
          <a:p>
            <a:pPr marL="0" indent="0">
              <a:buNone/>
            </a:pPr>
            <a:r>
              <a:rPr lang="et-EE" dirty="0"/>
              <a:t>SWAP  ( X[2] X[1] – X[1] X[2] ) </a:t>
            </a:r>
          </a:p>
          <a:p>
            <a:pPr marL="0" indent="0">
              <a:buNone/>
            </a:pPr>
            <a:r>
              <a:rPr lang="et-EE" dirty="0"/>
              <a:t>;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89554897-1BE0-1A6F-E873-F474465EF0D3}"/>
              </a:ext>
            </a:extLst>
          </p:cNvPr>
          <p:cNvSpPr txBox="1">
            <a:spLocks/>
          </p:cNvSpPr>
          <p:nvPr/>
        </p:nvSpPr>
        <p:spPr>
          <a:xfrm>
            <a:off x="6096000" y="2645227"/>
            <a:ext cx="5446816" cy="319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 err="1"/>
              <a:t>Results</a:t>
            </a:r>
            <a:r>
              <a:rPr lang="et-EE" dirty="0"/>
              <a:t> in ( </a:t>
            </a: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r>
              <a:rPr lang="et-EE" dirty="0"/>
              <a:t> -- </a:t>
            </a: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r>
              <a:rPr lang="et-EE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150512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F0DD-578F-8F3F-8569-A33BA1F8B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291BF82B-E0B1-422C-894C-CA07C898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462" y="443841"/>
            <a:ext cx="10064337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test3  ( </a:t>
            </a:r>
            <a:r>
              <a:rPr lang="et-EE" dirty="0" err="1"/>
              <a:t>addr</a:t>
            </a:r>
            <a:r>
              <a:rPr lang="et-EE" dirty="0"/>
              <a:t> X -- X </a:t>
            </a:r>
            <a:r>
              <a:rPr lang="et-EE" dirty="0" err="1"/>
              <a:t>addr</a:t>
            </a:r>
            <a:r>
              <a:rPr lang="et-EE" dirty="0"/>
              <a:t> </a:t>
            </a:r>
            <a:r>
              <a:rPr lang="et-EE" dirty="0" err="1"/>
              <a:t>value</a:t>
            </a:r>
            <a:r>
              <a:rPr lang="et-EE" dirty="0"/>
              <a:t> ) </a:t>
            </a:r>
            <a:br>
              <a:rPr lang="et-EE" dirty="0"/>
            </a:br>
            <a:r>
              <a:rPr lang="et-EE" dirty="0"/>
              <a:t>    SWAP DUP @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E5F58AF0-4748-DBFD-141A-641658703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519" y="2363190"/>
            <a:ext cx="5142016" cy="3550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dirty="0"/>
              <a:t>: test3</a:t>
            </a:r>
          </a:p>
          <a:p>
            <a:pPr marL="0" indent="0">
              <a:buNone/>
            </a:pPr>
            <a:r>
              <a:rPr lang="et-EE" dirty="0"/>
              <a:t>SWAP ( X[2] X[1] -- X[1] X[2] )</a:t>
            </a:r>
          </a:p>
          <a:p>
            <a:pPr marL="0" indent="0">
              <a:buNone/>
            </a:pPr>
            <a:r>
              <a:rPr lang="et-EE" dirty="0"/>
              <a:t>DUP ( X[1] -- X[1] X[1] )</a:t>
            </a:r>
          </a:p>
          <a:p>
            <a:pPr marL="0" indent="0">
              <a:buNone/>
            </a:pPr>
            <a:r>
              <a:rPr lang="et-EE" dirty="0"/>
              <a:t>@  ( a-</a:t>
            </a:r>
            <a:r>
              <a:rPr lang="et-EE" dirty="0" err="1"/>
              <a:t>addr</a:t>
            </a:r>
            <a:r>
              <a:rPr lang="et-EE" dirty="0"/>
              <a:t> -- X ) </a:t>
            </a:r>
          </a:p>
          <a:p>
            <a:pPr marL="0" indent="0">
              <a:buNone/>
            </a:pPr>
            <a:r>
              <a:rPr lang="et-EE" dirty="0"/>
              <a:t>;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6F90E499-CAD6-5817-AB62-3AF929587EFE}"/>
              </a:ext>
            </a:extLst>
          </p:cNvPr>
          <p:cNvSpPr txBox="1">
            <a:spLocks/>
          </p:cNvSpPr>
          <p:nvPr/>
        </p:nvSpPr>
        <p:spPr>
          <a:xfrm>
            <a:off x="5854535" y="2363190"/>
            <a:ext cx="6056416" cy="3930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dirty="0"/>
              <a:t>a-</a:t>
            </a:r>
            <a:r>
              <a:rPr lang="et-EE" dirty="0" err="1"/>
              <a:t>addr</a:t>
            </a:r>
            <a:r>
              <a:rPr lang="et-EE" dirty="0"/>
              <a:t>[2] X[1]</a:t>
            </a:r>
          </a:p>
          <a:p>
            <a:pPr marL="0" indent="0">
              <a:buFont typeface="Arial"/>
              <a:buNone/>
            </a:pPr>
            <a:r>
              <a:rPr lang="et-EE" dirty="0"/>
              <a:t>X[1] a-</a:t>
            </a:r>
            <a:r>
              <a:rPr lang="et-EE" dirty="0" err="1"/>
              <a:t>addr</a:t>
            </a:r>
            <a:r>
              <a:rPr lang="et-EE" dirty="0"/>
              <a:t>[2]</a:t>
            </a:r>
          </a:p>
          <a:p>
            <a:pPr marL="0" indent="0">
              <a:buFont typeface="Arial"/>
              <a:buNone/>
            </a:pPr>
            <a:r>
              <a:rPr lang="et-EE" dirty="0"/>
              <a:t>X[1] a-</a:t>
            </a:r>
            <a:r>
              <a:rPr lang="et-EE" dirty="0" err="1"/>
              <a:t>addr</a:t>
            </a:r>
            <a:r>
              <a:rPr lang="et-EE" dirty="0"/>
              <a:t>[2] a-</a:t>
            </a:r>
            <a:r>
              <a:rPr lang="et-EE" dirty="0" err="1"/>
              <a:t>addr</a:t>
            </a:r>
            <a:r>
              <a:rPr lang="et-EE" dirty="0"/>
              <a:t>[2]</a:t>
            </a:r>
          </a:p>
          <a:p>
            <a:pPr marL="0" indent="0">
              <a:buFont typeface="Arial"/>
              <a:buNone/>
            </a:pPr>
            <a:r>
              <a:rPr lang="et-EE" dirty="0"/>
              <a:t>X[1] a-</a:t>
            </a:r>
            <a:r>
              <a:rPr lang="et-EE" dirty="0" err="1"/>
              <a:t>addr</a:t>
            </a:r>
            <a:r>
              <a:rPr lang="et-EE" dirty="0"/>
              <a:t>[2]  X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Results</a:t>
            </a:r>
            <a:r>
              <a:rPr lang="et-EE" dirty="0"/>
              <a:t> in </a:t>
            </a:r>
          </a:p>
          <a:p>
            <a:pPr marL="0" indent="0">
              <a:buFont typeface="Arial"/>
              <a:buNone/>
            </a:pPr>
            <a:r>
              <a:rPr lang="et-EE" dirty="0"/>
              <a:t>( a-</a:t>
            </a:r>
            <a:r>
              <a:rPr lang="et-EE" dirty="0" err="1"/>
              <a:t>addr</a:t>
            </a:r>
            <a:r>
              <a:rPr lang="et-EE" dirty="0"/>
              <a:t>[2] X[1] -- X[1] a-</a:t>
            </a:r>
            <a:r>
              <a:rPr lang="et-EE" dirty="0" err="1"/>
              <a:t>addr</a:t>
            </a:r>
            <a:r>
              <a:rPr lang="et-EE" dirty="0"/>
              <a:t>[2] X )</a:t>
            </a:r>
          </a:p>
        </p:txBody>
      </p:sp>
    </p:spTree>
    <p:extLst>
      <p:ext uri="{BB962C8B-B14F-4D97-AF65-F5344CB8AC3E}">
        <p14:creationId xmlns:p14="http://schemas.microsoft.com/office/powerpoint/2010/main" val="1464238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35CD6-37AC-0F1F-F28D-E9F32FF44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BAEA090D-84A5-A065-5D32-12907CC5D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462" y="443841"/>
            <a:ext cx="10064337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test4  (  n </a:t>
            </a:r>
            <a:r>
              <a:rPr lang="et-EE" dirty="0" err="1"/>
              <a:t>incr</a:t>
            </a:r>
            <a:r>
              <a:rPr lang="et-EE" dirty="0"/>
              <a:t> -- n1  ) </a:t>
            </a:r>
            <a:br>
              <a:rPr lang="et-EE" dirty="0"/>
            </a:br>
            <a:r>
              <a:rPr lang="et-EE" dirty="0"/>
              <a:t>    IF 1 + FI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E330312F-9A2E-C375-ACF8-12FF0BC01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462" y="1959429"/>
            <a:ext cx="5142016" cy="3550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dirty="0"/>
              <a:t>: test4</a:t>
            </a:r>
          </a:p>
          <a:p>
            <a:pPr marL="0" indent="0">
              <a:buNone/>
            </a:pPr>
            <a:r>
              <a:rPr lang="et-EE" dirty="0"/>
              <a:t>IF (</a:t>
            </a:r>
            <a:r>
              <a:rPr lang="et-EE" dirty="0" err="1"/>
              <a:t>flag</a:t>
            </a:r>
            <a:r>
              <a:rPr lang="et-EE" dirty="0"/>
              <a:t> -- )</a:t>
            </a:r>
          </a:p>
          <a:p>
            <a:pPr marL="0" indent="0">
              <a:buNone/>
            </a:pPr>
            <a:r>
              <a:rPr lang="et-EE" dirty="0"/>
              <a:t>1 ( -- n )</a:t>
            </a:r>
          </a:p>
          <a:p>
            <a:pPr marL="0" indent="0">
              <a:buNone/>
            </a:pPr>
            <a:r>
              <a:rPr lang="et-EE" dirty="0"/>
              <a:t>+  ( n </a:t>
            </a:r>
            <a:r>
              <a:rPr lang="et-EE" dirty="0" err="1"/>
              <a:t>n</a:t>
            </a:r>
            <a:r>
              <a:rPr lang="et-EE" dirty="0"/>
              <a:t> -- n ) </a:t>
            </a:r>
          </a:p>
          <a:p>
            <a:pPr marL="0" indent="0">
              <a:buNone/>
            </a:pPr>
            <a:r>
              <a:rPr lang="et-EE" dirty="0"/>
              <a:t>FI</a:t>
            </a:r>
          </a:p>
          <a:p>
            <a:pPr marL="0" indent="0">
              <a:buNone/>
            </a:pPr>
            <a:r>
              <a:rPr lang="et-EE" dirty="0"/>
              <a:t>;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F526914B-9B7E-D402-72FE-653FD38F689C}"/>
              </a:ext>
            </a:extLst>
          </p:cNvPr>
          <p:cNvSpPr txBox="1">
            <a:spLocks/>
          </p:cNvSpPr>
          <p:nvPr/>
        </p:nvSpPr>
        <p:spPr>
          <a:xfrm>
            <a:off x="5771408" y="1959429"/>
            <a:ext cx="5011387" cy="3930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dirty="0"/>
              <a:t>n </a:t>
            </a: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n</a:t>
            </a:r>
          </a:p>
          <a:p>
            <a:pPr marL="0" indent="0">
              <a:buFont typeface="Arial"/>
              <a:buNone/>
            </a:pPr>
            <a:r>
              <a:rPr lang="et-EE" dirty="0"/>
              <a:t>n </a:t>
            </a:r>
            <a:r>
              <a:rPr lang="et-EE" dirty="0" err="1"/>
              <a:t>n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n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Branch</a:t>
            </a:r>
            <a:r>
              <a:rPr lang="et-EE" dirty="0"/>
              <a:t> </a:t>
            </a:r>
            <a:r>
              <a:rPr lang="et-EE" dirty="0" err="1"/>
              <a:t>effect</a:t>
            </a:r>
            <a:r>
              <a:rPr lang="et-EE" dirty="0"/>
              <a:t> ( n -- n )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Results</a:t>
            </a:r>
            <a:r>
              <a:rPr lang="et-EE" dirty="0"/>
              <a:t> in ( n </a:t>
            </a:r>
            <a:r>
              <a:rPr lang="et-EE" dirty="0" err="1"/>
              <a:t>flag</a:t>
            </a:r>
            <a:r>
              <a:rPr lang="et-EE" dirty="0"/>
              <a:t> -- n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6A393-B95C-AA51-35BE-C60656C9F1C4}"/>
              </a:ext>
            </a:extLst>
          </p:cNvPr>
          <p:cNvSpPr txBox="1"/>
          <p:nvPr/>
        </p:nvSpPr>
        <p:spPr>
          <a:xfrm>
            <a:off x="498763" y="5858987"/>
            <a:ext cx="11388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t-EE" sz="2800" dirty="0" err="1"/>
              <a:t>If-branch</a:t>
            </a:r>
            <a:r>
              <a:rPr lang="et-EE" sz="2800" dirty="0"/>
              <a:t> </a:t>
            </a:r>
            <a:r>
              <a:rPr lang="et-EE" sz="2800" dirty="0" err="1"/>
              <a:t>body</a:t>
            </a:r>
            <a:r>
              <a:rPr lang="et-EE" sz="2800" dirty="0"/>
              <a:t> </a:t>
            </a:r>
            <a:r>
              <a:rPr lang="et-EE" sz="2800" dirty="0" err="1"/>
              <a:t>effect</a:t>
            </a:r>
            <a:r>
              <a:rPr lang="et-EE" sz="2800" dirty="0"/>
              <a:t> ( n – n ) </a:t>
            </a:r>
            <a:r>
              <a:rPr lang="et-EE" sz="2800" dirty="0" err="1"/>
              <a:t>is</a:t>
            </a:r>
            <a:r>
              <a:rPr lang="et-EE" sz="2800" dirty="0"/>
              <a:t> </a:t>
            </a:r>
            <a:r>
              <a:rPr lang="et-EE" sz="2800" dirty="0" err="1"/>
              <a:t>more</a:t>
            </a:r>
            <a:r>
              <a:rPr lang="et-EE" sz="2800" dirty="0"/>
              <a:t> </a:t>
            </a:r>
            <a:r>
              <a:rPr lang="et-EE" sz="2800" dirty="0" err="1"/>
              <a:t>exact</a:t>
            </a:r>
            <a:r>
              <a:rPr lang="et-EE" sz="2800" dirty="0"/>
              <a:t> </a:t>
            </a:r>
            <a:r>
              <a:rPr lang="et-EE" sz="2800" dirty="0" err="1"/>
              <a:t>than</a:t>
            </a:r>
            <a:r>
              <a:rPr lang="et-EE" sz="2800" dirty="0"/>
              <a:t> </a:t>
            </a:r>
            <a:r>
              <a:rPr lang="et-EE" sz="2800" dirty="0" err="1"/>
              <a:t>empty</a:t>
            </a:r>
            <a:r>
              <a:rPr lang="et-EE" sz="2800" dirty="0"/>
              <a:t> </a:t>
            </a:r>
            <a:r>
              <a:rPr lang="et-EE" sz="2800" dirty="0" err="1"/>
              <a:t>branch</a:t>
            </a:r>
            <a:r>
              <a:rPr lang="et-EE" sz="2800" dirty="0"/>
              <a:t>  </a:t>
            </a:r>
            <a:r>
              <a:rPr lang="et-EE" sz="2800" dirty="0" err="1"/>
              <a:t>effect</a:t>
            </a:r>
            <a:r>
              <a:rPr lang="et-EE" sz="2800" dirty="0"/>
              <a:t> ( -- )  </a:t>
            </a:r>
          </a:p>
        </p:txBody>
      </p:sp>
    </p:spTree>
    <p:extLst>
      <p:ext uri="{BB962C8B-B14F-4D97-AF65-F5344CB8AC3E}">
        <p14:creationId xmlns:p14="http://schemas.microsoft.com/office/powerpoint/2010/main" val="826819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4448D-4669-4854-5129-84B249AD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80C089F8-B771-4002-4518-647BA92F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58833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test5  ( X1 </a:t>
            </a:r>
            <a:r>
              <a:rPr lang="et-EE" dirty="0" err="1"/>
              <a:t>flag</a:t>
            </a:r>
            <a:r>
              <a:rPr lang="et-EE" dirty="0"/>
              <a:t> -- X1 X2 ) </a:t>
            </a:r>
            <a:br>
              <a:rPr lang="et-EE" dirty="0"/>
            </a:br>
            <a:r>
              <a:rPr lang="et-EE" dirty="0"/>
              <a:t>    IF DUP ELSE 0 FI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E0E46FB1-346F-D737-9AA0-152CE724E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1380507"/>
            <a:ext cx="5721927" cy="4096986"/>
          </a:xfrm>
        </p:spPr>
        <p:txBody>
          <a:bodyPr/>
          <a:lstStyle/>
          <a:p>
            <a:pPr marL="0" indent="0">
              <a:buNone/>
            </a:pPr>
            <a:r>
              <a:rPr lang="et-EE" dirty="0"/>
              <a:t>: test5</a:t>
            </a:r>
          </a:p>
          <a:p>
            <a:pPr marL="0" indent="0">
              <a:buNone/>
            </a:pPr>
            <a:r>
              <a:rPr lang="et-EE" dirty="0"/>
              <a:t>IF ( </a:t>
            </a:r>
            <a:r>
              <a:rPr lang="et-EE" dirty="0" err="1"/>
              <a:t>flag</a:t>
            </a:r>
            <a:r>
              <a:rPr lang="et-EE" dirty="0"/>
              <a:t> -- )</a:t>
            </a:r>
          </a:p>
          <a:p>
            <a:pPr marL="0" indent="0">
              <a:buNone/>
            </a:pPr>
            <a:r>
              <a:rPr lang="et-EE" dirty="0"/>
              <a:t>DUP ( X[1] -- X[1] X[1] )</a:t>
            </a:r>
          </a:p>
          <a:p>
            <a:pPr marL="0" indent="0">
              <a:buNone/>
            </a:pPr>
            <a:r>
              <a:rPr lang="et-EE" dirty="0"/>
              <a:t>ELSE</a:t>
            </a:r>
          </a:p>
          <a:p>
            <a:pPr marL="0" indent="0">
              <a:buNone/>
            </a:pPr>
            <a:r>
              <a:rPr lang="et-EE" dirty="0"/>
              <a:t>0 ( -- n )</a:t>
            </a:r>
          </a:p>
          <a:p>
            <a:pPr marL="0" indent="0">
              <a:buNone/>
            </a:pPr>
            <a:r>
              <a:rPr lang="et-EE" dirty="0"/>
              <a:t>FI</a:t>
            </a:r>
          </a:p>
          <a:p>
            <a:pPr marL="0" indent="0">
              <a:buNone/>
            </a:pPr>
            <a:r>
              <a:rPr lang="et-EE" dirty="0"/>
              <a:t>;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0C2FEE45-1264-2FE5-53B2-50092653F9D7}"/>
              </a:ext>
            </a:extLst>
          </p:cNvPr>
          <p:cNvSpPr txBox="1">
            <a:spLocks/>
          </p:cNvSpPr>
          <p:nvPr/>
        </p:nvSpPr>
        <p:spPr>
          <a:xfrm>
            <a:off x="6096000" y="1380507"/>
            <a:ext cx="5446816" cy="425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dirty="0"/>
              <a:t>X[1] </a:t>
            </a: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X[1]</a:t>
            </a:r>
          </a:p>
          <a:p>
            <a:pPr marL="0" indent="0">
              <a:buFont typeface="Arial"/>
              <a:buNone/>
            </a:pPr>
            <a:r>
              <a:rPr lang="et-EE" dirty="0"/>
              <a:t>X[1] X[1]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If</a:t>
            </a:r>
            <a:r>
              <a:rPr lang="et-EE" dirty="0"/>
              <a:t> </a:t>
            </a:r>
            <a:r>
              <a:rPr lang="et-EE" dirty="0" err="1"/>
              <a:t>branch</a:t>
            </a:r>
            <a:r>
              <a:rPr lang="et-EE" dirty="0"/>
              <a:t> </a:t>
            </a:r>
            <a:r>
              <a:rPr lang="et-EE" dirty="0" err="1"/>
              <a:t>effect</a:t>
            </a:r>
            <a:r>
              <a:rPr lang="et-EE" dirty="0"/>
              <a:t> ( X1 -- X1 </a:t>
            </a:r>
            <a:r>
              <a:rPr lang="et-EE" dirty="0" err="1"/>
              <a:t>X1</a:t>
            </a:r>
            <a:r>
              <a:rPr lang="et-EE" dirty="0"/>
              <a:t> )</a:t>
            </a:r>
          </a:p>
          <a:p>
            <a:pPr marL="0" indent="0">
              <a:buFont typeface="Arial"/>
              <a:buNone/>
            </a:pPr>
            <a:r>
              <a:rPr lang="et-EE" dirty="0"/>
              <a:t>X[1] n</a:t>
            </a:r>
          </a:p>
          <a:p>
            <a:pPr marL="0" indent="0">
              <a:buFont typeface="Arial"/>
              <a:buNone/>
            </a:pPr>
            <a:r>
              <a:rPr lang="et-EE" dirty="0"/>
              <a:t>Else-</a:t>
            </a:r>
            <a:r>
              <a:rPr lang="et-EE" dirty="0" err="1"/>
              <a:t>branch</a:t>
            </a:r>
            <a:r>
              <a:rPr lang="et-EE" dirty="0"/>
              <a:t> </a:t>
            </a:r>
            <a:r>
              <a:rPr lang="et-EE" dirty="0" err="1"/>
              <a:t>effect</a:t>
            </a:r>
            <a:r>
              <a:rPr lang="et-EE" dirty="0"/>
              <a:t> ( -- n )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Meet</a:t>
            </a:r>
            <a:r>
              <a:rPr lang="et-EE" dirty="0"/>
              <a:t>: ( X1 -- X1 X2 )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4E99C-FEE8-B146-C101-A52EE079BF7F}"/>
              </a:ext>
            </a:extLst>
          </p:cNvPr>
          <p:cNvSpPr txBox="1"/>
          <p:nvPr/>
        </p:nvSpPr>
        <p:spPr>
          <a:xfrm>
            <a:off x="374073" y="5605577"/>
            <a:ext cx="11673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t-EE" sz="2400" dirty="0" err="1"/>
              <a:t>Prefere</a:t>
            </a:r>
            <a:r>
              <a:rPr lang="et-EE" sz="2400" dirty="0"/>
              <a:t> </a:t>
            </a:r>
            <a:r>
              <a:rPr lang="et-EE" sz="2400" dirty="0" err="1"/>
              <a:t>supertype</a:t>
            </a:r>
            <a:r>
              <a:rPr lang="et-EE" sz="2400" dirty="0"/>
              <a:t> in </a:t>
            </a:r>
            <a:r>
              <a:rPr lang="et-EE" sz="2400" dirty="0" err="1"/>
              <a:t>output</a:t>
            </a:r>
            <a:r>
              <a:rPr lang="et-EE" sz="2400" dirty="0"/>
              <a:t> (</a:t>
            </a:r>
            <a:r>
              <a:rPr lang="et-EE" sz="2400" dirty="0" err="1"/>
              <a:t>we</a:t>
            </a:r>
            <a:r>
              <a:rPr lang="et-EE" sz="2400" dirty="0"/>
              <a:t> </a:t>
            </a:r>
            <a:r>
              <a:rPr lang="et-EE" sz="2400" dirty="0" err="1"/>
              <a:t>don’t</a:t>
            </a:r>
            <a:r>
              <a:rPr lang="et-EE" sz="2400" dirty="0"/>
              <a:t> </a:t>
            </a:r>
            <a:r>
              <a:rPr lang="et-EE" sz="2400" dirty="0" err="1"/>
              <a:t>know</a:t>
            </a:r>
            <a:r>
              <a:rPr lang="et-EE" sz="2400" dirty="0"/>
              <a:t> </a:t>
            </a:r>
            <a:r>
              <a:rPr lang="et-EE" sz="2400" dirty="0" err="1"/>
              <a:t>which</a:t>
            </a:r>
            <a:r>
              <a:rPr lang="et-EE" sz="2400" dirty="0"/>
              <a:t> </a:t>
            </a:r>
            <a:r>
              <a:rPr lang="et-EE" sz="2400" dirty="0" err="1"/>
              <a:t>branch</a:t>
            </a:r>
            <a:r>
              <a:rPr lang="et-EE" sz="2400" dirty="0"/>
              <a:t> </a:t>
            </a:r>
            <a:r>
              <a:rPr lang="et-EE" sz="2400" dirty="0" err="1"/>
              <a:t>was</a:t>
            </a:r>
            <a:r>
              <a:rPr lang="et-EE" sz="2400" dirty="0"/>
              <a:t> </a:t>
            </a:r>
            <a:r>
              <a:rPr lang="et-EE" sz="2400" dirty="0" err="1"/>
              <a:t>chosen</a:t>
            </a:r>
            <a:r>
              <a:rPr lang="et-EE" sz="2400" dirty="0"/>
              <a:t> and n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of X)</a:t>
            </a:r>
          </a:p>
          <a:p>
            <a:r>
              <a:rPr lang="et-EE" sz="2400" dirty="0" err="1"/>
              <a:t>Results</a:t>
            </a:r>
            <a:r>
              <a:rPr lang="et-EE" sz="2400" dirty="0"/>
              <a:t> in ( X[1] </a:t>
            </a:r>
            <a:r>
              <a:rPr lang="et-EE" sz="2400" dirty="0" err="1"/>
              <a:t>flag</a:t>
            </a:r>
            <a:r>
              <a:rPr lang="et-EE" sz="2400" dirty="0"/>
              <a:t> -- X[1] X )</a:t>
            </a:r>
          </a:p>
        </p:txBody>
      </p:sp>
    </p:spTree>
    <p:extLst>
      <p:ext uri="{BB962C8B-B14F-4D97-AF65-F5344CB8AC3E}">
        <p14:creationId xmlns:p14="http://schemas.microsoft.com/office/powerpoint/2010/main" val="1252103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4688D-42BA-0D27-B0D5-AC2AFED5A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3B3CAB8D-1155-DA81-05EB-B50F8F3C7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58833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test6  ( X2 X1 </a:t>
            </a:r>
            <a:r>
              <a:rPr lang="et-EE" dirty="0" err="1"/>
              <a:t>ad</a:t>
            </a:r>
            <a:r>
              <a:rPr lang="et-EE" dirty="0"/>
              <a:t> </a:t>
            </a:r>
            <a:r>
              <a:rPr lang="et-EE" dirty="0" err="1"/>
              <a:t>fl</a:t>
            </a:r>
            <a:r>
              <a:rPr lang="et-EE" dirty="0"/>
              <a:t> -- X3 X4 X5 ) </a:t>
            </a:r>
            <a:br>
              <a:rPr lang="et-EE" dirty="0"/>
            </a:br>
            <a:r>
              <a:rPr lang="et-EE" dirty="0"/>
              <a:t>    IF ROT ELSE @ FI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73869A79-6CD1-69AF-C321-8D5E97207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57" y="1447305"/>
            <a:ext cx="5569526" cy="3963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sz="2800" dirty="0"/>
              <a:t>: test6</a:t>
            </a:r>
          </a:p>
          <a:p>
            <a:pPr marL="0" indent="0">
              <a:buNone/>
            </a:pPr>
            <a:r>
              <a:rPr lang="et-EE" sz="2800" dirty="0"/>
              <a:t>IF ( </a:t>
            </a:r>
            <a:r>
              <a:rPr lang="et-EE" sz="2800" dirty="0" err="1"/>
              <a:t>flag</a:t>
            </a:r>
            <a:r>
              <a:rPr lang="et-EE" sz="2800" dirty="0"/>
              <a:t> -- )</a:t>
            </a:r>
          </a:p>
          <a:p>
            <a:pPr marL="0" indent="0">
              <a:buNone/>
            </a:pPr>
            <a:r>
              <a:rPr lang="et-EE" sz="2800" dirty="0"/>
              <a:t>ROT ( X[3] X[2] X[1] -- X[2] X[1] X[3]  )</a:t>
            </a:r>
          </a:p>
          <a:p>
            <a:pPr marL="0" indent="0">
              <a:buNone/>
            </a:pPr>
            <a:r>
              <a:rPr lang="et-EE" sz="2800" dirty="0"/>
              <a:t>ELSE</a:t>
            </a:r>
          </a:p>
          <a:p>
            <a:pPr marL="0" indent="0">
              <a:buNone/>
            </a:pPr>
            <a:r>
              <a:rPr lang="et-EE" sz="2800" dirty="0"/>
              <a:t>@ ( a-</a:t>
            </a:r>
            <a:r>
              <a:rPr lang="et-EE" sz="2800" dirty="0" err="1"/>
              <a:t>addr</a:t>
            </a:r>
            <a:r>
              <a:rPr lang="et-EE" sz="2800" dirty="0"/>
              <a:t> -- X )</a:t>
            </a:r>
          </a:p>
          <a:p>
            <a:pPr marL="0" indent="0">
              <a:buNone/>
            </a:pPr>
            <a:r>
              <a:rPr lang="et-EE" sz="2800" dirty="0"/>
              <a:t>FI</a:t>
            </a:r>
          </a:p>
          <a:p>
            <a:pPr marL="0" indent="0">
              <a:buNone/>
            </a:pPr>
            <a:r>
              <a:rPr lang="et-EE" sz="2800" dirty="0"/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10C7B-A653-0FB5-7342-B4023E34D2C9}"/>
              </a:ext>
            </a:extLst>
          </p:cNvPr>
          <p:cNvSpPr txBox="1"/>
          <p:nvPr/>
        </p:nvSpPr>
        <p:spPr>
          <a:xfrm>
            <a:off x="213757" y="5410694"/>
            <a:ext cx="119925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t-EE" sz="2400" dirty="0" err="1"/>
              <a:t>Prefere</a:t>
            </a:r>
            <a:r>
              <a:rPr lang="et-EE" sz="2400" dirty="0"/>
              <a:t> </a:t>
            </a:r>
            <a:r>
              <a:rPr lang="et-EE" sz="2400" dirty="0" err="1"/>
              <a:t>supertype</a:t>
            </a:r>
            <a:r>
              <a:rPr lang="et-EE" sz="2400" dirty="0"/>
              <a:t> in </a:t>
            </a:r>
            <a:r>
              <a:rPr lang="et-EE" sz="2400" dirty="0" err="1"/>
              <a:t>output</a:t>
            </a:r>
            <a:r>
              <a:rPr lang="et-EE" sz="2400" dirty="0"/>
              <a:t> (</a:t>
            </a:r>
            <a:r>
              <a:rPr lang="et-EE" sz="2400" dirty="0" err="1"/>
              <a:t>we</a:t>
            </a:r>
            <a:r>
              <a:rPr lang="et-EE" sz="2400" dirty="0"/>
              <a:t> </a:t>
            </a:r>
            <a:r>
              <a:rPr lang="et-EE" sz="2400" dirty="0" err="1"/>
              <a:t>don’t</a:t>
            </a:r>
            <a:r>
              <a:rPr lang="et-EE" sz="2400" dirty="0"/>
              <a:t> </a:t>
            </a:r>
            <a:r>
              <a:rPr lang="et-EE" sz="2400" dirty="0" err="1"/>
              <a:t>know</a:t>
            </a:r>
            <a:r>
              <a:rPr lang="et-EE" sz="2400" dirty="0"/>
              <a:t> </a:t>
            </a:r>
            <a:r>
              <a:rPr lang="et-EE" sz="2400" dirty="0" err="1"/>
              <a:t>which</a:t>
            </a:r>
            <a:r>
              <a:rPr lang="et-EE" sz="2400" dirty="0"/>
              <a:t> </a:t>
            </a:r>
            <a:r>
              <a:rPr lang="et-EE" sz="2400" dirty="0" err="1"/>
              <a:t>branch</a:t>
            </a:r>
            <a:r>
              <a:rPr lang="et-EE" sz="2400" dirty="0"/>
              <a:t> </a:t>
            </a:r>
            <a:r>
              <a:rPr lang="et-EE" sz="2400" dirty="0" err="1"/>
              <a:t>was</a:t>
            </a:r>
            <a:r>
              <a:rPr lang="et-EE" sz="2400" dirty="0"/>
              <a:t> </a:t>
            </a:r>
            <a:r>
              <a:rPr lang="et-EE" sz="2400" dirty="0" err="1"/>
              <a:t>chosen</a:t>
            </a:r>
            <a:r>
              <a:rPr lang="et-EE" sz="2400" dirty="0"/>
              <a:t>, a-</a:t>
            </a:r>
            <a:r>
              <a:rPr lang="et-EE" sz="2400" dirty="0" err="1"/>
              <a:t>addr</a:t>
            </a:r>
            <a:r>
              <a:rPr lang="et-EE" sz="2400" dirty="0"/>
              <a:t>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of X)</a:t>
            </a:r>
          </a:p>
          <a:p>
            <a:r>
              <a:rPr lang="et-EE" sz="2400" dirty="0" err="1"/>
              <a:t>Results</a:t>
            </a:r>
            <a:r>
              <a:rPr lang="et-EE" sz="2400" dirty="0"/>
              <a:t> in ( x </a:t>
            </a:r>
            <a:r>
              <a:rPr lang="et-EE" sz="2400" dirty="0" err="1"/>
              <a:t>x</a:t>
            </a:r>
            <a:r>
              <a:rPr lang="et-EE" sz="2400" dirty="0"/>
              <a:t> a-</a:t>
            </a:r>
            <a:r>
              <a:rPr lang="et-EE" sz="2400" dirty="0" err="1"/>
              <a:t>addr</a:t>
            </a:r>
            <a:r>
              <a:rPr lang="et-EE" sz="2400" dirty="0"/>
              <a:t> </a:t>
            </a:r>
            <a:r>
              <a:rPr lang="et-EE" sz="2400" dirty="0" err="1"/>
              <a:t>flag</a:t>
            </a:r>
            <a:r>
              <a:rPr lang="et-EE" sz="2400" dirty="0"/>
              <a:t>  --  x </a:t>
            </a:r>
            <a:r>
              <a:rPr lang="et-EE" sz="2400" dirty="0" err="1"/>
              <a:t>x</a:t>
            </a:r>
            <a:r>
              <a:rPr lang="et-EE" sz="2400" dirty="0"/>
              <a:t> </a:t>
            </a:r>
            <a:r>
              <a:rPr lang="et-EE" sz="2400" dirty="0" err="1"/>
              <a:t>x</a:t>
            </a:r>
            <a:r>
              <a:rPr lang="et-EE" sz="2400" dirty="0"/>
              <a:t> )</a:t>
            </a:r>
          </a:p>
        </p:txBody>
      </p:sp>
      <p:sp>
        <p:nvSpPr>
          <p:cNvPr id="6" name="Sisu kohatäide 2">
            <a:extLst>
              <a:ext uri="{FF2B5EF4-FFF2-40B4-BE49-F238E27FC236}">
                <a16:creationId xmlns:a16="http://schemas.microsoft.com/office/drawing/2014/main" id="{6553D07A-E182-AF0C-3DE6-CF9D2E8E818C}"/>
              </a:ext>
            </a:extLst>
          </p:cNvPr>
          <p:cNvSpPr txBox="1">
            <a:spLocks/>
          </p:cNvSpPr>
          <p:nvPr/>
        </p:nvSpPr>
        <p:spPr>
          <a:xfrm>
            <a:off x="5935683" y="1447304"/>
            <a:ext cx="5569526" cy="3963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sz="2800" dirty="0"/>
              <a:t>X2  X1  a-</a:t>
            </a:r>
            <a:r>
              <a:rPr lang="et-EE" sz="2800" dirty="0" err="1"/>
              <a:t>addr</a:t>
            </a:r>
            <a:r>
              <a:rPr lang="et-EE" sz="2800" dirty="0"/>
              <a:t>  </a:t>
            </a:r>
            <a:r>
              <a:rPr lang="et-EE" sz="2800" dirty="0" err="1"/>
              <a:t>flag</a:t>
            </a:r>
            <a:endParaRPr lang="et-EE" sz="2800" dirty="0"/>
          </a:p>
          <a:p>
            <a:pPr marL="0" indent="0">
              <a:buFont typeface="Arial"/>
              <a:buNone/>
            </a:pPr>
            <a:r>
              <a:rPr lang="et-EE" sz="2800" dirty="0"/>
              <a:t>X2  X1  a-</a:t>
            </a:r>
            <a:r>
              <a:rPr lang="et-EE" sz="2800" dirty="0" err="1"/>
              <a:t>addr</a:t>
            </a:r>
            <a:endParaRPr lang="et-EE" sz="2800" dirty="0"/>
          </a:p>
          <a:p>
            <a:pPr marL="0" indent="0">
              <a:buFont typeface="Arial"/>
              <a:buNone/>
            </a:pPr>
            <a:r>
              <a:rPr lang="et-EE" sz="2800" dirty="0"/>
              <a:t>X1  a-</a:t>
            </a:r>
            <a:r>
              <a:rPr lang="et-EE" sz="2800" dirty="0" err="1"/>
              <a:t>addr</a:t>
            </a:r>
            <a:r>
              <a:rPr lang="et-EE" sz="2800" dirty="0"/>
              <a:t>  X2</a:t>
            </a:r>
          </a:p>
          <a:p>
            <a:pPr marL="0" indent="0">
              <a:buFont typeface="Arial"/>
              <a:buNone/>
            </a:pPr>
            <a:r>
              <a:rPr lang="et-EE" sz="2800" dirty="0" err="1"/>
              <a:t>If</a:t>
            </a:r>
            <a:r>
              <a:rPr lang="et-EE" sz="2800" dirty="0"/>
              <a:t> ( X2 X1 a-</a:t>
            </a:r>
            <a:r>
              <a:rPr lang="et-EE" sz="2800" dirty="0" err="1"/>
              <a:t>addr</a:t>
            </a:r>
            <a:r>
              <a:rPr lang="et-EE" sz="2800" dirty="0"/>
              <a:t> -- X1 a-</a:t>
            </a:r>
            <a:r>
              <a:rPr lang="et-EE" sz="2800" dirty="0" err="1"/>
              <a:t>addr</a:t>
            </a:r>
            <a:r>
              <a:rPr lang="et-EE" sz="2800" dirty="0"/>
              <a:t> X2 )</a:t>
            </a:r>
          </a:p>
          <a:p>
            <a:pPr marL="0" indent="0">
              <a:buFont typeface="Arial"/>
              <a:buNone/>
            </a:pPr>
            <a:r>
              <a:rPr lang="et-EE" sz="2800" dirty="0"/>
              <a:t>X2  X1  X3</a:t>
            </a:r>
          </a:p>
          <a:p>
            <a:pPr marL="0" indent="0">
              <a:buFont typeface="Arial"/>
              <a:buNone/>
            </a:pPr>
            <a:r>
              <a:rPr lang="et-EE" sz="2800" dirty="0"/>
              <a:t>Else ( a-</a:t>
            </a:r>
            <a:r>
              <a:rPr lang="et-EE" sz="2800" dirty="0" err="1"/>
              <a:t>addr</a:t>
            </a:r>
            <a:r>
              <a:rPr lang="et-EE" sz="2800" dirty="0"/>
              <a:t> -- X )</a:t>
            </a:r>
          </a:p>
          <a:p>
            <a:pPr marL="0" indent="0">
              <a:buFont typeface="Arial"/>
              <a:buNone/>
            </a:pPr>
            <a:r>
              <a:rPr lang="et-EE" sz="2800" dirty="0" err="1"/>
              <a:t>Meet</a:t>
            </a:r>
            <a:r>
              <a:rPr lang="et-EE" sz="2800" dirty="0"/>
              <a:t>:  ( X2 X1 a-</a:t>
            </a:r>
            <a:r>
              <a:rPr lang="et-EE" sz="2800" dirty="0" err="1"/>
              <a:t>addr</a:t>
            </a:r>
            <a:r>
              <a:rPr lang="et-EE" sz="2800" dirty="0"/>
              <a:t> -- X3 X4 X5 )</a:t>
            </a:r>
          </a:p>
        </p:txBody>
      </p:sp>
    </p:spTree>
    <p:extLst>
      <p:ext uri="{BB962C8B-B14F-4D97-AF65-F5344CB8AC3E}">
        <p14:creationId xmlns:p14="http://schemas.microsoft.com/office/powerpoint/2010/main" val="2631592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AD048-3950-2216-AEE9-636EF6404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B844555E-4153-B3A8-806B-CBE40D164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58833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test9  ( </a:t>
            </a:r>
            <a:r>
              <a:rPr lang="et-EE" dirty="0" err="1"/>
              <a:t>ad</a:t>
            </a:r>
            <a:r>
              <a:rPr lang="et-EE" dirty="0"/>
              <a:t> </a:t>
            </a:r>
            <a:r>
              <a:rPr lang="et-EE" dirty="0" err="1"/>
              <a:t>fl</a:t>
            </a:r>
            <a:r>
              <a:rPr lang="et-EE" dirty="0"/>
              <a:t> -- X ) </a:t>
            </a:r>
            <a:br>
              <a:rPr lang="et-EE" dirty="0"/>
            </a:br>
            <a:r>
              <a:rPr lang="et-EE" dirty="0"/>
              <a:t>    IF @ ELSE C@ FI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390EDCFA-AD43-6749-02F4-FD9B22969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57" y="1447305"/>
            <a:ext cx="5569526" cy="3963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sz="2800" dirty="0"/>
              <a:t>: test6</a:t>
            </a:r>
          </a:p>
          <a:p>
            <a:pPr marL="0" indent="0">
              <a:buNone/>
            </a:pPr>
            <a:r>
              <a:rPr lang="et-EE" sz="2800" dirty="0"/>
              <a:t>IF ( </a:t>
            </a:r>
            <a:r>
              <a:rPr lang="et-EE" sz="2800" dirty="0" err="1"/>
              <a:t>flag</a:t>
            </a:r>
            <a:r>
              <a:rPr lang="et-EE" sz="2800" dirty="0"/>
              <a:t> -- )</a:t>
            </a:r>
          </a:p>
          <a:p>
            <a:pPr marL="0" indent="0">
              <a:buNone/>
            </a:pPr>
            <a:r>
              <a:rPr lang="et-EE" sz="2800" dirty="0"/>
              <a:t>@ ( a-</a:t>
            </a:r>
            <a:r>
              <a:rPr lang="et-EE" sz="2800" dirty="0" err="1"/>
              <a:t>addr</a:t>
            </a:r>
            <a:r>
              <a:rPr lang="et-EE" sz="2800" dirty="0"/>
              <a:t> -- X  )</a:t>
            </a:r>
          </a:p>
          <a:p>
            <a:pPr marL="0" indent="0">
              <a:buNone/>
            </a:pPr>
            <a:r>
              <a:rPr lang="et-EE" sz="2800" dirty="0"/>
              <a:t>ELSE</a:t>
            </a:r>
          </a:p>
          <a:p>
            <a:pPr marL="0" indent="0">
              <a:buNone/>
            </a:pPr>
            <a:r>
              <a:rPr lang="et-EE" sz="2800" dirty="0"/>
              <a:t>C@ ( c-</a:t>
            </a:r>
            <a:r>
              <a:rPr lang="et-EE" sz="2800" dirty="0" err="1"/>
              <a:t>addr</a:t>
            </a:r>
            <a:r>
              <a:rPr lang="et-EE" sz="2800" dirty="0"/>
              <a:t> -- </a:t>
            </a:r>
            <a:r>
              <a:rPr lang="et-EE" sz="2800" dirty="0" err="1"/>
              <a:t>char</a:t>
            </a:r>
            <a:r>
              <a:rPr lang="et-EE" sz="2800" dirty="0"/>
              <a:t> )</a:t>
            </a:r>
          </a:p>
          <a:p>
            <a:pPr marL="0" indent="0">
              <a:buNone/>
            </a:pPr>
            <a:r>
              <a:rPr lang="et-EE" sz="2800" dirty="0"/>
              <a:t>FI</a:t>
            </a:r>
          </a:p>
          <a:p>
            <a:pPr marL="0" indent="0">
              <a:buNone/>
            </a:pPr>
            <a:r>
              <a:rPr lang="et-EE" sz="2800" dirty="0"/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826810-7C23-3720-3713-842954E6EED5}"/>
              </a:ext>
            </a:extLst>
          </p:cNvPr>
          <p:cNvSpPr txBox="1"/>
          <p:nvPr/>
        </p:nvSpPr>
        <p:spPr>
          <a:xfrm>
            <a:off x="213757" y="5410694"/>
            <a:ext cx="100989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t-EE" sz="2400" dirty="0" err="1"/>
              <a:t>Prefere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in </a:t>
            </a:r>
            <a:r>
              <a:rPr lang="et-EE" sz="2400" dirty="0" err="1"/>
              <a:t>input</a:t>
            </a:r>
            <a:r>
              <a:rPr lang="et-EE" sz="2400" dirty="0"/>
              <a:t> (a-</a:t>
            </a:r>
            <a:r>
              <a:rPr lang="et-EE" sz="2400" dirty="0" err="1"/>
              <a:t>addr</a:t>
            </a:r>
            <a:r>
              <a:rPr lang="et-EE" sz="2400" dirty="0"/>
              <a:t>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of c-</a:t>
            </a:r>
            <a:r>
              <a:rPr lang="et-EE" sz="2400" dirty="0" err="1"/>
              <a:t>addr</a:t>
            </a:r>
            <a:r>
              <a:rPr lang="et-EE" sz="2400" dirty="0"/>
              <a:t> and X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supertype</a:t>
            </a:r>
            <a:r>
              <a:rPr lang="et-EE" sz="2400" dirty="0"/>
              <a:t> of </a:t>
            </a:r>
            <a:r>
              <a:rPr lang="et-EE" sz="2400" dirty="0" err="1"/>
              <a:t>char</a:t>
            </a:r>
            <a:r>
              <a:rPr lang="et-EE" sz="2400" dirty="0"/>
              <a:t>)</a:t>
            </a:r>
          </a:p>
          <a:p>
            <a:r>
              <a:rPr lang="et-EE" sz="2400" dirty="0" err="1"/>
              <a:t>Results</a:t>
            </a:r>
            <a:r>
              <a:rPr lang="et-EE" sz="2400" dirty="0"/>
              <a:t> in ( a-</a:t>
            </a:r>
            <a:r>
              <a:rPr lang="et-EE" sz="2400" dirty="0" err="1"/>
              <a:t>addr</a:t>
            </a:r>
            <a:r>
              <a:rPr lang="et-EE" sz="2400" dirty="0"/>
              <a:t> </a:t>
            </a:r>
            <a:r>
              <a:rPr lang="et-EE" sz="2400" dirty="0" err="1"/>
              <a:t>flag</a:t>
            </a:r>
            <a:r>
              <a:rPr lang="et-EE" sz="2400" dirty="0"/>
              <a:t>  --  X )</a:t>
            </a:r>
          </a:p>
        </p:txBody>
      </p:sp>
      <p:sp>
        <p:nvSpPr>
          <p:cNvPr id="6" name="Sisu kohatäide 2">
            <a:extLst>
              <a:ext uri="{FF2B5EF4-FFF2-40B4-BE49-F238E27FC236}">
                <a16:creationId xmlns:a16="http://schemas.microsoft.com/office/drawing/2014/main" id="{156A68A6-DE2A-B6C9-FE06-E163E33D40C6}"/>
              </a:ext>
            </a:extLst>
          </p:cNvPr>
          <p:cNvSpPr txBox="1">
            <a:spLocks/>
          </p:cNvSpPr>
          <p:nvPr/>
        </p:nvSpPr>
        <p:spPr>
          <a:xfrm>
            <a:off x="5935683" y="1447304"/>
            <a:ext cx="5569526" cy="3963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sz="2800" dirty="0"/>
              <a:t> a-</a:t>
            </a:r>
            <a:r>
              <a:rPr lang="et-EE" sz="2800" dirty="0" err="1"/>
              <a:t>addr</a:t>
            </a:r>
            <a:r>
              <a:rPr lang="et-EE" sz="2800" dirty="0"/>
              <a:t>  </a:t>
            </a:r>
            <a:r>
              <a:rPr lang="et-EE" sz="2800" dirty="0" err="1"/>
              <a:t>flag</a:t>
            </a:r>
            <a:endParaRPr lang="et-EE" sz="2800" dirty="0"/>
          </a:p>
          <a:p>
            <a:pPr marL="0" indent="0">
              <a:buFont typeface="Arial"/>
              <a:buNone/>
            </a:pPr>
            <a:r>
              <a:rPr lang="et-EE" sz="2800" dirty="0"/>
              <a:t>a-</a:t>
            </a:r>
            <a:r>
              <a:rPr lang="et-EE" sz="2800" dirty="0" err="1"/>
              <a:t>addr</a:t>
            </a:r>
            <a:endParaRPr lang="et-EE" sz="2800" dirty="0"/>
          </a:p>
          <a:p>
            <a:pPr marL="0" indent="0">
              <a:buFont typeface="Arial"/>
              <a:buNone/>
            </a:pPr>
            <a:r>
              <a:rPr lang="et-EE" sz="2800" dirty="0"/>
              <a:t>X</a:t>
            </a:r>
          </a:p>
          <a:p>
            <a:pPr marL="0" indent="0">
              <a:buFont typeface="Arial"/>
              <a:buNone/>
            </a:pPr>
            <a:r>
              <a:rPr lang="et-EE" sz="2800" dirty="0" err="1"/>
              <a:t>If</a:t>
            </a:r>
            <a:r>
              <a:rPr lang="et-EE" sz="2800" dirty="0"/>
              <a:t> ( a-</a:t>
            </a:r>
            <a:r>
              <a:rPr lang="et-EE" sz="2800" dirty="0" err="1"/>
              <a:t>addr</a:t>
            </a:r>
            <a:r>
              <a:rPr lang="et-EE" sz="2800" dirty="0"/>
              <a:t> -- X )</a:t>
            </a:r>
          </a:p>
          <a:p>
            <a:pPr marL="0" indent="0">
              <a:buFont typeface="Arial"/>
              <a:buNone/>
            </a:pPr>
            <a:r>
              <a:rPr lang="et-EE" sz="2800" dirty="0" err="1"/>
              <a:t>char</a:t>
            </a:r>
            <a:endParaRPr lang="et-EE" sz="2800" dirty="0"/>
          </a:p>
          <a:p>
            <a:pPr marL="0" indent="0">
              <a:buFont typeface="Arial"/>
              <a:buNone/>
            </a:pPr>
            <a:r>
              <a:rPr lang="et-EE" sz="2800" dirty="0"/>
              <a:t>Else ( c-</a:t>
            </a:r>
            <a:r>
              <a:rPr lang="et-EE" sz="2800" dirty="0" err="1"/>
              <a:t>addr</a:t>
            </a:r>
            <a:r>
              <a:rPr lang="et-EE" sz="2800" dirty="0"/>
              <a:t> -- </a:t>
            </a:r>
            <a:r>
              <a:rPr lang="et-EE" sz="2800" dirty="0" err="1"/>
              <a:t>char</a:t>
            </a:r>
            <a:r>
              <a:rPr lang="et-EE" sz="2800" dirty="0"/>
              <a:t> )</a:t>
            </a:r>
          </a:p>
          <a:p>
            <a:pPr marL="0" indent="0">
              <a:buFont typeface="Arial"/>
              <a:buNone/>
            </a:pPr>
            <a:r>
              <a:rPr lang="et-EE" sz="2800" dirty="0" err="1"/>
              <a:t>Meet</a:t>
            </a:r>
            <a:r>
              <a:rPr lang="et-EE" sz="2800" dirty="0"/>
              <a:t>:  ( a-</a:t>
            </a:r>
            <a:r>
              <a:rPr lang="et-EE" sz="2800" dirty="0" err="1"/>
              <a:t>addr</a:t>
            </a:r>
            <a:r>
              <a:rPr lang="et-EE" sz="2800" dirty="0"/>
              <a:t> -- X )</a:t>
            </a:r>
          </a:p>
        </p:txBody>
      </p:sp>
    </p:spTree>
    <p:extLst>
      <p:ext uri="{BB962C8B-B14F-4D97-AF65-F5344CB8AC3E}">
        <p14:creationId xmlns:p14="http://schemas.microsoft.com/office/powerpoint/2010/main" val="805097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8E45C-D772-AB5E-A008-DE3E3FA51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5FFD54C8-5862-74B5-1FE0-FC95D147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58833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</a:t>
            </a:r>
            <a:r>
              <a:rPr lang="et-EE" sz="3600" dirty="0"/>
              <a:t>test7  ( fl2  fl1 --  fl3  fl4  ) </a:t>
            </a:r>
            <a:br>
              <a:rPr lang="et-EE" sz="3600" dirty="0"/>
            </a:br>
            <a:r>
              <a:rPr lang="et-EE" sz="3600" dirty="0"/>
              <a:t>    BEGIN SWAP OVER WHILE INVERT REPEAT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BF790313-31F0-4185-326B-5C5CECC96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4" y="1447305"/>
            <a:ext cx="5569526" cy="3963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sz="2400" dirty="0"/>
              <a:t>: test7</a:t>
            </a:r>
          </a:p>
          <a:p>
            <a:pPr marL="0" indent="0">
              <a:buNone/>
            </a:pPr>
            <a:r>
              <a:rPr lang="et-EE" sz="2400" dirty="0"/>
              <a:t>BEGIN</a:t>
            </a:r>
          </a:p>
          <a:p>
            <a:pPr marL="0" indent="0">
              <a:buNone/>
            </a:pPr>
            <a:r>
              <a:rPr lang="et-EE" sz="2400" dirty="0"/>
              <a:t>SWAP ( X[2] X[1] -- X[1] X[2] )</a:t>
            </a:r>
          </a:p>
          <a:p>
            <a:pPr marL="0" indent="0">
              <a:buNone/>
            </a:pPr>
            <a:r>
              <a:rPr lang="et-EE" sz="2400" dirty="0"/>
              <a:t>OVER ( X[2] X[1] -- X[2] X[1] X[2] )</a:t>
            </a:r>
          </a:p>
          <a:p>
            <a:pPr marL="0" indent="0">
              <a:buNone/>
            </a:pPr>
            <a:r>
              <a:rPr lang="et-EE" sz="2400" dirty="0"/>
              <a:t>WHILE</a:t>
            </a:r>
          </a:p>
          <a:p>
            <a:pPr marL="0" indent="0">
              <a:buNone/>
            </a:pPr>
            <a:r>
              <a:rPr lang="et-EE" sz="2400" dirty="0"/>
              <a:t>INVERT  ( </a:t>
            </a:r>
            <a:r>
              <a:rPr lang="et-EE" sz="2400" dirty="0" err="1"/>
              <a:t>flag</a:t>
            </a:r>
            <a:r>
              <a:rPr lang="et-EE" sz="2400" dirty="0"/>
              <a:t> -- </a:t>
            </a:r>
            <a:r>
              <a:rPr lang="et-EE" sz="2400" dirty="0" err="1"/>
              <a:t>flag</a:t>
            </a:r>
            <a:r>
              <a:rPr lang="et-EE" sz="2400" dirty="0"/>
              <a:t> )</a:t>
            </a:r>
          </a:p>
          <a:p>
            <a:pPr marL="0" indent="0">
              <a:buNone/>
            </a:pPr>
            <a:r>
              <a:rPr lang="et-EE" sz="2400" dirty="0"/>
              <a:t>REPEAT</a:t>
            </a:r>
          </a:p>
          <a:p>
            <a:pPr marL="0" indent="0">
              <a:buNone/>
            </a:pPr>
            <a:r>
              <a:rPr lang="et-EE" sz="2400" dirty="0"/>
              <a:t>;</a:t>
            </a:r>
          </a:p>
          <a:p>
            <a:pPr marL="0" indent="0">
              <a:buNone/>
            </a:pPr>
            <a:endParaRPr lang="et-EE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EEEFF-A28E-03F0-134B-AC23E37004FB}"/>
              </a:ext>
            </a:extLst>
          </p:cNvPr>
          <p:cNvSpPr txBox="1"/>
          <p:nvPr/>
        </p:nvSpPr>
        <p:spPr>
          <a:xfrm>
            <a:off x="213757" y="5410694"/>
            <a:ext cx="57900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t-EE" sz="2400" dirty="0" err="1"/>
              <a:t>Prefere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in </a:t>
            </a:r>
            <a:r>
              <a:rPr lang="et-EE" sz="2400" dirty="0" err="1"/>
              <a:t>input</a:t>
            </a:r>
            <a:r>
              <a:rPr lang="et-EE" sz="2400" dirty="0"/>
              <a:t> (</a:t>
            </a:r>
            <a:r>
              <a:rPr lang="et-EE" sz="2400" dirty="0" err="1"/>
              <a:t>flag</a:t>
            </a:r>
            <a:r>
              <a:rPr lang="et-EE" sz="2400" dirty="0"/>
              <a:t>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of X)</a:t>
            </a:r>
          </a:p>
          <a:p>
            <a:r>
              <a:rPr lang="et-EE" sz="2400" dirty="0" err="1"/>
              <a:t>Results</a:t>
            </a:r>
            <a:r>
              <a:rPr lang="et-EE" sz="2400" dirty="0"/>
              <a:t> in ( </a:t>
            </a:r>
            <a:r>
              <a:rPr lang="et-EE" sz="2400" dirty="0" err="1"/>
              <a:t>flag</a:t>
            </a:r>
            <a:r>
              <a:rPr lang="et-EE" sz="2400" dirty="0"/>
              <a:t> </a:t>
            </a:r>
            <a:r>
              <a:rPr lang="et-EE" sz="2400" dirty="0" err="1"/>
              <a:t>flag</a:t>
            </a:r>
            <a:r>
              <a:rPr lang="et-EE" sz="2400" dirty="0"/>
              <a:t>  --  </a:t>
            </a:r>
            <a:r>
              <a:rPr lang="et-EE" sz="2400" dirty="0" err="1"/>
              <a:t>flag</a:t>
            </a:r>
            <a:r>
              <a:rPr lang="et-EE" sz="2400" dirty="0"/>
              <a:t> </a:t>
            </a:r>
            <a:r>
              <a:rPr lang="et-EE" sz="2400" dirty="0" err="1"/>
              <a:t>flag</a:t>
            </a:r>
            <a:r>
              <a:rPr lang="et-EE" sz="2400" dirty="0"/>
              <a:t> )</a:t>
            </a:r>
          </a:p>
        </p:txBody>
      </p:sp>
      <p:sp>
        <p:nvSpPr>
          <p:cNvPr id="6" name="Sisu kohatäide 2">
            <a:extLst>
              <a:ext uri="{FF2B5EF4-FFF2-40B4-BE49-F238E27FC236}">
                <a16:creationId xmlns:a16="http://schemas.microsoft.com/office/drawing/2014/main" id="{F912D2E0-84F6-FADB-8150-2B00A3BB1FC6}"/>
              </a:ext>
            </a:extLst>
          </p:cNvPr>
          <p:cNvSpPr txBox="1">
            <a:spLocks/>
          </p:cNvSpPr>
          <p:nvPr/>
        </p:nvSpPr>
        <p:spPr>
          <a:xfrm>
            <a:off x="5935683" y="1447304"/>
            <a:ext cx="5569526" cy="3963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sz="2800" dirty="0"/>
              <a:t> </a:t>
            </a:r>
            <a:r>
              <a:rPr lang="et-EE" sz="2400" dirty="0"/>
              <a:t>fl2 fl1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Loop1 </a:t>
            </a:r>
            <a:r>
              <a:rPr lang="et-EE" sz="2400" dirty="0" err="1"/>
              <a:t>effect</a:t>
            </a:r>
            <a:r>
              <a:rPr lang="et-EE" sz="2400" dirty="0"/>
              <a:t>: ( X </a:t>
            </a:r>
            <a:r>
              <a:rPr lang="et-EE" sz="2400" dirty="0" err="1"/>
              <a:t>X</a:t>
            </a:r>
            <a:r>
              <a:rPr lang="et-EE" sz="2400" dirty="0"/>
              <a:t> -- X </a:t>
            </a:r>
            <a:r>
              <a:rPr lang="et-EE" sz="2400" dirty="0" err="1"/>
              <a:t>X</a:t>
            </a:r>
            <a:r>
              <a:rPr lang="et-EE" sz="2400" dirty="0"/>
              <a:t> )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fl1 fl2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fl1 fl2 fl1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fl1 fl2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fl1 fl3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Loop2 </a:t>
            </a:r>
            <a:r>
              <a:rPr lang="et-EE" sz="2400" dirty="0" err="1"/>
              <a:t>effect</a:t>
            </a:r>
            <a:r>
              <a:rPr lang="et-EE" sz="2400" dirty="0"/>
              <a:t>: ( </a:t>
            </a:r>
            <a:r>
              <a:rPr lang="et-EE" sz="2400" dirty="0" err="1"/>
              <a:t>flag</a:t>
            </a:r>
            <a:r>
              <a:rPr lang="et-EE" sz="2400" dirty="0"/>
              <a:t> -- </a:t>
            </a:r>
            <a:r>
              <a:rPr lang="et-EE" sz="2400" dirty="0" err="1"/>
              <a:t>flag</a:t>
            </a:r>
            <a:r>
              <a:rPr lang="et-EE" sz="2400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25655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58660-9A4F-A4B1-D732-F86C6362C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F89D0258-B567-7843-C654-C41E06D2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535" y="302819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</a:t>
            </a:r>
            <a:r>
              <a:rPr lang="et-EE" sz="3600" dirty="0"/>
              <a:t>test8  (  --  ) </a:t>
            </a:r>
            <a:br>
              <a:rPr lang="et-EE" sz="3600" dirty="0"/>
            </a:br>
            <a:r>
              <a:rPr lang="et-EE" sz="3600" dirty="0"/>
              <a:t>    BEGIN KEY 0= UNTIL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19FAE60C-ACEC-8527-4809-2575530FE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440" y="1589808"/>
            <a:ext cx="3006434" cy="28159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sz="2400" dirty="0"/>
              <a:t>: test8</a:t>
            </a:r>
          </a:p>
          <a:p>
            <a:pPr marL="0" indent="0">
              <a:buNone/>
            </a:pPr>
            <a:r>
              <a:rPr lang="et-EE" sz="2400" dirty="0"/>
              <a:t>BEGIN</a:t>
            </a:r>
          </a:p>
          <a:p>
            <a:pPr marL="0" indent="0">
              <a:buNone/>
            </a:pPr>
            <a:r>
              <a:rPr lang="et-EE" sz="2400" dirty="0"/>
              <a:t>KEY (  -- </a:t>
            </a:r>
            <a:r>
              <a:rPr lang="et-EE" sz="2400" dirty="0" err="1"/>
              <a:t>char</a:t>
            </a:r>
            <a:r>
              <a:rPr lang="et-EE" sz="2400" dirty="0"/>
              <a:t> )</a:t>
            </a:r>
          </a:p>
          <a:p>
            <a:pPr marL="0" indent="0">
              <a:buNone/>
            </a:pPr>
            <a:r>
              <a:rPr lang="et-EE" sz="2400" dirty="0"/>
              <a:t>0= ( n -- </a:t>
            </a:r>
            <a:r>
              <a:rPr lang="et-EE" sz="2400" dirty="0" err="1"/>
              <a:t>flag</a:t>
            </a:r>
            <a:r>
              <a:rPr lang="et-EE" sz="2400" dirty="0"/>
              <a:t> )</a:t>
            </a:r>
          </a:p>
          <a:p>
            <a:pPr marL="0" indent="0">
              <a:buNone/>
            </a:pPr>
            <a:r>
              <a:rPr lang="et-EE" sz="2400" dirty="0"/>
              <a:t>UNTIL ( </a:t>
            </a:r>
            <a:r>
              <a:rPr lang="et-EE" sz="2400" dirty="0" err="1"/>
              <a:t>flag</a:t>
            </a:r>
            <a:r>
              <a:rPr lang="et-EE" sz="2400" dirty="0"/>
              <a:t> -- )</a:t>
            </a:r>
          </a:p>
          <a:p>
            <a:pPr marL="0" indent="0">
              <a:buNone/>
            </a:pPr>
            <a:r>
              <a:rPr lang="et-EE" sz="2400" dirty="0"/>
              <a:t>;</a:t>
            </a:r>
          </a:p>
          <a:p>
            <a:pPr marL="0" indent="0">
              <a:buNone/>
            </a:pPr>
            <a:endParaRPr lang="et-EE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1A095-86DC-EA17-18F4-059111B9F7ED}"/>
              </a:ext>
            </a:extLst>
          </p:cNvPr>
          <p:cNvSpPr txBox="1"/>
          <p:nvPr/>
        </p:nvSpPr>
        <p:spPr>
          <a:xfrm>
            <a:off x="1080656" y="4693723"/>
            <a:ext cx="58798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t-EE" sz="2400" dirty="0" err="1"/>
              <a:t>Prefere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in </a:t>
            </a:r>
            <a:r>
              <a:rPr lang="et-EE" sz="2400" dirty="0" err="1"/>
              <a:t>input</a:t>
            </a:r>
            <a:r>
              <a:rPr lang="et-EE" sz="2400" dirty="0"/>
              <a:t> (</a:t>
            </a:r>
            <a:r>
              <a:rPr lang="et-EE" sz="2400" dirty="0" err="1"/>
              <a:t>char</a:t>
            </a:r>
            <a:r>
              <a:rPr lang="et-EE" sz="2400" dirty="0"/>
              <a:t>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of n)</a:t>
            </a:r>
          </a:p>
          <a:p>
            <a:r>
              <a:rPr lang="et-EE" sz="2400" dirty="0" err="1"/>
              <a:t>Results</a:t>
            </a:r>
            <a:r>
              <a:rPr lang="et-EE" sz="2400" dirty="0"/>
              <a:t> in (  --   )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F7018DC3-AD8D-F04A-0AF4-10BBC141AB13}"/>
              </a:ext>
            </a:extLst>
          </p:cNvPr>
          <p:cNvSpPr txBox="1">
            <a:spLocks/>
          </p:cNvSpPr>
          <p:nvPr/>
        </p:nvSpPr>
        <p:spPr>
          <a:xfrm>
            <a:off x="4878779" y="1650671"/>
            <a:ext cx="3645723" cy="3100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t-EE" sz="2400" dirty="0"/>
          </a:p>
          <a:p>
            <a:pPr marL="0" indent="0">
              <a:buFont typeface="Arial"/>
              <a:buNone/>
            </a:pPr>
            <a:endParaRPr lang="et-EE" sz="2400" dirty="0"/>
          </a:p>
          <a:p>
            <a:pPr marL="0" indent="0">
              <a:buFont typeface="Arial"/>
              <a:buNone/>
            </a:pPr>
            <a:r>
              <a:rPr lang="et-EE" sz="2400" dirty="0" err="1"/>
              <a:t>char</a:t>
            </a:r>
            <a:endParaRPr lang="et-EE" sz="2400" dirty="0"/>
          </a:p>
          <a:p>
            <a:pPr marL="0" indent="0">
              <a:buFont typeface="Arial"/>
              <a:buNone/>
            </a:pPr>
            <a:r>
              <a:rPr lang="et-EE" sz="2400" dirty="0" err="1"/>
              <a:t>flag</a:t>
            </a:r>
            <a:endParaRPr lang="et-EE" sz="2400" dirty="0"/>
          </a:p>
          <a:p>
            <a:pPr marL="0" indent="0">
              <a:buFont typeface="Arial"/>
              <a:buNone/>
            </a:pPr>
            <a:r>
              <a:rPr lang="et-EE" sz="2400" dirty="0"/>
              <a:t>Loop </a:t>
            </a:r>
            <a:r>
              <a:rPr lang="et-EE" sz="2400" dirty="0" err="1"/>
              <a:t>body</a:t>
            </a:r>
            <a:r>
              <a:rPr lang="et-EE" sz="2400" dirty="0"/>
              <a:t> ( -- )</a:t>
            </a:r>
          </a:p>
          <a:p>
            <a:pPr marL="0" indent="0">
              <a:buFont typeface="Arial"/>
              <a:buNone/>
            </a:pPr>
            <a:endParaRPr lang="et-EE" sz="2400" dirty="0"/>
          </a:p>
          <a:p>
            <a:pPr marL="0" indent="0">
              <a:buFont typeface="Arial"/>
              <a:buNone/>
            </a:pPr>
            <a:endParaRPr lang="et-EE" sz="2400" dirty="0"/>
          </a:p>
        </p:txBody>
      </p:sp>
    </p:spTree>
    <p:extLst>
      <p:ext uri="{BB962C8B-B14F-4D97-AF65-F5344CB8AC3E}">
        <p14:creationId xmlns:p14="http://schemas.microsoft.com/office/powerpoint/2010/main" val="1901493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SCOPE AND TRUST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12304A"/>
                </a:solidFill>
                <a:latin typeface="Liberation Sans"/>
              </a:rPr>
              <a:t>What acceptance means</a:t>
            </a:r>
            <a:r>
              <a:rPr lang="et-EE" sz="26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sz="2600" b="1" i="0" dirty="0">
                <a:solidFill>
                  <a:srgbClr val="12304A"/>
                </a:solidFill>
                <a:latin typeface="Liberation Sans"/>
              </a:rPr>
              <a:t>and what it does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170432"/>
            <a:ext cx="5349240" cy="4297680"/>
          </a:xfrm>
          <a:prstGeom prst="roundRect">
            <a:avLst/>
          </a:prstGeom>
          <a:solidFill>
            <a:srgbClr val="E7F0EB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481328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7C62"/>
                </a:solidFill>
                <a:latin typeface="Liberation Sans"/>
              </a:rPr>
              <a:t>ACCEPTANCE SUPPORTS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4718304" cy="2514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Declared word effects compose without a modeled clash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Every checked branch receives one implemented common effect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Every checked loop passes the local one-versus-two test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Source structure, parser roles, and compilation state fit the active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18888"/>
            <a:ext cx="46817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3D7C62"/>
                </a:solidFill>
                <a:latin typeface="Liberation Sans"/>
              </a:rPr>
              <a:t>Useful as executable stack-effect documentation.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170432"/>
            <a:ext cx="5349240" cy="4297680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481328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A3548"/>
                </a:solidFill>
                <a:latin typeface="Liberation Sans"/>
              </a:rPr>
              <a:t>ACCEPTANCE DOES NOT 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993392"/>
            <a:ext cx="4718304" cy="2514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That trusted primitive and parser declarations match runtime behavior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A path-sensitive set of every branch behavior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Termination or an inductive invariant for arbitrary loop counts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Unrestricted EXECUTE, return-stack tricks, non-local THROW, or metaprogramming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4818888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Sans"/>
              </a:rPr>
              <a:t>Use alongside tests, review, and target-system knowledge.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724144"/>
            <a:ext cx="11055096" cy="530352"/>
          </a:xfrm>
          <a:prstGeom prst="roundRect">
            <a:avLst/>
          </a:prstGeom>
          <a:solidFill>
            <a:srgbClr val="F7ECE1"/>
          </a:solidFill>
          <a:ln w="1016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5742431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C46A2B"/>
                </a:solidFill>
                <a:latin typeface="Liberation Sans"/>
              </a:rPr>
              <a:t>Known limits include lossy identity compaction, one effect per primitive, and the one-versus-two loop approximation.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Summary</a:t>
            </a:r>
            <a:endParaRPr sz="26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CONFIGURABLE TYPE CHECKING FOR FORTH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115568"/>
            <a:ext cx="10268712" cy="658368"/>
          </a:xfrm>
          <a:prstGeom prst="roundRect">
            <a:avLst/>
          </a:prstGeom>
          <a:solidFill>
            <a:srgbClr val="E8F0F5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1176986"/>
            <a:ext cx="10122408" cy="535531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12304A"/>
                </a:solidFill>
                <a:latin typeface="Liberation Mono"/>
              </a:rPr>
              <a:t>types + specifications  +  source   →   inferred </a:t>
            </a:r>
            <a:r>
              <a:rPr lang="et-EE" b="1" dirty="0" err="1">
                <a:solidFill>
                  <a:srgbClr val="12304A"/>
                </a:solidFill>
                <a:latin typeface="Liberation Mono"/>
              </a:rPr>
              <a:t>specifications</a:t>
            </a:r>
            <a:r>
              <a:rPr lang="et-EE" b="1" dirty="0">
                <a:solidFill>
                  <a:srgbClr val="12304A"/>
                </a:solidFill>
                <a:latin typeface="Liberation Mono"/>
              </a:rPr>
              <a:t> / </a:t>
            </a:r>
            <a:r>
              <a:rPr lang="et-EE" b="1" dirty="0" err="1">
                <a:solidFill>
                  <a:srgbClr val="12304A"/>
                </a:solidFill>
                <a:latin typeface="Liberation Mono"/>
              </a:rPr>
              <a:t>alarms</a:t>
            </a:r>
            <a:endParaRPr sz="1800" b="1" i="0" dirty="0">
              <a:solidFill>
                <a:srgbClr val="12304A"/>
              </a:solidFill>
              <a:latin typeface="Liberation Mon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2011680"/>
            <a:ext cx="10268712" cy="694944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43000" y="2185416"/>
            <a:ext cx="384048" cy="329184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185416"/>
            <a:ext cx="38404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176272"/>
            <a:ext cx="245059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Composition is </a:t>
            </a:r>
            <a:r>
              <a:rPr lang="et-EE" sz="1500" b="1" dirty="0" err="1">
                <a:solidFill>
                  <a:srgbClr val="12304A"/>
                </a:solidFill>
                <a:latin typeface="Liberation Sans"/>
              </a:rPr>
              <a:t>sequential</a:t>
            </a:r>
            <a:endParaRPr sz="15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15968" y="2130552"/>
            <a:ext cx="6583680" cy="403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 i="0" dirty="0">
                <a:solidFill>
                  <a:srgbClr val="27343C"/>
                </a:solidFill>
                <a:latin typeface="Liberation Sans"/>
              </a:rPr>
              <a:t>A late boundary refinement propagates through every occurrence of the same symbolic value.</a:t>
            </a:r>
            <a:r>
              <a:rPr lang="et-EE" sz="1310" b="0" i="0" dirty="0">
                <a:solidFill>
                  <a:srgbClr val="27343C"/>
                </a:solidFill>
                <a:latin typeface="Liberation Sans"/>
              </a:rPr>
              <a:t> </a:t>
            </a:r>
            <a:r>
              <a:rPr lang="et-EE" sz="1310" b="0" i="0" dirty="0" err="1">
                <a:solidFill>
                  <a:srgbClr val="27343C"/>
                </a:solidFill>
                <a:latin typeface="Liberation Sans"/>
              </a:rPr>
              <a:t>Type</a:t>
            </a:r>
            <a:r>
              <a:rPr lang="et-EE" sz="1310" b="0" i="0" dirty="0">
                <a:solidFill>
                  <a:srgbClr val="27343C"/>
                </a:solidFill>
                <a:latin typeface="Liberation Sans"/>
              </a:rPr>
              <a:t> </a:t>
            </a:r>
            <a:r>
              <a:rPr lang="et-EE" sz="1310" b="0" i="0" dirty="0" err="1">
                <a:solidFill>
                  <a:srgbClr val="27343C"/>
                </a:solidFill>
                <a:latin typeface="Liberation Sans"/>
              </a:rPr>
              <a:t>information</a:t>
            </a:r>
            <a:r>
              <a:rPr lang="et-EE" sz="1310" b="0" i="0" dirty="0">
                <a:solidFill>
                  <a:srgbClr val="27343C"/>
                </a:solidFill>
                <a:latin typeface="Liberation Sans"/>
              </a:rPr>
              <a:t> </a:t>
            </a:r>
            <a:r>
              <a:rPr lang="et-EE" sz="1310" b="0" i="0" dirty="0" err="1">
                <a:solidFill>
                  <a:srgbClr val="27343C"/>
                </a:solidFill>
                <a:latin typeface="Liberation Sans"/>
              </a:rPr>
              <a:t>flows</a:t>
            </a:r>
            <a:r>
              <a:rPr lang="et-EE" sz="1310" b="0" i="0" dirty="0">
                <a:solidFill>
                  <a:srgbClr val="27343C"/>
                </a:solidFill>
                <a:latin typeface="Liberation Sans"/>
              </a:rPr>
              <a:t> </a:t>
            </a:r>
            <a:r>
              <a:rPr lang="et-EE" sz="1310" b="0" i="0" dirty="0" err="1">
                <a:solidFill>
                  <a:srgbClr val="27343C"/>
                </a:solidFill>
                <a:latin typeface="Liberation Sans"/>
              </a:rPr>
              <a:t>back</a:t>
            </a:r>
            <a:r>
              <a:rPr lang="et-EE" sz="1310" b="0" i="0" dirty="0">
                <a:solidFill>
                  <a:srgbClr val="27343C"/>
                </a:solidFill>
                <a:latin typeface="Liberation Sans"/>
              </a:rPr>
              <a:t> and </a:t>
            </a:r>
            <a:r>
              <a:rPr lang="et-EE" sz="1310" b="0" i="0" dirty="0" err="1">
                <a:solidFill>
                  <a:srgbClr val="27343C"/>
                </a:solidFill>
                <a:latin typeface="Liberation Sans"/>
              </a:rPr>
              <a:t>forth</a:t>
            </a:r>
            <a:r>
              <a:rPr lang="et-EE" sz="1310" dirty="0">
                <a:solidFill>
                  <a:srgbClr val="27343C"/>
                </a:solidFill>
                <a:latin typeface="Liberation Sans"/>
              </a:rPr>
              <a:t> in a </a:t>
            </a:r>
            <a:r>
              <a:rPr lang="et-EE" sz="1310" dirty="0" err="1">
                <a:solidFill>
                  <a:srgbClr val="27343C"/>
                </a:solidFill>
                <a:latin typeface="Liberation Sans"/>
              </a:rPr>
              <a:t>linear</a:t>
            </a:r>
            <a:r>
              <a:rPr lang="et-EE" sz="1310" dirty="0">
                <a:solidFill>
                  <a:srgbClr val="27343C"/>
                </a:solidFill>
                <a:latin typeface="Liberation Sans"/>
              </a:rPr>
              <a:t> </a:t>
            </a:r>
            <a:r>
              <a:rPr lang="et-EE" sz="1310" dirty="0" err="1">
                <a:solidFill>
                  <a:srgbClr val="27343C"/>
                </a:solidFill>
                <a:latin typeface="Liberation Sans"/>
              </a:rPr>
              <a:t>sequence</a:t>
            </a:r>
            <a:r>
              <a:rPr lang="et-EE" sz="1310" dirty="0">
                <a:solidFill>
                  <a:srgbClr val="27343C"/>
                </a:solidFill>
                <a:latin typeface="Liberation Sans"/>
              </a:rPr>
              <a:t> of </a:t>
            </a:r>
            <a:r>
              <a:rPr lang="et-EE" sz="1310" dirty="0" err="1">
                <a:solidFill>
                  <a:srgbClr val="27343C"/>
                </a:solidFill>
                <a:latin typeface="Liberation Sans"/>
              </a:rPr>
              <a:t>words</a:t>
            </a:r>
            <a:r>
              <a:rPr lang="et-EE" sz="1310" dirty="0">
                <a:solidFill>
                  <a:srgbClr val="27343C"/>
                </a:solidFill>
                <a:latin typeface="Liberation Sans"/>
              </a:rPr>
              <a:t>.</a:t>
            </a:r>
            <a:endParaRPr sz="1310" b="0" i="0" dirty="0">
              <a:solidFill>
                <a:srgbClr val="27343C"/>
              </a:solidFill>
              <a:latin typeface="Liberation San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60120" y="2907792"/>
            <a:ext cx="10268712" cy="694944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43000" y="3081528"/>
            <a:ext cx="384048" cy="329184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081528"/>
            <a:ext cx="38404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072384"/>
            <a:ext cx="245059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Branch meet is </a:t>
            </a:r>
            <a:r>
              <a:rPr lang="et-EE" sz="1500" b="1" i="0" dirty="0" err="1">
                <a:solidFill>
                  <a:srgbClr val="12304A"/>
                </a:solidFill>
                <a:latin typeface="Liberation Sans"/>
              </a:rPr>
              <a:t>conservative</a:t>
            </a:r>
            <a:endParaRPr sz="15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15968" y="3026664"/>
            <a:ext cx="65836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 i="0" dirty="0">
                <a:solidFill>
                  <a:srgbClr val="27343C"/>
                </a:solidFill>
                <a:latin typeface="Liberation Sans"/>
              </a:rPr>
              <a:t>Inputs retain the common subtype; outputs retain the common supertype; identities must hold on every path.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3803963"/>
            <a:ext cx="10268712" cy="694944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43000" y="3964425"/>
            <a:ext cx="384048" cy="329184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t-EE" dirty="0"/>
              <a:t>3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1143000" y="4260121"/>
            <a:ext cx="384048" cy="20313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t-EE" sz="1200" b="1" dirty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3959352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Repetition is deliberately finite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3936551"/>
            <a:ext cx="65836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 i="0" dirty="0">
                <a:solidFill>
                  <a:srgbClr val="27343C"/>
                </a:solidFill>
                <a:latin typeface="Liberation Sans"/>
              </a:rPr>
              <a:t>One-versus-two gives a useful local summary—not termination or a general loop invariant.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" y="5171855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" y="5303148"/>
            <a:ext cx="10689336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C</a:t>
            </a:r>
            <a:r>
              <a:rPr sz="1500" b="1" i="0" dirty="0" err="1">
                <a:solidFill>
                  <a:srgbClr val="12304A"/>
                </a:solidFill>
                <a:latin typeface="Liberation Sans"/>
              </a:rPr>
              <a:t>onfigurable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, executable stack-effect documentation with explicit and bounded guarantees.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'i kujundu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2446</Words>
  <Application>Microsoft Office PowerPoint</Application>
  <PresentationFormat>Laiekraan</PresentationFormat>
  <Paragraphs>370</Paragraphs>
  <Slides>25</Slides>
  <Notes>2</Notes>
  <HiddenSlides>0</HiddenSlides>
  <MMClips>0</MMClips>
  <ScaleCrop>false</ScaleCrop>
  <HeadingPairs>
    <vt:vector size="6" baseType="variant">
      <vt:variant>
        <vt:lpstr>Kasutatud fondid</vt:lpstr>
      </vt:variant>
      <vt:variant>
        <vt:i4>5</vt:i4>
      </vt:variant>
      <vt:variant>
        <vt:lpstr>Kujundus</vt:lpstr>
      </vt:variant>
      <vt:variant>
        <vt:i4>1</vt:i4>
      </vt:variant>
      <vt:variant>
        <vt:lpstr>Slaidipealkirjad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Liberation Mono</vt:lpstr>
      <vt:lpstr>Liberation Sans</vt:lpstr>
      <vt:lpstr>Office Theme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PowerPointi esitlus</vt:lpstr>
      <vt:lpstr>: test1  ( -- value ) 3 4 5 - + ;</vt:lpstr>
      <vt:lpstr>: test2  ( fl1 fl2 -- FALSE flor )      OR FALSE SWAP ;</vt:lpstr>
      <vt:lpstr>: test3  ( addr X -- X addr value )      SWAP DUP @ ;</vt:lpstr>
      <vt:lpstr>: test4  (  n incr -- n1  )      IF 1 + FI ;</vt:lpstr>
      <vt:lpstr>: test5  ( X1 flag -- X1 X2 )      IF DUP ELSE 0 FI ;</vt:lpstr>
      <vt:lpstr>: test6  ( X2 X1 ad fl -- X3 X4 X5 )      IF ROT ELSE @ FI ;</vt:lpstr>
      <vt:lpstr>: test9  ( ad fl -- X )      IF @ ELSE C@ FI ;</vt:lpstr>
      <vt:lpstr>: test7  ( fl2  fl1 --  fl3  fl4  )      BEGIN SWAP OVER WHILE INVERT REPEAT ;</vt:lpstr>
      <vt:lpstr>: test8  (  --  )      BEGIN KEY 0= UNTIL ;</vt:lpstr>
      <vt:lpstr>PowerPointi esitlus</vt:lpstr>
      <vt:lpstr>PowerPointi esitlus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Configurable Static Type Checking for Forth — EuroForth 2026</dc:title>
  <dc:subject>Conference presentation based on STATIC_TYPE_CHECKING.tex and examples.txt</dc:subject>
  <dc:creator>Jaanus Pöial</dc:creator>
  <cp:keywords>Forth, static type checking, stack effects, symbolic analysis</cp:keywords>
  <dc:description>Improved self-explanatory presentation generated from the project materials.</dc:description>
  <cp:lastModifiedBy>Jaanus Pöial</cp:lastModifiedBy>
  <cp:revision>16</cp:revision>
  <dcterms:created xsi:type="dcterms:W3CDTF">2026-08-28T09:20:00Z</dcterms:created>
  <dcterms:modified xsi:type="dcterms:W3CDTF">2026-08-28T11:42:20Z</dcterms:modified>
  <cp:category/>
</cp:coreProperties>
</file>